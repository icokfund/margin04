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86" r:id="rId5"/>
    <p:sldId id="287" r:id="rId6"/>
    <p:sldId id="288" r:id="rId7"/>
    <p:sldId id="274" r:id="rId8"/>
    <p:sldId id="275" r:id="rId9"/>
    <p:sldId id="281" r:id="rId10"/>
    <p:sldId id="282" r:id="rId11"/>
    <p:sldId id="277" r:id="rId12"/>
    <p:sldId id="278" r:id="rId13"/>
    <p:sldId id="279" r:id="rId14"/>
    <p:sldId id="280" r:id="rId15"/>
    <p:sldId id="260" r:id="rId16"/>
    <p:sldId id="264" r:id="rId17"/>
    <p:sldId id="265" r:id="rId18"/>
    <p:sldId id="266" r:id="rId19"/>
    <p:sldId id="276" r:id="rId20"/>
    <p:sldId id="262" r:id="rId21"/>
    <p:sldId id="263" r:id="rId22"/>
    <p:sldId id="270" r:id="rId23"/>
    <p:sldId id="271" r:id="rId24"/>
  </p:sldIdLst>
  <p:sldSz cx="6858000" cy="9902825"/>
  <p:notesSz cx="9902825"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69" autoAdjust="0"/>
    <p:restoredTop sz="94610"/>
  </p:normalViewPr>
  <p:slideViewPr>
    <p:cSldViewPr snapToGrid="0" snapToObjects="1">
      <p:cViewPr>
        <p:scale>
          <a:sx n="124" d="100"/>
          <a:sy n="124" d="100"/>
        </p:scale>
        <p:origin x="1120" y="3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4122117"/>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3683000" y="512763"/>
            <a:ext cx="1778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07AAE614-3528-124E-8D44-0C2BC7640411}" type="slidenum">
              <a:rPr kumimoji="1" lang="ko-KR" altLang="en-US" smtClean="0"/>
              <a:t>6</a:t>
            </a:fld>
            <a:endParaRPr kumimoji="1" lang="ko-KR" altLang="en-US"/>
          </a:p>
        </p:txBody>
      </p:sp>
    </p:spTree>
    <p:extLst>
      <p:ext uri="{BB962C8B-B14F-4D97-AF65-F5344CB8AC3E}">
        <p14:creationId xmlns:p14="http://schemas.microsoft.com/office/powerpoint/2010/main" val="3181432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07AAE614-3528-124E-8D44-0C2BC7640411}" type="slidenum">
              <a:rPr kumimoji="1" lang="ko-KR" altLang="en-US" smtClean="0"/>
              <a:t>7</a:t>
            </a:fld>
            <a:endParaRPr kumimoji="1" lang="ko-KR" altLang="en-US"/>
          </a:p>
        </p:txBody>
      </p:sp>
    </p:spTree>
    <p:extLst>
      <p:ext uri="{BB962C8B-B14F-4D97-AF65-F5344CB8AC3E}">
        <p14:creationId xmlns:p14="http://schemas.microsoft.com/office/powerpoint/2010/main" val="2512532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endParaRPr lang="ko-KR" altLang="en-US"/>
          </a:p>
        </p:txBody>
      </p:sp>
      <p:sp>
        <p:nvSpPr>
          <p:cNvPr id="3" name="슬라이드 노트 개체 틀 4"/>
          <p:cNvSpPr>
            <a:spLocks noGrp="1"/>
          </p:cNvSpPr>
          <p:nvPr>
            <p:ph type="body" sz="quarter" idx="3"/>
          </p:nvPr>
        </p:nvSpPr>
        <p:spPr/>
        <p:txBody>
          <a:bodyPr/>
          <a:lstStyle/>
          <a:p>
            <a:pPr>
              <a:defRPr/>
            </a:pPr>
            <a:endParaRPr lang="ko-KR" altLang="en-US"/>
          </a:p>
        </p:txBody>
      </p:sp>
      <p:sp>
        <p:nvSpPr>
          <p:cNvPr id="4" name="슬라이드 번호 개체 틀 6"/>
          <p:cNvSpPr>
            <a:spLocks noGrp="1"/>
          </p:cNvSpPr>
          <p:nvPr>
            <p:ph type="sldNum" sz="quarter" idx="5"/>
          </p:nvPr>
        </p:nvSpPr>
        <p:spPr/>
        <p:txBody>
          <a:bodyPr/>
          <a:lstStyle/>
          <a:p>
            <a:pPr lvl="0"/>
            <a:fld id="{09F4262C-968C-4EE9-8164-CE16364706B3}" type="slidenum">
              <a:rPr lang="ko-KR" altLang="en-US" smtClean="0"/>
              <a:pPr lvl="0"/>
              <a:t>18</a:t>
            </a:fld>
            <a:endParaRPr lang="ko-KR" altLang="en-US"/>
          </a:p>
        </p:txBody>
      </p:sp>
    </p:spTree>
    <p:extLst>
      <p:ext uri="{BB962C8B-B14F-4D97-AF65-F5344CB8AC3E}">
        <p14:creationId xmlns:p14="http://schemas.microsoft.com/office/powerpoint/2010/main" val="38071302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pPr>
              <a:defRPr/>
            </a:pPr>
            <a:endParaRPr lang="ko-KR" altLang="en-US"/>
          </a:p>
        </p:txBody>
      </p:sp>
      <p:sp>
        <p:nvSpPr>
          <p:cNvPr id="3" name="슬라이드 노트 개체 틀 4"/>
          <p:cNvSpPr>
            <a:spLocks noGrp="1"/>
          </p:cNvSpPr>
          <p:nvPr>
            <p:ph type="body" sz="quarter" idx="3"/>
          </p:nvPr>
        </p:nvSpPr>
        <p:spPr/>
        <p:txBody>
          <a:bodyPr/>
          <a:lstStyle/>
          <a:p>
            <a:pPr>
              <a:defRPr/>
            </a:pPr>
            <a:endParaRPr lang="en-US" altLang="ko-KR"/>
          </a:p>
        </p:txBody>
      </p:sp>
      <p:sp>
        <p:nvSpPr>
          <p:cNvPr id="4" name="슬라이드 번호 개체 틀 6"/>
          <p:cNvSpPr>
            <a:spLocks noGrp="1"/>
          </p:cNvSpPr>
          <p:nvPr>
            <p:ph type="sldNum" sz="quarter" idx="5"/>
          </p:nvPr>
        </p:nvSpPr>
        <p:spPr/>
        <p:txBody>
          <a:bodyPr/>
          <a:lstStyle/>
          <a:p>
            <a:pPr lvl="0">
              <a:defRPr/>
            </a:pPr>
            <a:fld id="{09F4262C-968C-4EE9-8164-CE16364706B3}" type="slidenum">
              <a:rPr lang="en-US" altLang="en-US"/>
              <a:pPr lvl="0">
                <a:defRPr/>
              </a:pPr>
              <a:t>19</a:t>
            </a:fld>
            <a:endParaRPr lang="en-US" altLang="en-US"/>
          </a:p>
        </p:txBody>
      </p:sp>
    </p:spTree>
    <p:extLst>
      <p:ext uri="{BB962C8B-B14F-4D97-AF65-F5344CB8AC3E}">
        <p14:creationId xmlns:p14="http://schemas.microsoft.com/office/powerpoint/2010/main" val="1148458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pPr>
              <a:defRPr/>
            </a:pPr>
            <a:endParaRPr lang="ko-KR" altLang="en-US"/>
          </a:p>
        </p:txBody>
      </p:sp>
      <p:sp>
        <p:nvSpPr>
          <p:cNvPr id="3" name="슬라이드 노트 개체 틀 4"/>
          <p:cNvSpPr>
            <a:spLocks noGrp="1"/>
          </p:cNvSpPr>
          <p:nvPr>
            <p:ph type="body" sz="quarter" idx="3"/>
          </p:nvPr>
        </p:nvSpPr>
        <p:spPr/>
        <p:txBody>
          <a:bodyPr/>
          <a:lstStyle/>
          <a:p>
            <a:pPr>
              <a:defRPr/>
            </a:pPr>
            <a:endParaRPr lang="ko-KR" altLang="en-US"/>
          </a:p>
        </p:txBody>
      </p:sp>
      <p:sp>
        <p:nvSpPr>
          <p:cNvPr id="4" name="슬라이드 번호 개체 틀 6"/>
          <p:cNvSpPr>
            <a:spLocks noGrp="1"/>
          </p:cNvSpPr>
          <p:nvPr>
            <p:ph type="sldNum" sz="quarter" idx="5"/>
          </p:nvPr>
        </p:nvSpPr>
        <p:spPr/>
        <p:txBody>
          <a:bodyPr/>
          <a:lstStyle/>
          <a:p>
            <a:pPr lvl="0">
              <a:defRPr/>
            </a:pPr>
            <a:fld id="{09F4262C-968C-4EE9-8164-CE16364706B3}" type="slidenum">
              <a:rPr lang="en-US" altLang="en-US"/>
              <a:pPr lvl="0">
                <a:defRPr/>
              </a:pPr>
              <a:t>20</a:t>
            </a:fld>
            <a:endParaRPr lang="en-US" altLang="en-US"/>
          </a:p>
        </p:txBody>
      </p:sp>
    </p:spTree>
    <p:extLst>
      <p:ext uri="{BB962C8B-B14F-4D97-AF65-F5344CB8AC3E}">
        <p14:creationId xmlns:p14="http://schemas.microsoft.com/office/powerpoint/2010/main" val="2065295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16840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Relationship Id="rId2" Type="http://schemas.openxmlformats.org/officeDocument/2006/relationships/slideLayout" Target="../slideLayouts/slideLayout2.xml"/><Relationship Id="rId3" Type="http://schemas.openxmlformats.org/officeDocument/2006/relationships/image" Target="../media/image1.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amsungsdi.co.kr/sdi-now/sdi-news/4701.html" TargetMode="External"/><Relationship Id="rId3" Type="http://schemas.openxmlformats.org/officeDocument/2006/relationships/hyperlink" Target="https://file.alphasquare.co.kr/media/pdfs/company-report/20250801072901416_0_ko.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5" Type="http://schemas.openxmlformats.org/officeDocument/2006/relationships/image" Target="../media/image15.png"/><Relationship Id="rId6"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5" Type="http://schemas.openxmlformats.org/officeDocument/2006/relationships/image" Target="../media/image19.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notesSlide" Target="../notesSlides/notesSlide11.xml"/><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notesSlide" Target="../notesSlides/notesSlide12.xml"/><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9914" y="2625092"/>
            <a:ext cx="2069346" cy="6866765"/>
            <a:chOff x="0" y="0"/>
            <a:chExt cx="1518007" cy="5037242"/>
          </a:xfrm>
        </p:grpSpPr>
        <p:sp>
          <p:nvSpPr>
            <p:cNvPr id="3" name="Freeform 3"/>
            <p:cNvSpPr/>
            <p:nvPr/>
          </p:nvSpPr>
          <p:spPr>
            <a:xfrm>
              <a:off x="0" y="0"/>
              <a:ext cx="1518055" cy="5037208"/>
            </a:xfrm>
            <a:custGeom>
              <a:avLst/>
              <a:gdLst/>
              <a:ahLst/>
              <a:cxnLst/>
              <a:rect l="l" t="t" r="r" b="b"/>
              <a:pathLst>
                <a:path w="1518055" h="5037208">
                  <a:moveTo>
                    <a:pt x="0" y="0"/>
                  </a:moveTo>
                  <a:lnTo>
                    <a:pt x="1518055" y="0"/>
                  </a:lnTo>
                  <a:lnTo>
                    <a:pt x="1518055" y="5037208"/>
                  </a:lnTo>
                  <a:lnTo>
                    <a:pt x="0" y="5037208"/>
                  </a:lnTo>
                  <a:close/>
                </a:path>
              </a:pathLst>
            </a:custGeom>
            <a:solidFill>
              <a:srgbClr val="F2F2F2"/>
            </a:solidFill>
          </p:spPr>
          <p:txBody>
            <a:bodyPr/>
            <a:lstStyle/>
            <a:p>
              <a:endParaRPr lang="ko-KR" altLang="en-US" sz="6031"/>
            </a:p>
          </p:txBody>
        </p:sp>
      </p:grpSp>
      <p:grpSp>
        <p:nvGrpSpPr>
          <p:cNvPr id="4" name="Group 4"/>
          <p:cNvGrpSpPr/>
          <p:nvPr/>
        </p:nvGrpSpPr>
        <p:grpSpPr>
          <a:xfrm>
            <a:off x="336914" y="8812478"/>
            <a:ext cx="2049847" cy="1446620"/>
            <a:chOff x="0" y="0"/>
            <a:chExt cx="1503703" cy="724111"/>
          </a:xfrm>
        </p:grpSpPr>
        <p:sp>
          <p:nvSpPr>
            <p:cNvPr id="5" name="Freeform 5"/>
            <p:cNvSpPr/>
            <p:nvPr/>
          </p:nvSpPr>
          <p:spPr>
            <a:xfrm>
              <a:off x="4699" y="3550"/>
              <a:ext cx="1494409" cy="717077"/>
            </a:xfrm>
            <a:custGeom>
              <a:avLst/>
              <a:gdLst/>
              <a:ahLst/>
              <a:cxnLst/>
              <a:rect l="l" t="t" r="r" b="b"/>
              <a:pathLst>
                <a:path w="1494409" h="717077">
                  <a:moveTo>
                    <a:pt x="0" y="0"/>
                  </a:moveTo>
                  <a:lnTo>
                    <a:pt x="1494409" y="0"/>
                  </a:lnTo>
                  <a:lnTo>
                    <a:pt x="1494409" y="717077"/>
                  </a:lnTo>
                  <a:lnTo>
                    <a:pt x="0" y="717077"/>
                  </a:lnTo>
                  <a:close/>
                </a:path>
              </a:pathLst>
            </a:custGeom>
            <a:solidFill>
              <a:srgbClr val="005EB8"/>
            </a:solidFill>
          </p:spPr>
          <p:txBody>
            <a:bodyPr/>
            <a:lstStyle/>
            <a:p>
              <a:endParaRPr lang="ko-KR" altLang="en-US" sz="6031"/>
            </a:p>
          </p:txBody>
        </p:sp>
        <p:sp>
          <p:nvSpPr>
            <p:cNvPr id="6" name="Freeform 6"/>
            <p:cNvSpPr/>
            <p:nvPr/>
          </p:nvSpPr>
          <p:spPr>
            <a:xfrm>
              <a:off x="0" y="0"/>
              <a:ext cx="1503807" cy="724200"/>
            </a:xfrm>
            <a:custGeom>
              <a:avLst/>
              <a:gdLst/>
              <a:ahLst/>
              <a:cxnLst/>
              <a:rect l="l" t="t" r="r" b="b"/>
              <a:pathLst>
                <a:path w="1503807" h="724200">
                  <a:moveTo>
                    <a:pt x="4699" y="0"/>
                  </a:moveTo>
                  <a:lnTo>
                    <a:pt x="1499108" y="0"/>
                  </a:lnTo>
                  <a:cubicBezTo>
                    <a:pt x="1501648" y="0"/>
                    <a:pt x="1503807" y="1535"/>
                    <a:pt x="1503807" y="3550"/>
                  </a:cubicBezTo>
                  <a:lnTo>
                    <a:pt x="1503807" y="720627"/>
                  </a:lnTo>
                  <a:cubicBezTo>
                    <a:pt x="1503807" y="722546"/>
                    <a:pt x="1501775" y="724200"/>
                    <a:pt x="1499108" y="724200"/>
                  </a:cubicBezTo>
                  <a:lnTo>
                    <a:pt x="4699" y="724200"/>
                  </a:lnTo>
                  <a:cubicBezTo>
                    <a:pt x="2159" y="724200"/>
                    <a:pt x="0" y="722642"/>
                    <a:pt x="0" y="720627"/>
                  </a:cubicBezTo>
                  <a:lnTo>
                    <a:pt x="0" y="3550"/>
                  </a:lnTo>
                  <a:cubicBezTo>
                    <a:pt x="0" y="1535"/>
                    <a:pt x="2032" y="0"/>
                    <a:pt x="4699" y="0"/>
                  </a:cubicBezTo>
                  <a:moveTo>
                    <a:pt x="4699" y="7005"/>
                  </a:moveTo>
                  <a:lnTo>
                    <a:pt x="4699" y="3550"/>
                  </a:lnTo>
                  <a:lnTo>
                    <a:pt x="9271" y="3550"/>
                  </a:lnTo>
                  <a:lnTo>
                    <a:pt x="9271" y="720627"/>
                  </a:lnTo>
                  <a:lnTo>
                    <a:pt x="4699" y="720627"/>
                  </a:lnTo>
                  <a:lnTo>
                    <a:pt x="4699" y="717077"/>
                  </a:lnTo>
                  <a:lnTo>
                    <a:pt x="1499108" y="717077"/>
                  </a:lnTo>
                  <a:lnTo>
                    <a:pt x="1499108" y="720627"/>
                  </a:lnTo>
                  <a:lnTo>
                    <a:pt x="1494409" y="720627"/>
                  </a:lnTo>
                  <a:lnTo>
                    <a:pt x="1494409" y="3550"/>
                  </a:lnTo>
                  <a:lnTo>
                    <a:pt x="1499108" y="3550"/>
                  </a:lnTo>
                  <a:lnTo>
                    <a:pt x="1499108" y="7005"/>
                  </a:lnTo>
                  <a:lnTo>
                    <a:pt x="4699" y="7005"/>
                  </a:lnTo>
                  <a:close/>
                </a:path>
              </a:pathLst>
            </a:custGeom>
            <a:solidFill>
              <a:srgbClr val="005EB8"/>
            </a:solidFill>
          </p:spPr>
          <p:txBody>
            <a:bodyPr/>
            <a:lstStyle/>
            <a:p>
              <a:endParaRPr lang="ko-KR" altLang="en-US" sz="6031"/>
            </a:p>
          </p:txBody>
        </p:sp>
      </p:grpSp>
      <p:grpSp>
        <p:nvGrpSpPr>
          <p:cNvPr id="7" name="Group 7"/>
          <p:cNvGrpSpPr/>
          <p:nvPr/>
        </p:nvGrpSpPr>
        <p:grpSpPr>
          <a:xfrm>
            <a:off x="-67605" y="-184156"/>
            <a:ext cx="7082562" cy="2467025"/>
            <a:chOff x="0" y="0"/>
            <a:chExt cx="1642911" cy="502774"/>
          </a:xfrm>
        </p:grpSpPr>
        <p:sp>
          <p:nvSpPr>
            <p:cNvPr id="8" name="Freeform 8"/>
            <p:cNvSpPr/>
            <p:nvPr/>
          </p:nvSpPr>
          <p:spPr>
            <a:xfrm>
              <a:off x="0" y="0"/>
              <a:ext cx="1642911" cy="502774"/>
            </a:xfrm>
            <a:custGeom>
              <a:avLst/>
              <a:gdLst/>
              <a:ahLst/>
              <a:cxnLst/>
              <a:rect l="l" t="t" r="r" b="b"/>
              <a:pathLst>
                <a:path w="1642911" h="502774">
                  <a:moveTo>
                    <a:pt x="0" y="0"/>
                  </a:moveTo>
                  <a:lnTo>
                    <a:pt x="1642911" y="0"/>
                  </a:lnTo>
                  <a:lnTo>
                    <a:pt x="1642911" y="502774"/>
                  </a:lnTo>
                  <a:lnTo>
                    <a:pt x="0" y="502774"/>
                  </a:lnTo>
                  <a:close/>
                </a:path>
              </a:pathLst>
            </a:custGeom>
            <a:blipFill>
              <a:blip r:embed="rId3"/>
              <a:stretch>
                <a:fillRect t="-74503" b="-40347"/>
              </a:stretch>
            </a:blipFill>
          </p:spPr>
          <p:txBody>
            <a:bodyPr/>
            <a:lstStyle/>
            <a:p>
              <a:endParaRPr lang="ko-KR" altLang="en-US" sz="6031"/>
            </a:p>
          </p:txBody>
        </p:sp>
      </p:grpSp>
      <p:grpSp>
        <p:nvGrpSpPr>
          <p:cNvPr id="9" name="Group 9"/>
          <p:cNvGrpSpPr/>
          <p:nvPr/>
        </p:nvGrpSpPr>
        <p:grpSpPr>
          <a:xfrm>
            <a:off x="319913" y="2757946"/>
            <a:ext cx="2060157" cy="87585"/>
            <a:chOff x="0" y="0"/>
            <a:chExt cx="1493641" cy="63500"/>
          </a:xfrm>
        </p:grpSpPr>
        <p:sp>
          <p:nvSpPr>
            <p:cNvPr id="10" name="Freeform 10"/>
            <p:cNvSpPr/>
            <p:nvPr/>
          </p:nvSpPr>
          <p:spPr>
            <a:xfrm>
              <a:off x="6985" y="138"/>
              <a:ext cx="1479677" cy="63225"/>
            </a:xfrm>
            <a:custGeom>
              <a:avLst/>
              <a:gdLst/>
              <a:ahLst/>
              <a:cxnLst/>
              <a:rect l="l" t="t" r="r" b="b"/>
              <a:pathLst>
                <a:path w="1479677" h="63225">
                  <a:moveTo>
                    <a:pt x="0" y="0"/>
                  </a:moveTo>
                  <a:lnTo>
                    <a:pt x="1479677" y="0"/>
                  </a:lnTo>
                  <a:lnTo>
                    <a:pt x="1479677" y="63225"/>
                  </a:lnTo>
                  <a:lnTo>
                    <a:pt x="0" y="63225"/>
                  </a:lnTo>
                  <a:close/>
                </a:path>
              </a:pathLst>
            </a:custGeom>
            <a:solidFill>
              <a:srgbClr val="005EB8"/>
            </a:solidFill>
          </p:spPr>
          <p:txBody>
            <a:bodyPr/>
            <a:lstStyle/>
            <a:p>
              <a:endParaRPr lang="ko-KR" altLang="en-US" sz="6031"/>
            </a:p>
          </p:txBody>
        </p:sp>
        <p:sp>
          <p:nvSpPr>
            <p:cNvPr id="11" name="Freeform 11"/>
            <p:cNvSpPr/>
            <p:nvPr/>
          </p:nvSpPr>
          <p:spPr>
            <a:xfrm>
              <a:off x="0" y="0"/>
              <a:ext cx="1493647" cy="63561"/>
            </a:xfrm>
            <a:custGeom>
              <a:avLst/>
              <a:gdLst/>
              <a:ahLst/>
              <a:cxnLst/>
              <a:rect l="l" t="t" r="r" b="b"/>
              <a:pathLst>
                <a:path w="1493647" h="63561">
                  <a:moveTo>
                    <a:pt x="6985" y="0"/>
                  </a:moveTo>
                  <a:lnTo>
                    <a:pt x="1486662" y="0"/>
                  </a:lnTo>
                  <a:cubicBezTo>
                    <a:pt x="1490472" y="0"/>
                    <a:pt x="1493647" y="63"/>
                    <a:pt x="1493647" y="138"/>
                  </a:cubicBezTo>
                  <a:lnTo>
                    <a:pt x="1493647" y="63363"/>
                  </a:lnTo>
                  <a:cubicBezTo>
                    <a:pt x="1493647" y="63438"/>
                    <a:pt x="1490472" y="63561"/>
                    <a:pt x="1486662" y="63561"/>
                  </a:cubicBezTo>
                  <a:lnTo>
                    <a:pt x="6985" y="63561"/>
                  </a:lnTo>
                  <a:cubicBezTo>
                    <a:pt x="3175" y="63561"/>
                    <a:pt x="0" y="63438"/>
                    <a:pt x="0" y="63363"/>
                  </a:cubicBezTo>
                  <a:lnTo>
                    <a:pt x="0" y="138"/>
                  </a:lnTo>
                  <a:cubicBezTo>
                    <a:pt x="0" y="63"/>
                    <a:pt x="3175" y="0"/>
                    <a:pt x="6985" y="0"/>
                  </a:cubicBezTo>
                  <a:moveTo>
                    <a:pt x="6985" y="277"/>
                  </a:moveTo>
                  <a:lnTo>
                    <a:pt x="6985" y="138"/>
                  </a:lnTo>
                  <a:lnTo>
                    <a:pt x="13970" y="138"/>
                  </a:lnTo>
                  <a:lnTo>
                    <a:pt x="13970" y="63363"/>
                  </a:lnTo>
                  <a:lnTo>
                    <a:pt x="6985" y="63363"/>
                  </a:lnTo>
                  <a:lnTo>
                    <a:pt x="6985" y="63225"/>
                  </a:lnTo>
                  <a:lnTo>
                    <a:pt x="1486662" y="63225"/>
                  </a:lnTo>
                  <a:lnTo>
                    <a:pt x="1486662" y="63363"/>
                  </a:lnTo>
                  <a:lnTo>
                    <a:pt x="1479677" y="63363"/>
                  </a:lnTo>
                  <a:lnTo>
                    <a:pt x="1479677" y="138"/>
                  </a:lnTo>
                  <a:lnTo>
                    <a:pt x="1486662" y="138"/>
                  </a:lnTo>
                  <a:lnTo>
                    <a:pt x="1486662" y="277"/>
                  </a:lnTo>
                  <a:lnTo>
                    <a:pt x="6985" y="277"/>
                  </a:lnTo>
                  <a:close/>
                </a:path>
              </a:pathLst>
            </a:custGeom>
            <a:solidFill>
              <a:srgbClr val="005EB8"/>
            </a:solidFill>
          </p:spPr>
          <p:txBody>
            <a:bodyPr/>
            <a:lstStyle/>
            <a:p>
              <a:endParaRPr lang="ko-KR" altLang="en-US" sz="6031"/>
            </a:p>
          </p:txBody>
        </p:sp>
      </p:grpSp>
      <p:grpSp>
        <p:nvGrpSpPr>
          <p:cNvPr id="12" name="Group 12"/>
          <p:cNvGrpSpPr/>
          <p:nvPr/>
        </p:nvGrpSpPr>
        <p:grpSpPr>
          <a:xfrm>
            <a:off x="319915" y="-623757"/>
            <a:ext cx="2056993" cy="3339254"/>
            <a:chOff x="0" y="0"/>
            <a:chExt cx="1508946" cy="1986169"/>
          </a:xfrm>
        </p:grpSpPr>
        <p:sp>
          <p:nvSpPr>
            <p:cNvPr id="13" name="Freeform 13"/>
            <p:cNvSpPr/>
            <p:nvPr/>
          </p:nvSpPr>
          <p:spPr>
            <a:xfrm>
              <a:off x="4747" y="5765"/>
              <a:ext cx="1499474" cy="1974721"/>
            </a:xfrm>
            <a:custGeom>
              <a:avLst/>
              <a:gdLst/>
              <a:ahLst/>
              <a:cxnLst/>
              <a:rect l="l" t="t" r="r" b="b"/>
              <a:pathLst>
                <a:path w="1499474" h="1974721">
                  <a:moveTo>
                    <a:pt x="0" y="0"/>
                  </a:moveTo>
                  <a:lnTo>
                    <a:pt x="1499474" y="0"/>
                  </a:lnTo>
                  <a:lnTo>
                    <a:pt x="1499474" y="1974721"/>
                  </a:lnTo>
                  <a:lnTo>
                    <a:pt x="0" y="1974721"/>
                  </a:lnTo>
                  <a:close/>
                </a:path>
              </a:pathLst>
            </a:custGeom>
            <a:solidFill>
              <a:srgbClr val="005EB8"/>
            </a:solidFill>
          </p:spPr>
          <p:txBody>
            <a:bodyPr/>
            <a:lstStyle/>
            <a:p>
              <a:endParaRPr lang="ko-KR" altLang="en-US" sz="6031"/>
            </a:p>
          </p:txBody>
        </p:sp>
        <p:sp>
          <p:nvSpPr>
            <p:cNvPr id="14" name="Freeform 14"/>
            <p:cNvSpPr/>
            <p:nvPr/>
          </p:nvSpPr>
          <p:spPr>
            <a:xfrm>
              <a:off x="0" y="0"/>
              <a:ext cx="1508967" cy="1986237"/>
            </a:xfrm>
            <a:custGeom>
              <a:avLst/>
              <a:gdLst/>
              <a:ahLst/>
              <a:cxnLst/>
              <a:rect l="l" t="t" r="r" b="b"/>
              <a:pathLst>
                <a:path w="1508967" h="1986237">
                  <a:moveTo>
                    <a:pt x="4747" y="0"/>
                  </a:moveTo>
                  <a:lnTo>
                    <a:pt x="1504221" y="0"/>
                  </a:lnTo>
                  <a:cubicBezTo>
                    <a:pt x="1506787" y="0"/>
                    <a:pt x="1508967" y="2493"/>
                    <a:pt x="1508967" y="5765"/>
                  </a:cubicBezTo>
                  <a:lnTo>
                    <a:pt x="1508967" y="1980486"/>
                  </a:lnTo>
                  <a:cubicBezTo>
                    <a:pt x="1508967" y="1983603"/>
                    <a:pt x="1506915" y="1986237"/>
                    <a:pt x="1504221" y="1986237"/>
                  </a:cubicBezTo>
                  <a:lnTo>
                    <a:pt x="4747" y="1986237"/>
                  </a:lnTo>
                  <a:cubicBezTo>
                    <a:pt x="2181" y="1986237"/>
                    <a:pt x="0" y="1983759"/>
                    <a:pt x="0" y="1980486"/>
                  </a:cubicBezTo>
                  <a:lnTo>
                    <a:pt x="0" y="5765"/>
                  </a:lnTo>
                  <a:cubicBezTo>
                    <a:pt x="0" y="2493"/>
                    <a:pt x="2053" y="0"/>
                    <a:pt x="4747" y="0"/>
                  </a:cubicBezTo>
                  <a:moveTo>
                    <a:pt x="4747" y="11375"/>
                  </a:moveTo>
                  <a:lnTo>
                    <a:pt x="4747" y="5765"/>
                  </a:lnTo>
                  <a:lnTo>
                    <a:pt x="9365" y="5765"/>
                  </a:lnTo>
                  <a:lnTo>
                    <a:pt x="9365" y="1980486"/>
                  </a:lnTo>
                  <a:lnTo>
                    <a:pt x="4747" y="1980486"/>
                  </a:lnTo>
                  <a:lnTo>
                    <a:pt x="4747" y="1974721"/>
                  </a:lnTo>
                  <a:lnTo>
                    <a:pt x="1504221" y="1974721"/>
                  </a:lnTo>
                  <a:lnTo>
                    <a:pt x="1504221" y="1980486"/>
                  </a:lnTo>
                  <a:lnTo>
                    <a:pt x="1499474" y="1980486"/>
                  </a:lnTo>
                  <a:lnTo>
                    <a:pt x="1499474" y="5765"/>
                  </a:lnTo>
                  <a:lnTo>
                    <a:pt x="1504221" y="5765"/>
                  </a:lnTo>
                  <a:lnTo>
                    <a:pt x="1504221" y="11375"/>
                  </a:lnTo>
                  <a:lnTo>
                    <a:pt x="4747" y="11375"/>
                  </a:lnTo>
                  <a:close/>
                </a:path>
              </a:pathLst>
            </a:custGeom>
            <a:solidFill>
              <a:srgbClr val="005EB8"/>
            </a:solidFill>
          </p:spPr>
          <p:txBody>
            <a:bodyPr/>
            <a:lstStyle/>
            <a:p>
              <a:endParaRPr lang="ko-KR" altLang="en-US" sz="6031"/>
            </a:p>
          </p:txBody>
        </p:sp>
      </p:grpSp>
      <p:grpSp>
        <p:nvGrpSpPr>
          <p:cNvPr id="16" name="Group 16"/>
          <p:cNvGrpSpPr/>
          <p:nvPr/>
        </p:nvGrpSpPr>
        <p:grpSpPr>
          <a:xfrm>
            <a:off x="2672440" y="2757945"/>
            <a:ext cx="3890100" cy="647408"/>
            <a:chOff x="0" y="0"/>
            <a:chExt cx="2853654" cy="723154"/>
          </a:xfrm>
        </p:grpSpPr>
        <p:sp>
          <p:nvSpPr>
            <p:cNvPr id="17" name="Freeform 17"/>
            <p:cNvSpPr/>
            <p:nvPr/>
          </p:nvSpPr>
          <p:spPr>
            <a:xfrm>
              <a:off x="0" y="0"/>
              <a:ext cx="2853702" cy="723149"/>
            </a:xfrm>
            <a:custGeom>
              <a:avLst/>
              <a:gdLst/>
              <a:ahLst/>
              <a:cxnLst/>
              <a:rect l="l" t="t" r="r" b="b"/>
              <a:pathLst>
                <a:path w="2853702" h="723149">
                  <a:moveTo>
                    <a:pt x="0" y="0"/>
                  </a:moveTo>
                  <a:lnTo>
                    <a:pt x="2853702" y="0"/>
                  </a:lnTo>
                  <a:lnTo>
                    <a:pt x="2853702" y="723149"/>
                  </a:lnTo>
                  <a:lnTo>
                    <a:pt x="0" y="723149"/>
                  </a:lnTo>
                  <a:close/>
                </a:path>
              </a:pathLst>
            </a:custGeom>
            <a:solidFill>
              <a:srgbClr val="F2F2F2"/>
            </a:solidFill>
          </p:spPr>
          <p:txBody>
            <a:bodyPr/>
            <a:lstStyle/>
            <a:p>
              <a:endParaRPr lang="ko-KR" altLang="en-US" sz="6031"/>
            </a:p>
          </p:txBody>
        </p:sp>
      </p:grpSp>
      <p:sp>
        <p:nvSpPr>
          <p:cNvPr id="19" name="TextBox 19"/>
          <p:cNvSpPr txBox="1"/>
          <p:nvPr/>
        </p:nvSpPr>
        <p:spPr>
          <a:xfrm>
            <a:off x="499225" y="4539606"/>
            <a:ext cx="1664982" cy="179478"/>
          </a:xfrm>
          <a:prstGeom prst="rect">
            <a:avLst/>
          </a:prstGeom>
        </p:spPr>
        <p:txBody>
          <a:bodyPr lIns="0" tIns="0" rIns="0" bIns="0" anchor="t">
            <a:spAutoFit/>
          </a:bodyPr>
          <a:lstStyle/>
          <a:p>
            <a:pPr>
              <a:lnSpc>
                <a:spcPts val="1435"/>
              </a:lnSpc>
              <a:defRPr/>
            </a:pPr>
            <a:r>
              <a:rPr lang="en-US" sz="1195" b="1" dirty="0">
                <a:solidFill>
                  <a:srgbClr val="005EB8"/>
                </a:solidFill>
                <a:latin typeface="맑은 고딕"/>
                <a:ea typeface="맑은 고딕"/>
                <a:cs typeface="Pretendard Bold"/>
                <a:sym typeface="Pretendard Bold"/>
              </a:rPr>
              <a:t>Stock Information</a:t>
            </a:r>
            <a:r>
              <a:rPr lang="en-US" altLang="ko-KR" sz="1195" b="1" dirty="0">
                <a:solidFill>
                  <a:srgbClr val="005EB8"/>
                </a:solidFill>
                <a:latin typeface="맑은 고딕"/>
                <a:ea typeface="맑은 고딕"/>
                <a:cs typeface="Pretendard Bold"/>
                <a:sym typeface="Pretendard Bold"/>
              </a:rPr>
              <a:t>(3/30)</a:t>
            </a:r>
          </a:p>
        </p:txBody>
      </p:sp>
      <p:sp>
        <p:nvSpPr>
          <p:cNvPr id="20" name="TextBox 20"/>
          <p:cNvSpPr txBox="1"/>
          <p:nvPr/>
        </p:nvSpPr>
        <p:spPr>
          <a:xfrm>
            <a:off x="518371" y="7896554"/>
            <a:ext cx="1709905" cy="179478"/>
          </a:xfrm>
          <a:prstGeom prst="rect">
            <a:avLst/>
          </a:prstGeom>
        </p:spPr>
        <p:txBody>
          <a:bodyPr lIns="0" tIns="0" rIns="0" bIns="0" rtlCol="0" anchor="t">
            <a:spAutoFit/>
          </a:bodyPr>
          <a:lstStyle/>
          <a:p>
            <a:pPr>
              <a:lnSpc>
                <a:spcPts val="1435"/>
              </a:lnSpc>
            </a:pPr>
            <a:r>
              <a:rPr lang="en-US" sz="1195" b="1">
                <a:solidFill>
                  <a:srgbClr val="005EB8"/>
                </a:solidFill>
                <a:latin typeface="맑은 고딕"/>
                <a:ea typeface="맑은 고딕"/>
                <a:cs typeface="Pretendard Bold"/>
                <a:sym typeface="Pretendard Bold"/>
              </a:rPr>
              <a:t>주요주주(%)</a:t>
            </a:r>
          </a:p>
        </p:txBody>
      </p:sp>
      <p:sp>
        <p:nvSpPr>
          <p:cNvPr id="21" name="TextBox 21"/>
          <p:cNvSpPr txBox="1"/>
          <p:nvPr/>
        </p:nvSpPr>
        <p:spPr>
          <a:xfrm>
            <a:off x="510345" y="2891923"/>
            <a:ext cx="1255582" cy="596383"/>
          </a:xfrm>
          <a:prstGeom prst="rect">
            <a:avLst/>
          </a:prstGeom>
        </p:spPr>
        <p:txBody>
          <a:bodyPr lIns="0" tIns="0" rIns="0" bIns="0" rtlCol="0" anchor="t">
            <a:spAutoFit/>
          </a:bodyPr>
          <a:lstStyle/>
          <a:p>
            <a:pPr>
              <a:lnSpc>
                <a:spcPts val="4783"/>
              </a:lnSpc>
            </a:pPr>
            <a:r>
              <a:rPr lang="en-US" sz="3984" b="1">
                <a:solidFill>
                  <a:srgbClr val="005EB8"/>
                </a:solidFill>
                <a:latin typeface="맑은 고딕"/>
                <a:ea typeface="맑은 고딕"/>
                <a:cs typeface="Pretendard Bold"/>
                <a:sym typeface="Pretendard Bold"/>
              </a:rPr>
              <a:t>BUY</a:t>
            </a:r>
          </a:p>
        </p:txBody>
      </p:sp>
      <p:sp>
        <p:nvSpPr>
          <p:cNvPr id="22" name="TextBox 22"/>
          <p:cNvSpPr txBox="1"/>
          <p:nvPr/>
        </p:nvSpPr>
        <p:spPr>
          <a:xfrm>
            <a:off x="543407" y="3636677"/>
            <a:ext cx="676502" cy="179478"/>
          </a:xfrm>
          <a:prstGeom prst="rect">
            <a:avLst/>
          </a:prstGeom>
        </p:spPr>
        <p:txBody>
          <a:bodyPr wrap="square" lIns="0" tIns="0" rIns="0" bIns="0" anchor="t">
            <a:spAutoFit/>
          </a:bodyPr>
          <a:lstStyle/>
          <a:p>
            <a:pPr>
              <a:lnSpc>
                <a:spcPts val="1435"/>
              </a:lnSpc>
              <a:defRPr/>
            </a:pPr>
            <a:r>
              <a:rPr lang="en-US" sz="1195">
                <a:solidFill>
                  <a:srgbClr val="005EB8"/>
                </a:solidFill>
                <a:latin typeface="맑은 고딕"/>
                <a:ea typeface="맑은 고딕"/>
                <a:cs typeface="Pretendard"/>
                <a:sym typeface="Pretendard"/>
              </a:rPr>
              <a:t>목표주가</a:t>
            </a:r>
          </a:p>
        </p:txBody>
      </p:sp>
      <p:sp>
        <p:nvSpPr>
          <p:cNvPr id="23" name="TextBox 23"/>
          <p:cNvSpPr txBox="1"/>
          <p:nvPr/>
        </p:nvSpPr>
        <p:spPr>
          <a:xfrm>
            <a:off x="541005" y="3879053"/>
            <a:ext cx="664727" cy="179478"/>
          </a:xfrm>
          <a:prstGeom prst="rect">
            <a:avLst/>
          </a:prstGeom>
        </p:spPr>
        <p:txBody>
          <a:bodyPr lIns="0" tIns="0" rIns="0" bIns="0" rtlCol="0" anchor="t">
            <a:spAutoFit/>
          </a:bodyPr>
          <a:lstStyle/>
          <a:p>
            <a:pPr>
              <a:lnSpc>
                <a:spcPts val="1435"/>
              </a:lnSpc>
            </a:pPr>
            <a:r>
              <a:rPr lang="en-US" sz="1195">
                <a:solidFill>
                  <a:srgbClr val="005EB8"/>
                </a:solidFill>
                <a:latin typeface="맑은 고딕"/>
                <a:ea typeface="맑은 고딕"/>
                <a:cs typeface="Pretendard"/>
                <a:sym typeface="Pretendard"/>
              </a:rPr>
              <a:t>현재주가</a:t>
            </a:r>
          </a:p>
        </p:txBody>
      </p:sp>
      <p:sp>
        <p:nvSpPr>
          <p:cNvPr id="24" name="TextBox 24"/>
          <p:cNvSpPr txBox="1"/>
          <p:nvPr/>
        </p:nvSpPr>
        <p:spPr>
          <a:xfrm>
            <a:off x="541003" y="4137639"/>
            <a:ext cx="664727" cy="179478"/>
          </a:xfrm>
          <a:prstGeom prst="rect">
            <a:avLst/>
          </a:prstGeom>
        </p:spPr>
        <p:txBody>
          <a:bodyPr lIns="0" tIns="0" rIns="0" bIns="0" rtlCol="0" anchor="t">
            <a:spAutoFit/>
          </a:bodyPr>
          <a:lstStyle/>
          <a:p>
            <a:pPr>
              <a:lnSpc>
                <a:spcPts val="1435"/>
              </a:lnSpc>
            </a:pPr>
            <a:r>
              <a:rPr lang="en-US" sz="1195">
                <a:solidFill>
                  <a:srgbClr val="005EB8"/>
                </a:solidFill>
                <a:latin typeface="맑은 고딕"/>
                <a:ea typeface="맑은 고딕"/>
                <a:cs typeface="Pretendard"/>
                <a:sym typeface="Pretendard"/>
              </a:rPr>
              <a:t>상승여력</a:t>
            </a:r>
          </a:p>
        </p:txBody>
      </p:sp>
      <p:sp>
        <p:nvSpPr>
          <p:cNvPr id="25" name="TextBox 25"/>
          <p:cNvSpPr txBox="1"/>
          <p:nvPr/>
        </p:nvSpPr>
        <p:spPr>
          <a:xfrm>
            <a:off x="1448435" y="3636611"/>
            <a:ext cx="749399" cy="179478"/>
          </a:xfrm>
          <a:prstGeom prst="rect">
            <a:avLst/>
          </a:prstGeom>
        </p:spPr>
        <p:txBody>
          <a:bodyPr wrap="square" lIns="0" tIns="0" rIns="0" bIns="0" anchor="t">
            <a:spAutoFit/>
          </a:bodyPr>
          <a:lstStyle/>
          <a:p>
            <a:pPr algn="r">
              <a:lnSpc>
                <a:spcPts val="1435"/>
              </a:lnSpc>
              <a:defRPr/>
            </a:pPr>
            <a:r>
              <a:rPr lang="en-US" altLang="ko-KR" sz="1195">
                <a:solidFill>
                  <a:srgbClr val="005EB8"/>
                </a:solidFill>
                <a:latin typeface="맑은 고딕"/>
                <a:ea typeface="맑은 고딕"/>
                <a:cs typeface="Pretendard"/>
                <a:sym typeface="Pretendard"/>
              </a:rPr>
              <a:t>603,850원</a:t>
            </a:r>
          </a:p>
        </p:txBody>
      </p:sp>
      <p:sp>
        <p:nvSpPr>
          <p:cNvPr id="26" name="TextBox 26"/>
          <p:cNvSpPr txBox="1"/>
          <p:nvPr/>
        </p:nvSpPr>
        <p:spPr>
          <a:xfrm>
            <a:off x="1372260" y="3895263"/>
            <a:ext cx="835027" cy="180130"/>
          </a:xfrm>
          <a:prstGeom prst="rect">
            <a:avLst/>
          </a:prstGeom>
        </p:spPr>
        <p:txBody>
          <a:bodyPr wrap="square" lIns="0" tIns="0" rIns="0" bIns="0" anchor="t">
            <a:spAutoFit/>
          </a:bodyPr>
          <a:lstStyle/>
          <a:p>
            <a:pPr algn="r">
              <a:lnSpc>
                <a:spcPts val="1435"/>
              </a:lnSpc>
              <a:defRPr/>
            </a:pPr>
            <a:r>
              <a:rPr lang="en-US" altLang="ko-KR" sz="1195">
                <a:solidFill>
                  <a:srgbClr val="005EB8"/>
                </a:solidFill>
                <a:latin typeface="맑은 고딕"/>
                <a:ea typeface="맑은 고딕"/>
                <a:cs typeface="Pretendard"/>
                <a:sym typeface="Pretendard"/>
              </a:rPr>
              <a:t>412,500</a:t>
            </a:r>
            <a:r>
              <a:rPr lang="en-US" sz="1195">
                <a:solidFill>
                  <a:srgbClr val="005EB8"/>
                </a:solidFill>
                <a:latin typeface="맑은 고딕"/>
                <a:ea typeface="맑은 고딕"/>
                <a:cs typeface="Pretendard"/>
                <a:sym typeface="Pretendard"/>
              </a:rPr>
              <a:t>원</a:t>
            </a:r>
          </a:p>
        </p:txBody>
      </p:sp>
      <p:sp>
        <p:nvSpPr>
          <p:cNvPr id="27" name="TextBox 27"/>
          <p:cNvSpPr txBox="1"/>
          <p:nvPr/>
        </p:nvSpPr>
        <p:spPr>
          <a:xfrm>
            <a:off x="1511387" y="4146596"/>
            <a:ext cx="664727" cy="179478"/>
          </a:xfrm>
          <a:prstGeom prst="rect">
            <a:avLst/>
          </a:prstGeom>
        </p:spPr>
        <p:txBody>
          <a:bodyPr lIns="0" tIns="0" rIns="0" bIns="0" anchor="t">
            <a:spAutoFit/>
          </a:bodyPr>
          <a:lstStyle/>
          <a:p>
            <a:pPr algn="r">
              <a:lnSpc>
                <a:spcPts val="1435"/>
              </a:lnSpc>
              <a:defRPr/>
            </a:pPr>
            <a:r>
              <a:rPr lang="en-US" altLang="ko-KR" sz="1195">
                <a:solidFill>
                  <a:srgbClr val="005EB8"/>
                </a:solidFill>
                <a:latin typeface="맑은 고딕"/>
                <a:ea typeface="맑은 고딕"/>
                <a:cs typeface="Pretendard"/>
                <a:sym typeface="Pretendard"/>
              </a:rPr>
              <a:t>46.4%</a:t>
            </a:r>
          </a:p>
        </p:txBody>
      </p:sp>
      <p:sp>
        <p:nvSpPr>
          <p:cNvPr id="28" name="TextBox 28"/>
          <p:cNvSpPr txBox="1"/>
          <p:nvPr/>
        </p:nvSpPr>
        <p:spPr>
          <a:xfrm>
            <a:off x="516020" y="5880897"/>
            <a:ext cx="833726" cy="143244"/>
          </a:xfrm>
          <a:prstGeom prst="rect">
            <a:avLst/>
          </a:prstGeom>
        </p:spPr>
        <p:txBody>
          <a:bodyPr wrap="square" lIns="0" tIns="0" rIns="0" bIns="0" rtlCol="0" anchor="t">
            <a:spAutoFit/>
          </a:bodyPr>
          <a:lstStyle/>
          <a:p>
            <a:pPr>
              <a:lnSpc>
                <a:spcPts val="1195"/>
              </a:lnSpc>
            </a:pPr>
            <a:r>
              <a:rPr lang="en-US" sz="996" dirty="0">
                <a:solidFill>
                  <a:srgbClr val="000000"/>
                </a:solidFill>
                <a:latin typeface="맑은 고딕"/>
                <a:ea typeface="맑은 고딕"/>
                <a:cs typeface="Pretendard"/>
                <a:sym typeface="Pretendard"/>
              </a:rPr>
              <a:t>52주 </a:t>
            </a:r>
            <a:r>
              <a:rPr lang="en-US" sz="996" dirty="0" err="1">
                <a:solidFill>
                  <a:srgbClr val="000000"/>
                </a:solidFill>
                <a:latin typeface="맑은 고딕"/>
                <a:ea typeface="맑은 고딕"/>
                <a:cs typeface="Pretendard"/>
                <a:sym typeface="Pretendard"/>
              </a:rPr>
              <a:t>최고가</a:t>
            </a:r>
            <a:endParaRPr lang="en-US" sz="996" dirty="0">
              <a:solidFill>
                <a:srgbClr val="000000"/>
              </a:solidFill>
              <a:latin typeface="맑은 고딕"/>
              <a:ea typeface="맑은 고딕"/>
              <a:cs typeface="Pretendard"/>
              <a:sym typeface="Pretendard"/>
            </a:endParaRPr>
          </a:p>
        </p:txBody>
      </p:sp>
      <p:sp>
        <p:nvSpPr>
          <p:cNvPr id="29" name="TextBox 29"/>
          <p:cNvSpPr txBox="1"/>
          <p:nvPr/>
        </p:nvSpPr>
        <p:spPr>
          <a:xfrm>
            <a:off x="516020" y="6111499"/>
            <a:ext cx="833726" cy="147879"/>
          </a:xfrm>
          <a:prstGeom prst="rect">
            <a:avLst/>
          </a:prstGeom>
        </p:spPr>
        <p:txBody>
          <a:bodyPr wrap="square" lIns="0" tIns="0" rIns="0" bIns="0" rtlCol="0" anchor="t">
            <a:spAutoFit/>
          </a:bodyPr>
          <a:lstStyle/>
          <a:p>
            <a:pPr>
              <a:lnSpc>
                <a:spcPts val="1195"/>
              </a:lnSpc>
            </a:pPr>
            <a:r>
              <a:rPr lang="en-US" sz="996" dirty="0">
                <a:solidFill>
                  <a:srgbClr val="000000"/>
                </a:solidFill>
                <a:latin typeface="맑은 고딕"/>
                <a:ea typeface="맑은 고딕"/>
                <a:cs typeface="Pretendard"/>
                <a:sym typeface="Pretendard"/>
              </a:rPr>
              <a:t>52주 </a:t>
            </a:r>
            <a:r>
              <a:rPr lang="en-US" sz="996" dirty="0" err="1">
                <a:solidFill>
                  <a:srgbClr val="000000"/>
                </a:solidFill>
                <a:latin typeface="맑은 고딕"/>
                <a:ea typeface="맑은 고딕"/>
                <a:cs typeface="Pretendard"/>
                <a:sym typeface="Pretendard"/>
              </a:rPr>
              <a:t>최저가</a:t>
            </a:r>
            <a:endParaRPr lang="en-US" sz="996" dirty="0">
              <a:solidFill>
                <a:srgbClr val="000000"/>
              </a:solidFill>
              <a:latin typeface="맑은 고딕"/>
              <a:ea typeface="맑은 고딕"/>
              <a:cs typeface="Pretendard"/>
              <a:sym typeface="Pretendard"/>
            </a:endParaRPr>
          </a:p>
        </p:txBody>
      </p:sp>
      <p:sp>
        <p:nvSpPr>
          <p:cNvPr id="30" name="TextBox 30"/>
          <p:cNvSpPr txBox="1"/>
          <p:nvPr/>
        </p:nvSpPr>
        <p:spPr>
          <a:xfrm>
            <a:off x="1537172" y="5885223"/>
            <a:ext cx="664727" cy="151691"/>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473,500</a:t>
            </a:r>
            <a:r>
              <a:rPr lang="en-US" sz="996">
                <a:solidFill>
                  <a:srgbClr val="000000"/>
                </a:solidFill>
                <a:latin typeface="맑은 고딕"/>
                <a:ea typeface="맑은 고딕"/>
                <a:cs typeface="Pretendard"/>
                <a:sym typeface="Pretendard"/>
              </a:rPr>
              <a:t>원</a:t>
            </a:r>
          </a:p>
        </p:txBody>
      </p:sp>
      <p:sp>
        <p:nvSpPr>
          <p:cNvPr id="31" name="TextBox 31"/>
          <p:cNvSpPr txBox="1"/>
          <p:nvPr/>
        </p:nvSpPr>
        <p:spPr>
          <a:xfrm>
            <a:off x="1537172" y="6100969"/>
            <a:ext cx="664727" cy="147879"/>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157,70</a:t>
            </a:r>
            <a:r>
              <a:rPr lang="en-US" sz="996">
                <a:solidFill>
                  <a:srgbClr val="000000"/>
                </a:solidFill>
                <a:latin typeface="맑은 고딕"/>
                <a:ea typeface="맑은 고딕"/>
                <a:cs typeface="Pretendard"/>
                <a:sym typeface="Pretendard"/>
              </a:rPr>
              <a:t>0원</a:t>
            </a:r>
          </a:p>
        </p:txBody>
      </p:sp>
      <p:sp>
        <p:nvSpPr>
          <p:cNvPr id="32" name="TextBox 32"/>
          <p:cNvSpPr txBox="1"/>
          <p:nvPr/>
        </p:nvSpPr>
        <p:spPr>
          <a:xfrm>
            <a:off x="528105" y="6344940"/>
            <a:ext cx="664727" cy="149095"/>
          </a:xfrm>
          <a:prstGeom prst="rect">
            <a:avLst/>
          </a:prstGeom>
        </p:spPr>
        <p:txBody>
          <a:bodyPr lIns="0" tIns="0" rIns="0" bIns="0" rtlCol="0" anchor="t">
            <a:spAutoFit/>
          </a:bodyPr>
          <a:lstStyle/>
          <a:p>
            <a:pPr>
              <a:lnSpc>
                <a:spcPts val="1195"/>
              </a:lnSpc>
            </a:pPr>
            <a:r>
              <a:rPr lang="en-US" sz="996">
                <a:solidFill>
                  <a:srgbClr val="000000"/>
                </a:solidFill>
                <a:latin typeface="맑은 고딕"/>
                <a:ea typeface="맑은 고딕"/>
                <a:cs typeface="Pretendard"/>
                <a:sym typeface="Pretendard"/>
              </a:rPr>
              <a:t>KOSPI</a:t>
            </a:r>
          </a:p>
        </p:txBody>
      </p:sp>
      <p:sp>
        <p:nvSpPr>
          <p:cNvPr id="33" name="TextBox 33"/>
          <p:cNvSpPr txBox="1"/>
          <p:nvPr/>
        </p:nvSpPr>
        <p:spPr>
          <a:xfrm>
            <a:off x="528105" y="6575542"/>
            <a:ext cx="664727" cy="149095"/>
          </a:xfrm>
          <a:prstGeom prst="rect">
            <a:avLst/>
          </a:prstGeom>
        </p:spPr>
        <p:txBody>
          <a:bodyPr lIns="0" tIns="0" rIns="0" bIns="0" rtlCol="0" anchor="t">
            <a:spAutoFit/>
          </a:bodyPr>
          <a:lstStyle/>
          <a:p>
            <a:pPr>
              <a:lnSpc>
                <a:spcPts val="1195"/>
              </a:lnSpc>
            </a:pPr>
            <a:r>
              <a:rPr lang="en-US" sz="996">
                <a:solidFill>
                  <a:srgbClr val="000000"/>
                </a:solidFill>
                <a:latin typeface="맑은 고딕"/>
                <a:ea typeface="맑은 고딕"/>
                <a:cs typeface="Pretendard"/>
                <a:sym typeface="Pretendard"/>
              </a:rPr>
              <a:t>KOSDAQ</a:t>
            </a:r>
          </a:p>
        </p:txBody>
      </p:sp>
      <p:sp>
        <p:nvSpPr>
          <p:cNvPr id="34" name="TextBox 34"/>
          <p:cNvSpPr txBox="1"/>
          <p:nvPr/>
        </p:nvSpPr>
        <p:spPr>
          <a:xfrm>
            <a:off x="1549258" y="6349267"/>
            <a:ext cx="664727" cy="149095"/>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5,277.30</a:t>
            </a:r>
          </a:p>
        </p:txBody>
      </p:sp>
      <p:sp>
        <p:nvSpPr>
          <p:cNvPr id="35" name="TextBox 35"/>
          <p:cNvSpPr txBox="1"/>
          <p:nvPr/>
        </p:nvSpPr>
        <p:spPr>
          <a:xfrm>
            <a:off x="1549258" y="6565011"/>
            <a:ext cx="664727" cy="147961"/>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1,107.05</a:t>
            </a:r>
          </a:p>
        </p:txBody>
      </p:sp>
      <p:sp>
        <p:nvSpPr>
          <p:cNvPr id="36" name="TextBox 36"/>
          <p:cNvSpPr txBox="1"/>
          <p:nvPr/>
        </p:nvSpPr>
        <p:spPr>
          <a:xfrm>
            <a:off x="518218" y="4944424"/>
            <a:ext cx="664727" cy="147879"/>
          </a:xfrm>
          <a:prstGeom prst="rect">
            <a:avLst/>
          </a:prstGeom>
        </p:spPr>
        <p:txBody>
          <a:bodyPr lIns="0" tIns="0" rIns="0" bIns="0" rtlCol="0" anchor="t">
            <a:spAutoFit/>
          </a:bodyPr>
          <a:lstStyle/>
          <a:p>
            <a:pPr>
              <a:lnSpc>
                <a:spcPts val="1195"/>
              </a:lnSpc>
            </a:pPr>
            <a:r>
              <a:rPr lang="en-US" sz="996">
                <a:solidFill>
                  <a:srgbClr val="000000"/>
                </a:solidFill>
                <a:latin typeface="맑은 고딕"/>
                <a:ea typeface="맑은 고딕"/>
                <a:cs typeface="Pretendard"/>
                <a:sym typeface="Pretendard"/>
              </a:rPr>
              <a:t>시가총액</a:t>
            </a:r>
          </a:p>
        </p:txBody>
      </p:sp>
      <p:sp>
        <p:nvSpPr>
          <p:cNvPr id="37" name="TextBox 37"/>
          <p:cNvSpPr txBox="1"/>
          <p:nvPr/>
        </p:nvSpPr>
        <p:spPr>
          <a:xfrm>
            <a:off x="518218" y="5175026"/>
            <a:ext cx="664727" cy="147879"/>
          </a:xfrm>
          <a:prstGeom prst="rect">
            <a:avLst/>
          </a:prstGeom>
        </p:spPr>
        <p:txBody>
          <a:bodyPr lIns="0" tIns="0" rIns="0" bIns="0" rtlCol="0" anchor="t">
            <a:spAutoFit/>
          </a:bodyPr>
          <a:lstStyle/>
          <a:p>
            <a:pPr>
              <a:lnSpc>
                <a:spcPts val="1195"/>
              </a:lnSpc>
            </a:pPr>
            <a:r>
              <a:rPr lang="en-US" sz="996">
                <a:solidFill>
                  <a:srgbClr val="000000"/>
                </a:solidFill>
                <a:latin typeface="맑은 고딕"/>
                <a:ea typeface="맑은 고딕"/>
                <a:cs typeface="Pretendard"/>
                <a:sym typeface="Pretendard"/>
              </a:rPr>
              <a:t>발행주식수</a:t>
            </a:r>
          </a:p>
        </p:txBody>
      </p:sp>
      <p:sp>
        <p:nvSpPr>
          <p:cNvPr id="38" name="TextBox 38"/>
          <p:cNvSpPr txBox="1"/>
          <p:nvPr/>
        </p:nvSpPr>
        <p:spPr>
          <a:xfrm>
            <a:off x="1539369" y="4948750"/>
            <a:ext cx="664727" cy="147879"/>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31.87</a:t>
            </a:r>
            <a:r>
              <a:rPr lang="ko-KR" altLang="en-US" sz="996">
                <a:solidFill>
                  <a:srgbClr val="000000"/>
                </a:solidFill>
                <a:latin typeface="맑은 고딕"/>
                <a:ea typeface="맑은 고딕"/>
                <a:cs typeface="Pretendard"/>
                <a:sym typeface="Pretendard"/>
              </a:rPr>
              <a:t>조</a:t>
            </a:r>
          </a:p>
        </p:txBody>
      </p:sp>
      <p:sp>
        <p:nvSpPr>
          <p:cNvPr id="39" name="TextBox 39"/>
          <p:cNvSpPr txBox="1"/>
          <p:nvPr/>
        </p:nvSpPr>
        <p:spPr>
          <a:xfrm>
            <a:off x="1357015" y="5164496"/>
            <a:ext cx="847081" cy="148750"/>
          </a:xfrm>
          <a:prstGeom prst="rect">
            <a:avLst/>
          </a:prstGeom>
        </p:spPr>
        <p:txBody>
          <a:bodyPr wrap="square"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8,059만주</a:t>
            </a:r>
          </a:p>
        </p:txBody>
      </p:sp>
      <p:sp>
        <p:nvSpPr>
          <p:cNvPr id="40" name="TextBox 40"/>
          <p:cNvSpPr txBox="1"/>
          <p:nvPr/>
        </p:nvSpPr>
        <p:spPr>
          <a:xfrm>
            <a:off x="518218" y="5408349"/>
            <a:ext cx="847081" cy="147879"/>
          </a:xfrm>
          <a:prstGeom prst="rect">
            <a:avLst/>
          </a:prstGeom>
        </p:spPr>
        <p:txBody>
          <a:bodyPr lIns="0" tIns="0" rIns="0" bIns="0" rtlCol="0" anchor="t">
            <a:spAutoFit/>
          </a:bodyPr>
          <a:lstStyle/>
          <a:p>
            <a:pPr>
              <a:lnSpc>
                <a:spcPts val="1195"/>
              </a:lnSpc>
            </a:pPr>
            <a:r>
              <a:rPr lang="en-US" sz="996">
                <a:solidFill>
                  <a:srgbClr val="000000"/>
                </a:solidFill>
                <a:latin typeface="맑은 고딕"/>
                <a:ea typeface="맑은 고딕"/>
                <a:cs typeface="Pretendard"/>
                <a:sym typeface="Pretendard"/>
              </a:rPr>
              <a:t>외국인 지분율</a:t>
            </a:r>
          </a:p>
        </p:txBody>
      </p:sp>
      <p:sp>
        <p:nvSpPr>
          <p:cNvPr id="41" name="TextBox 41"/>
          <p:cNvSpPr txBox="1"/>
          <p:nvPr/>
        </p:nvSpPr>
        <p:spPr>
          <a:xfrm>
            <a:off x="518218" y="5638952"/>
            <a:ext cx="744658" cy="143244"/>
          </a:xfrm>
          <a:prstGeom prst="rect">
            <a:avLst/>
          </a:prstGeom>
        </p:spPr>
        <p:txBody>
          <a:bodyPr wrap="square" lIns="0" tIns="0" rIns="0" bIns="0" rtlCol="0" anchor="t">
            <a:spAutoFit/>
          </a:bodyPr>
          <a:lstStyle/>
          <a:p>
            <a:pPr>
              <a:lnSpc>
                <a:spcPts val="1195"/>
              </a:lnSpc>
            </a:pPr>
            <a:r>
              <a:rPr lang="en-US" sz="996" dirty="0" err="1">
                <a:solidFill>
                  <a:srgbClr val="000000"/>
                </a:solidFill>
                <a:latin typeface="맑은 고딕"/>
                <a:ea typeface="맑은 고딕"/>
                <a:cs typeface="Pretendard"/>
                <a:sym typeface="Pretendard"/>
              </a:rPr>
              <a:t>배당</a:t>
            </a:r>
            <a:r>
              <a:rPr lang="en-US" sz="996" dirty="0">
                <a:solidFill>
                  <a:srgbClr val="000000"/>
                </a:solidFill>
                <a:latin typeface="맑은 고딕"/>
                <a:ea typeface="맑은 고딕"/>
                <a:cs typeface="Pretendard"/>
                <a:sym typeface="Pretendard"/>
              </a:rPr>
              <a:t> </a:t>
            </a:r>
            <a:r>
              <a:rPr lang="en-US" sz="996" dirty="0" err="1">
                <a:solidFill>
                  <a:srgbClr val="000000"/>
                </a:solidFill>
                <a:latin typeface="맑은 고딕"/>
                <a:ea typeface="맑은 고딕"/>
                <a:cs typeface="Pretendard"/>
                <a:sym typeface="Pretendard"/>
              </a:rPr>
              <a:t>수익률</a:t>
            </a:r>
            <a:endParaRPr lang="en-US" sz="996" dirty="0">
              <a:solidFill>
                <a:srgbClr val="000000"/>
              </a:solidFill>
              <a:latin typeface="맑은 고딕"/>
              <a:ea typeface="맑은 고딕"/>
              <a:cs typeface="Pretendard"/>
              <a:sym typeface="Pretendard"/>
            </a:endParaRPr>
          </a:p>
        </p:txBody>
      </p:sp>
      <p:sp>
        <p:nvSpPr>
          <p:cNvPr id="42" name="TextBox 42"/>
          <p:cNvSpPr txBox="1"/>
          <p:nvPr/>
        </p:nvSpPr>
        <p:spPr>
          <a:xfrm>
            <a:off x="1539369" y="5412676"/>
            <a:ext cx="664727" cy="148141"/>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24.5</a:t>
            </a:r>
            <a:r>
              <a:rPr lang="en-US" sz="996">
                <a:solidFill>
                  <a:srgbClr val="000000"/>
                </a:solidFill>
                <a:latin typeface="맑은 고딕"/>
                <a:ea typeface="맑은 고딕"/>
                <a:cs typeface="Pretendard"/>
                <a:sym typeface="Pretendard"/>
              </a:rPr>
              <a:t>%</a:t>
            </a:r>
          </a:p>
        </p:txBody>
      </p:sp>
      <p:sp>
        <p:nvSpPr>
          <p:cNvPr id="43" name="TextBox 43"/>
          <p:cNvSpPr txBox="1"/>
          <p:nvPr/>
        </p:nvSpPr>
        <p:spPr>
          <a:xfrm>
            <a:off x="1539369" y="5628422"/>
            <a:ext cx="664727" cy="151400"/>
          </a:xfrm>
          <a:prstGeom prst="rect">
            <a:avLst/>
          </a:prstGeom>
        </p:spPr>
        <p:txBody>
          <a:bodyPr lIns="0" tIns="0" rIns="0" bIns="0" anchor="t">
            <a:spAutoFit/>
          </a:bodyPr>
          <a:lstStyle/>
          <a:p>
            <a:pPr algn="r">
              <a:lnSpc>
                <a:spcPts val="1195"/>
              </a:lnSpc>
              <a:defRPr/>
            </a:pPr>
            <a:r>
              <a:rPr lang="en-US" sz="996">
                <a:solidFill>
                  <a:srgbClr val="000000"/>
                </a:solidFill>
                <a:latin typeface="맑은 고딕"/>
                <a:ea typeface="맑은 고딕"/>
                <a:cs typeface="Pretendard"/>
                <a:sym typeface="Pretendard"/>
              </a:rPr>
              <a:t>0.</a:t>
            </a:r>
            <a:r>
              <a:rPr lang="en-US" altLang="ko-KR" sz="996">
                <a:solidFill>
                  <a:srgbClr val="000000"/>
                </a:solidFill>
                <a:latin typeface="맑은 고딕"/>
                <a:ea typeface="맑은 고딕"/>
                <a:cs typeface="Pretendard"/>
                <a:sym typeface="Pretendard"/>
              </a:rPr>
              <a:t>22</a:t>
            </a:r>
            <a:r>
              <a:rPr lang="en-US" sz="996">
                <a:solidFill>
                  <a:srgbClr val="000000"/>
                </a:solidFill>
                <a:latin typeface="맑은 고딕"/>
                <a:ea typeface="맑은 고딕"/>
                <a:cs typeface="Pretendard"/>
                <a:sym typeface="Pretendard"/>
              </a:rPr>
              <a:t>%</a:t>
            </a:r>
          </a:p>
        </p:txBody>
      </p:sp>
      <p:sp>
        <p:nvSpPr>
          <p:cNvPr id="44" name="TextBox 44"/>
          <p:cNvSpPr txBox="1"/>
          <p:nvPr/>
        </p:nvSpPr>
        <p:spPr>
          <a:xfrm>
            <a:off x="498412" y="8935388"/>
            <a:ext cx="1736303" cy="179478"/>
          </a:xfrm>
          <a:prstGeom prst="rect">
            <a:avLst/>
          </a:prstGeom>
        </p:spPr>
        <p:txBody>
          <a:bodyPr lIns="0" tIns="0" rIns="0" bIns="0" anchor="t">
            <a:spAutoFit/>
          </a:bodyPr>
          <a:lstStyle/>
          <a:p>
            <a:pPr>
              <a:lnSpc>
                <a:spcPts val="1435"/>
              </a:lnSpc>
              <a:defRPr/>
            </a:pPr>
            <a:r>
              <a:rPr lang="en-US" sz="1195" b="1">
                <a:solidFill>
                  <a:srgbClr val="FFFFFF"/>
                </a:solidFill>
                <a:latin typeface="맑은 고딕"/>
                <a:ea typeface="맑은 고딕"/>
                <a:cs typeface="Pretendard Bold"/>
                <a:sym typeface="Pretendard Bold"/>
              </a:rPr>
              <a:t>ICOK 에너지·소재팀</a:t>
            </a:r>
          </a:p>
        </p:txBody>
      </p:sp>
      <p:sp>
        <p:nvSpPr>
          <p:cNvPr id="46" name="TextBox 46"/>
          <p:cNvSpPr txBox="1"/>
          <p:nvPr/>
        </p:nvSpPr>
        <p:spPr>
          <a:xfrm>
            <a:off x="2596938" y="2442646"/>
            <a:ext cx="5313880" cy="215444"/>
          </a:xfrm>
          <a:prstGeom prst="rect">
            <a:avLst/>
          </a:prstGeom>
        </p:spPr>
        <p:txBody>
          <a:bodyPr wrap="square" lIns="0" tIns="0" rIns="0" bIns="0" rtlCol="0" anchor="t">
            <a:spAutoFit/>
          </a:bodyPr>
          <a:lstStyle/>
          <a:p>
            <a:r>
              <a:rPr lang="ko-KR" altLang="ko-KR" sz="1400" b="1" dirty="0">
                <a:solidFill>
                  <a:schemeClr val="accent1"/>
                </a:solidFill>
              </a:rPr>
              <a:t>ESS 확대와 유럽 EV 정상화가 맞물리는 실적 전환기</a:t>
            </a:r>
          </a:p>
        </p:txBody>
      </p:sp>
      <p:sp>
        <p:nvSpPr>
          <p:cNvPr id="47" name="TextBox 47"/>
          <p:cNvSpPr txBox="1"/>
          <p:nvPr/>
        </p:nvSpPr>
        <p:spPr>
          <a:xfrm>
            <a:off x="2672440" y="3517483"/>
            <a:ext cx="3890164" cy="202491"/>
          </a:xfrm>
          <a:prstGeom prst="rect">
            <a:avLst/>
          </a:prstGeom>
        </p:spPr>
        <p:txBody>
          <a:bodyPr wrap="square" lIns="0" tIns="0" rIns="0" bIns="0" anchor="t">
            <a:spAutoFit/>
          </a:bodyPr>
          <a:lstStyle/>
          <a:p>
            <a:pPr>
              <a:lnSpc>
                <a:spcPts val="1672"/>
              </a:lnSpc>
              <a:defRPr/>
            </a:pPr>
            <a:r>
              <a:rPr lang="en-US" sz="1395" b="1" dirty="0" err="1">
                <a:latin typeface="맑은 고딕"/>
                <a:ea typeface="맑은 고딕"/>
                <a:cs typeface="Pretendard Bold"/>
                <a:sym typeface="Pretendard Bold"/>
              </a:rPr>
              <a:t>투자포인트</a:t>
            </a:r>
            <a:r>
              <a:rPr lang="en-US" sz="1395" b="1" dirty="0">
                <a:latin typeface="맑은 고딕"/>
                <a:ea typeface="맑은 고딕"/>
                <a:cs typeface="Pretendard Bold"/>
                <a:sym typeface="Pretendard Bold"/>
              </a:rPr>
              <a:t> 1.</a:t>
            </a:r>
            <a:r>
              <a:rPr lang="ko-KR" altLang="en-US" sz="1395" b="1" dirty="0">
                <a:latin typeface="맑은 고딕"/>
                <a:ea typeface="맑은 고딕"/>
                <a:cs typeface="Pretendard Bold"/>
                <a:sym typeface="Pretendard Bold"/>
              </a:rPr>
              <a:t>  </a:t>
            </a:r>
            <a:r>
              <a:rPr lang="en-US" sz="1395" b="1" dirty="0" err="1">
                <a:latin typeface="맑은 고딕"/>
                <a:ea typeface="맑은 고딕"/>
                <a:cs typeface="Pretendard Bold"/>
                <a:sym typeface="Pretendard Bold"/>
              </a:rPr>
              <a:t>북미</a:t>
            </a:r>
            <a:r>
              <a:rPr lang="en-US" sz="1395" b="1" dirty="0">
                <a:latin typeface="맑은 고딕"/>
                <a:ea typeface="맑은 고딕"/>
                <a:cs typeface="Pretendard Bold"/>
                <a:sym typeface="Pretendard Bold"/>
              </a:rPr>
              <a:t> </a:t>
            </a:r>
            <a:r>
              <a:rPr lang="en-US" sz="1395" b="1" dirty="0">
                <a:solidFill>
                  <a:schemeClr val="accent1"/>
                </a:solidFill>
                <a:latin typeface="맑은 고딕"/>
                <a:ea typeface="맑은 고딕"/>
                <a:cs typeface="Pretendard Bold"/>
                <a:sym typeface="Pretendard Bold"/>
              </a:rPr>
              <a:t>ESS</a:t>
            </a:r>
            <a:r>
              <a:rPr lang="en-US" sz="1395" b="1" dirty="0">
                <a:latin typeface="맑은 고딕"/>
                <a:ea typeface="맑은 고딕"/>
                <a:cs typeface="Pretendard Bold"/>
                <a:sym typeface="Pretendard Bold"/>
              </a:rPr>
              <a:t>·AMPC</a:t>
            </a:r>
          </a:p>
        </p:txBody>
      </p:sp>
      <p:sp>
        <p:nvSpPr>
          <p:cNvPr id="48" name="TextBox 48"/>
          <p:cNvSpPr txBox="1"/>
          <p:nvPr/>
        </p:nvSpPr>
        <p:spPr>
          <a:xfrm>
            <a:off x="2665815" y="3749039"/>
            <a:ext cx="3621699" cy="1005840"/>
          </a:xfrm>
          <a:prstGeom prst="rect">
            <a:avLst/>
          </a:prstGeom>
        </p:spPr>
        <p:txBody>
          <a:bodyPr lIns="0" tIns="0" rIns="0" bIns="0" rtlCol="0" anchor="t">
            <a:spAutoFit/>
          </a:bodyPr>
          <a:lstStyle/>
          <a:p>
            <a:pPr algn="just">
              <a:lnSpc>
                <a:spcPts val="1195"/>
              </a:lnSpc>
            </a:pPr>
            <a:r>
              <a:rPr lang="ko-KR" altLang="en-US" sz="900" b="0" i="0" dirty="0">
                <a:solidFill>
                  <a:srgbClr val="333333"/>
                </a:solidFill>
                <a:latin typeface="맑은 고딕"/>
                <a:ea typeface="맑은 고딕"/>
                <a:cs typeface="Pretendard"/>
                <a:sym typeface="Pretendard"/>
              </a:rPr>
              <a:t>미국 내 각형 LFP를 양산하는 유일한 비중국계 제조사다. SBB 2.0 현지 양산과 AMPC(kWh당 $45) 확대로 EV 적자를 ESS·AMPC가 직접 상쇄한다. ESS 출하량은 '25년 12GWh→'27년 30GWh, AMPC 수령액은 연 8천억원 규모로 확대되며, 탈중국 규제 속 비중국계 현지 공급자에게 독점적 수주 창구가 열린다.</a:t>
            </a:r>
            <a:endParaRPr lang="en-US" sz="996" dirty="0">
              <a:solidFill>
                <a:srgbClr val="000000"/>
              </a:solidFill>
              <a:latin typeface="Pretendard"/>
              <a:ea typeface="Pretendard"/>
              <a:cs typeface="Pretendard"/>
              <a:sym typeface="Pretendard"/>
            </a:endParaRPr>
          </a:p>
        </p:txBody>
      </p:sp>
      <p:sp>
        <p:nvSpPr>
          <p:cNvPr id="49" name="TextBox 49"/>
          <p:cNvSpPr txBox="1"/>
          <p:nvPr/>
        </p:nvSpPr>
        <p:spPr>
          <a:xfrm>
            <a:off x="2672440" y="4809744"/>
            <a:ext cx="3890164" cy="210406"/>
          </a:xfrm>
          <a:prstGeom prst="rect">
            <a:avLst/>
          </a:prstGeom>
        </p:spPr>
        <p:txBody>
          <a:bodyPr wrap="square" lIns="0" tIns="0" rIns="0" bIns="0" anchor="t">
            <a:spAutoFit/>
          </a:bodyPr>
          <a:lstStyle/>
          <a:p>
            <a:pPr>
              <a:lnSpc>
                <a:spcPts val="1672"/>
              </a:lnSpc>
              <a:defRPr/>
            </a:pPr>
            <a:r>
              <a:rPr lang="en-US" sz="1395" b="1" dirty="0" err="1">
                <a:latin typeface="맑은 고딕"/>
                <a:ea typeface="맑은 고딕"/>
                <a:cs typeface="Pretendard Bold"/>
                <a:sym typeface="Pretendard Bold"/>
              </a:rPr>
              <a:t>투자포인트</a:t>
            </a:r>
            <a:r>
              <a:rPr lang="en-US" sz="1395" b="1" dirty="0">
                <a:latin typeface="맑은 고딕"/>
                <a:ea typeface="맑은 고딕"/>
                <a:cs typeface="Pretendard Bold"/>
                <a:sym typeface="Pretendard Bold"/>
              </a:rPr>
              <a:t> 2.</a:t>
            </a:r>
            <a:r>
              <a:rPr lang="ko-KR" altLang="en-US" sz="1395" b="1" dirty="0">
                <a:latin typeface="맑은 고딕"/>
                <a:ea typeface="맑은 고딕"/>
                <a:cs typeface="Pretendard Bold"/>
                <a:sym typeface="Pretendard Bold"/>
              </a:rPr>
              <a:t>  </a:t>
            </a:r>
            <a:r>
              <a:rPr lang="en-US" altLang="ko-KR" sz="1395" b="1" dirty="0" err="1">
                <a:latin typeface="맑은 고딕"/>
                <a:ea typeface="맑은 고딕"/>
                <a:cs typeface="Pretendard Bold"/>
                <a:sym typeface="Pretendard Bold"/>
              </a:rPr>
              <a:t>헝가리</a:t>
            </a:r>
            <a:r>
              <a:rPr lang="ko-KR" altLang="en-US" sz="1395" b="1" dirty="0">
                <a:latin typeface="맑은 고딕"/>
                <a:ea typeface="맑은 고딕"/>
                <a:cs typeface="Pretendard Bold"/>
                <a:sym typeface="Pretendard Bold"/>
              </a:rPr>
              <a:t> </a:t>
            </a:r>
            <a:r>
              <a:rPr lang="en-US" altLang="ko-KR" sz="1395" b="1" dirty="0" err="1">
                <a:solidFill>
                  <a:schemeClr val="accent1"/>
                </a:solidFill>
                <a:latin typeface="맑은 고딕"/>
                <a:ea typeface="맑은 고딕"/>
                <a:cs typeface="Pretendard Bold"/>
                <a:sym typeface="Pretendard Bold"/>
              </a:rPr>
              <a:t>가동률</a:t>
            </a:r>
            <a:r>
              <a:rPr lang="ko-KR" altLang="en-US" sz="1395" b="1" dirty="0">
                <a:latin typeface="맑은 고딕"/>
                <a:ea typeface="맑은 고딕"/>
                <a:cs typeface="Pretendard Bold"/>
                <a:sym typeface="Pretendard Bold"/>
              </a:rPr>
              <a:t> </a:t>
            </a:r>
            <a:r>
              <a:rPr lang="en-US" altLang="ko-KR" sz="1395" b="1" dirty="0" err="1">
                <a:latin typeface="맑은 고딕"/>
                <a:ea typeface="맑은 고딕"/>
                <a:cs typeface="Pretendard Bold"/>
                <a:sym typeface="Pretendard Bold"/>
              </a:rPr>
              <a:t>정상화</a:t>
            </a:r>
            <a:r>
              <a:rPr lang="ko-KR" altLang="en-US" sz="1395" b="1" dirty="0">
                <a:latin typeface="맑은 고딕"/>
                <a:ea typeface="맑은 고딕"/>
                <a:cs typeface="Pretendard Bold"/>
                <a:sym typeface="Pretendard Bold"/>
              </a:rPr>
              <a:t> </a:t>
            </a:r>
            <a:r>
              <a:rPr lang="en-US" altLang="ko-KR" sz="1395" b="1" dirty="0">
                <a:latin typeface="맑은 고딕"/>
                <a:ea typeface="맑은 고딕"/>
                <a:cs typeface="Pretendard Bold"/>
                <a:sym typeface="Pretendard Bold"/>
              </a:rPr>
              <a:t> </a:t>
            </a:r>
          </a:p>
        </p:txBody>
      </p:sp>
      <p:sp>
        <p:nvSpPr>
          <p:cNvPr id="50" name="TextBox 50"/>
          <p:cNvSpPr txBox="1"/>
          <p:nvPr/>
        </p:nvSpPr>
        <p:spPr>
          <a:xfrm>
            <a:off x="2672439" y="5029200"/>
            <a:ext cx="3621699" cy="914400"/>
          </a:xfrm>
          <a:prstGeom prst="rect">
            <a:avLst/>
          </a:prstGeom>
        </p:spPr>
        <p:txBody>
          <a:bodyPr lIns="0" tIns="0" rIns="0" bIns="0" rtlCol="0" anchor="t">
            <a:spAutoFit/>
          </a:bodyPr>
          <a:lstStyle/>
          <a:p>
            <a:pPr algn="just">
              <a:lnSpc>
                <a:spcPts val="1195"/>
              </a:lnSpc>
            </a:pPr>
            <a:r>
              <a:rPr lang="ko-KR" altLang="en-US" sz="900" b="0" i="0" dirty="0">
                <a:solidFill>
                  <a:srgbClr val="333333"/>
                </a:solidFill>
                <a:latin typeface="맑은 고딕"/>
                <a:ea typeface="맑은 고딕"/>
                <a:cs typeface="Pretendard"/>
                <a:sym typeface="Pretendard"/>
              </a:rPr>
              <a:t>연산 40GWh 헝가리 괴드 공장의 가동률이 30%대에서 정상화되며 고정비 레버리지가 작동한다. 가동률 60%서 손익분기를 넘고 80%서 영업이익 +1.9조원에 이른다. 현대차 7년 계약과 BMW 신규 라인의 이중 수주가 유럽 EV 부문 흑자 전환을 뒷받침한다.</a:t>
            </a:r>
            <a:endParaRPr lang="en-US" sz="996" dirty="0">
              <a:solidFill>
                <a:srgbClr val="000000"/>
              </a:solidFill>
              <a:latin typeface="Pretendard"/>
              <a:ea typeface="Pretendard"/>
              <a:cs typeface="Pretendard"/>
              <a:sym typeface="Pretendard"/>
            </a:endParaRPr>
          </a:p>
        </p:txBody>
      </p:sp>
      <p:sp>
        <p:nvSpPr>
          <p:cNvPr id="52" name="TextBox 52"/>
          <p:cNvSpPr txBox="1"/>
          <p:nvPr/>
        </p:nvSpPr>
        <p:spPr>
          <a:xfrm>
            <a:off x="421615" y="2459903"/>
            <a:ext cx="1856756" cy="141469"/>
          </a:xfrm>
          <a:prstGeom prst="rect">
            <a:avLst/>
          </a:prstGeom>
        </p:spPr>
        <p:txBody>
          <a:bodyPr lIns="0" tIns="0" rIns="0" bIns="0" anchor="t">
            <a:spAutoFit/>
          </a:bodyPr>
          <a:lstStyle/>
          <a:p>
            <a:pPr algn="ctr">
              <a:lnSpc>
                <a:spcPts val="1195"/>
              </a:lnSpc>
              <a:defRPr/>
            </a:pPr>
            <a:r>
              <a:rPr lang="en-US" sz="800">
                <a:solidFill>
                  <a:srgbClr val="FFFFFF"/>
                </a:solidFill>
                <a:latin typeface="맑은 고딕"/>
                <a:ea typeface="맑은 고딕"/>
                <a:cs typeface="Pretendard"/>
                <a:sym typeface="Pretendard"/>
              </a:rPr>
              <a:t>KOREA | </a:t>
            </a:r>
            <a:r>
              <a:rPr lang="en-US" altLang="ko-KR" sz="800">
                <a:solidFill>
                  <a:srgbClr val="FFFFFF"/>
                </a:solidFill>
                <a:latin typeface="맑은 고딕"/>
                <a:ea typeface="맑은 고딕"/>
                <a:cs typeface="Pretendard"/>
                <a:sym typeface="Pretendard"/>
              </a:rPr>
              <a:t>2</a:t>
            </a:r>
            <a:r>
              <a:rPr lang="ko-KR" altLang="en-US" sz="800">
                <a:solidFill>
                  <a:srgbClr val="FFFFFF"/>
                </a:solidFill>
                <a:latin typeface="맑은 고딕"/>
                <a:ea typeface="맑은 고딕"/>
                <a:cs typeface="Pretendard"/>
                <a:sym typeface="Pretendard"/>
              </a:rPr>
              <a:t>차전</a:t>
            </a:r>
            <a:r>
              <a:rPr lang="en-US" sz="800">
                <a:solidFill>
                  <a:srgbClr val="FFFFFF"/>
                </a:solidFill>
                <a:latin typeface="맑은 고딕"/>
                <a:ea typeface="맑은 고딕"/>
                <a:cs typeface="Pretendard"/>
                <a:sym typeface="Pretendard"/>
              </a:rPr>
              <a:t>지·에너지</a:t>
            </a:r>
            <a:r>
              <a:rPr lang="ko-KR" altLang="en-US" sz="800">
                <a:solidFill>
                  <a:srgbClr val="FFFFFF"/>
                </a:solidFill>
                <a:latin typeface="맑은 고딕"/>
                <a:ea typeface="맑은 고딕"/>
                <a:cs typeface="Pretendard"/>
                <a:sym typeface="Pretendard"/>
              </a:rPr>
              <a:t> </a:t>
            </a:r>
            <a:r>
              <a:rPr lang="en-US" sz="800">
                <a:solidFill>
                  <a:srgbClr val="FFFFFF"/>
                </a:solidFill>
                <a:latin typeface="맑은 고딕"/>
                <a:ea typeface="맑은 고딕"/>
                <a:cs typeface="Pretendard"/>
                <a:sym typeface="Pretendard"/>
              </a:rPr>
              <a:t>| 202</a:t>
            </a:r>
            <a:r>
              <a:rPr lang="en-US" altLang="ko-KR" sz="800">
                <a:solidFill>
                  <a:srgbClr val="FFFFFF"/>
                </a:solidFill>
                <a:latin typeface="맑은 고딕"/>
                <a:ea typeface="맑은 고딕"/>
                <a:cs typeface="Pretendard"/>
                <a:sym typeface="Pretendard"/>
              </a:rPr>
              <a:t>6</a:t>
            </a:r>
            <a:r>
              <a:rPr lang="en-US" sz="800">
                <a:solidFill>
                  <a:srgbClr val="FFFFFF"/>
                </a:solidFill>
                <a:latin typeface="맑은 고딕"/>
                <a:ea typeface="맑은 고딕"/>
                <a:cs typeface="Pretendard"/>
                <a:sym typeface="Pretendard"/>
              </a:rPr>
              <a:t>.</a:t>
            </a:r>
            <a:r>
              <a:rPr lang="en-US" altLang="ko-KR" sz="800">
                <a:solidFill>
                  <a:srgbClr val="FFFFFF"/>
                </a:solidFill>
                <a:latin typeface="맑은 고딕"/>
                <a:ea typeface="맑은 고딕"/>
                <a:cs typeface="Pretendard"/>
                <a:sym typeface="Pretendard"/>
              </a:rPr>
              <a:t>03.30</a:t>
            </a:r>
          </a:p>
        </p:txBody>
      </p:sp>
      <p:sp>
        <p:nvSpPr>
          <p:cNvPr id="54" name="TextBox 54"/>
          <p:cNvSpPr txBox="1"/>
          <p:nvPr/>
        </p:nvSpPr>
        <p:spPr>
          <a:xfrm>
            <a:off x="518371" y="6897491"/>
            <a:ext cx="1709905" cy="179478"/>
          </a:xfrm>
          <a:prstGeom prst="rect">
            <a:avLst/>
          </a:prstGeom>
        </p:spPr>
        <p:txBody>
          <a:bodyPr lIns="0" tIns="0" rIns="0" bIns="0" rtlCol="0" anchor="t">
            <a:spAutoFit/>
          </a:bodyPr>
          <a:lstStyle/>
          <a:p>
            <a:pPr>
              <a:lnSpc>
                <a:spcPts val="1435"/>
              </a:lnSpc>
            </a:pPr>
            <a:r>
              <a:rPr lang="en-US" sz="1195" b="1">
                <a:solidFill>
                  <a:srgbClr val="005EB8"/>
                </a:solidFill>
                <a:latin typeface="맑은 고딕"/>
                <a:ea typeface="맑은 고딕"/>
                <a:cs typeface="Pretendard Bold"/>
                <a:sym typeface="Pretendard Bold"/>
              </a:rPr>
              <a:t>Balance sheet data</a:t>
            </a:r>
          </a:p>
        </p:txBody>
      </p:sp>
      <p:sp>
        <p:nvSpPr>
          <p:cNvPr id="55" name="TextBox 55"/>
          <p:cNvSpPr txBox="1"/>
          <p:nvPr/>
        </p:nvSpPr>
        <p:spPr>
          <a:xfrm>
            <a:off x="531457" y="7178809"/>
            <a:ext cx="664727" cy="319537"/>
          </a:xfrm>
          <a:prstGeom prst="rect">
            <a:avLst/>
          </a:prstGeom>
        </p:spPr>
        <p:txBody>
          <a:bodyPr lIns="0" tIns="0" rIns="0" bIns="0" rtlCol="0" anchor="t">
            <a:spAutoFit/>
          </a:bodyPr>
          <a:lstStyle/>
          <a:p>
            <a:pPr>
              <a:lnSpc>
                <a:spcPts val="1195"/>
              </a:lnSpc>
            </a:pPr>
            <a:endParaRPr sz="6031"/>
          </a:p>
        </p:txBody>
      </p:sp>
      <p:sp>
        <p:nvSpPr>
          <p:cNvPr id="57" name="TextBox 57"/>
          <p:cNvSpPr txBox="1"/>
          <p:nvPr/>
        </p:nvSpPr>
        <p:spPr>
          <a:xfrm>
            <a:off x="531457" y="7197334"/>
            <a:ext cx="664727" cy="149095"/>
          </a:xfrm>
          <a:prstGeom prst="rect">
            <a:avLst/>
          </a:prstGeom>
        </p:spPr>
        <p:txBody>
          <a:bodyPr lIns="0" tIns="0" rIns="0" bIns="0" rtlCol="0" anchor="t">
            <a:spAutoFit/>
          </a:bodyPr>
          <a:lstStyle/>
          <a:p>
            <a:pPr>
              <a:lnSpc>
                <a:spcPts val="1195"/>
              </a:lnSpc>
            </a:pPr>
            <a:r>
              <a:rPr lang="en-US" sz="996" dirty="0">
                <a:solidFill>
                  <a:srgbClr val="000000"/>
                </a:solidFill>
                <a:latin typeface="맑은 고딕"/>
                <a:ea typeface="맑은 고딕"/>
                <a:cs typeface="Pretendard"/>
                <a:sym typeface="Pretendard"/>
              </a:rPr>
              <a:t>PBR</a:t>
            </a:r>
          </a:p>
        </p:txBody>
      </p:sp>
      <p:sp>
        <p:nvSpPr>
          <p:cNvPr id="59" name="TextBox 59"/>
          <p:cNvSpPr txBox="1"/>
          <p:nvPr/>
        </p:nvSpPr>
        <p:spPr>
          <a:xfrm>
            <a:off x="1552608" y="7186804"/>
            <a:ext cx="664727" cy="149095"/>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1.51</a:t>
            </a:r>
            <a:r>
              <a:rPr lang="en-US" sz="996">
                <a:solidFill>
                  <a:srgbClr val="000000"/>
                </a:solidFill>
                <a:latin typeface="맑은 고딕"/>
                <a:ea typeface="맑은 고딕"/>
                <a:cs typeface="Pretendard"/>
                <a:sym typeface="Pretendard"/>
              </a:rPr>
              <a:t>x</a:t>
            </a:r>
            <a:endParaRPr lang="en-US" sz="996">
              <a:solidFill>
                <a:srgbClr val="000000"/>
              </a:solidFill>
              <a:latin typeface="맑은 고딕"/>
              <a:ea typeface="맑은 고딕"/>
              <a:cs typeface="Pretendard"/>
              <a:sym typeface="Pretendard"/>
            </a:endParaRPr>
          </a:p>
        </p:txBody>
      </p:sp>
      <p:sp>
        <p:nvSpPr>
          <p:cNvPr id="60" name="TextBox 60"/>
          <p:cNvSpPr txBox="1"/>
          <p:nvPr/>
        </p:nvSpPr>
        <p:spPr>
          <a:xfrm>
            <a:off x="531457" y="7430657"/>
            <a:ext cx="847081" cy="149095"/>
          </a:xfrm>
          <a:prstGeom prst="rect">
            <a:avLst/>
          </a:prstGeom>
        </p:spPr>
        <p:txBody>
          <a:bodyPr lIns="0" tIns="0" rIns="0" bIns="0" rtlCol="0" anchor="t">
            <a:spAutoFit/>
          </a:bodyPr>
          <a:lstStyle/>
          <a:p>
            <a:pPr>
              <a:lnSpc>
                <a:spcPts val="1195"/>
              </a:lnSpc>
            </a:pPr>
            <a:r>
              <a:rPr lang="en-US" sz="996" dirty="0">
                <a:solidFill>
                  <a:srgbClr val="000000"/>
                </a:solidFill>
                <a:latin typeface="맑은 고딕"/>
                <a:ea typeface="맑은 고딕"/>
                <a:cs typeface="Pretendard"/>
                <a:sym typeface="Pretendard"/>
              </a:rPr>
              <a:t>ROE</a:t>
            </a:r>
          </a:p>
        </p:txBody>
      </p:sp>
      <p:sp>
        <p:nvSpPr>
          <p:cNvPr id="61" name="TextBox 61"/>
          <p:cNvSpPr txBox="1"/>
          <p:nvPr/>
        </p:nvSpPr>
        <p:spPr>
          <a:xfrm>
            <a:off x="1552608" y="7434984"/>
            <a:ext cx="664727" cy="149095"/>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3.9</a:t>
            </a:r>
            <a:r>
              <a:rPr lang="en-US" sz="996">
                <a:solidFill>
                  <a:srgbClr val="000000"/>
                </a:solidFill>
                <a:latin typeface="맑은 고딕"/>
                <a:ea typeface="맑은 고딕"/>
                <a:cs typeface="Pretendard"/>
                <a:sym typeface="Pretendard"/>
              </a:rPr>
              <a:t>%</a:t>
            </a:r>
          </a:p>
        </p:txBody>
      </p:sp>
      <p:sp>
        <p:nvSpPr>
          <p:cNvPr id="62" name="TextBox 62"/>
          <p:cNvSpPr txBox="1"/>
          <p:nvPr/>
        </p:nvSpPr>
        <p:spPr>
          <a:xfrm>
            <a:off x="511954" y="8153478"/>
            <a:ext cx="664727" cy="147879"/>
          </a:xfrm>
          <a:prstGeom prst="rect">
            <a:avLst/>
          </a:prstGeom>
        </p:spPr>
        <p:txBody>
          <a:bodyPr lIns="0" tIns="0" rIns="0" bIns="0" anchor="t">
            <a:spAutoFit/>
          </a:bodyPr>
          <a:lstStyle/>
          <a:p>
            <a:pPr>
              <a:lnSpc>
                <a:spcPts val="1195"/>
              </a:lnSpc>
              <a:defRPr/>
            </a:pPr>
            <a:r>
              <a:rPr lang="ko-KR" altLang="en-US" sz="996">
                <a:solidFill>
                  <a:srgbClr val="000000"/>
                </a:solidFill>
                <a:latin typeface="맑은 고딕"/>
                <a:ea typeface="맑은 고딕"/>
                <a:cs typeface="Pretendard"/>
                <a:sym typeface="Pretendard"/>
              </a:rPr>
              <a:t>삼성전자</a:t>
            </a:r>
          </a:p>
        </p:txBody>
      </p:sp>
      <p:sp>
        <p:nvSpPr>
          <p:cNvPr id="63" name="TextBox 63"/>
          <p:cNvSpPr txBox="1"/>
          <p:nvPr/>
        </p:nvSpPr>
        <p:spPr>
          <a:xfrm>
            <a:off x="1533107" y="8142950"/>
            <a:ext cx="664727" cy="149095"/>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19.4</a:t>
            </a:r>
            <a:r>
              <a:rPr lang="en-US" sz="996">
                <a:solidFill>
                  <a:srgbClr val="000000"/>
                </a:solidFill>
                <a:latin typeface="맑은 고딕"/>
                <a:ea typeface="맑은 고딕"/>
                <a:cs typeface="Pretendard"/>
                <a:sym typeface="Pretendard"/>
              </a:rPr>
              <a:t>%</a:t>
            </a:r>
          </a:p>
        </p:txBody>
      </p:sp>
      <p:sp>
        <p:nvSpPr>
          <p:cNvPr id="64" name="TextBox 64"/>
          <p:cNvSpPr txBox="1"/>
          <p:nvPr/>
        </p:nvSpPr>
        <p:spPr>
          <a:xfrm>
            <a:off x="511954" y="8378543"/>
            <a:ext cx="847081" cy="147879"/>
          </a:xfrm>
          <a:prstGeom prst="rect">
            <a:avLst/>
          </a:prstGeom>
        </p:spPr>
        <p:txBody>
          <a:bodyPr lIns="0" tIns="0" rIns="0" bIns="0" rtlCol="0" anchor="t">
            <a:spAutoFit/>
          </a:bodyPr>
          <a:lstStyle/>
          <a:p>
            <a:pPr>
              <a:lnSpc>
                <a:spcPts val="1195"/>
              </a:lnSpc>
            </a:pPr>
            <a:r>
              <a:rPr lang="ko-KR" altLang="en-US" sz="996" dirty="0">
                <a:solidFill>
                  <a:srgbClr val="000000"/>
                </a:solidFill>
                <a:latin typeface="맑은 고딕"/>
                <a:ea typeface="맑은 고딕"/>
                <a:cs typeface="Pretendard"/>
                <a:sym typeface="Pretendard"/>
              </a:rPr>
              <a:t>국민연금공단</a:t>
            </a:r>
            <a:endParaRPr lang="en-US" sz="996" dirty="0">
              <a:solidFill>
                <a:srgbClr val="000000"/>
              </a:solidFill>
              <a:latin typeface="Pretendard"/>
              <a:ea typeface="Pretendard"/>
              <a:cs typeface="Pretendard"/>
              <a:sym typeface="Pretendard"/>
            </a:endParaRPr>
          </a:p>
        </p:txBody>
      </p:sp>
      <p:sp>
        <p:nvSpPr>
          <p:cNvPr id="65" name="TextBox 65"/>
          <p:cNvSpPr txBox="1"/>
          <p:nvPr/>
        </p:nvSpPr>
        <p:spPr>
          <a:xfrm>
            <a:off x="1533107" y="8382871"/>
            <a:ext cx="664727" cy="149095"/>
          </a:xfrm>
          <a:prstGeom prst="rect">
            <a:avLst/>
          </a:prstGeom>
        </p:spPr>
        <p:txBody>
          <a:bodyPr lIns="0" tIns="0" rIns="0" bIns="0" anchor="t">
            <a:spAutoFit/>
          </a:bodyPr>
          <a:lstStyle/>
          <a:p>
            <a:pPr algn="r">
              <a:lnSpc>
                <a:spcPts val="1195"/>
              </a:lnSpc>
              <a:defRPr/>
            </a:pPr>
            <a:r>
              <a:rPr lang="en-US" altLang="ko-KR" sz="996">
                <a:solidFill>
                  <a:srgbClr val="000000"/>
                </a:solidFill>
                <a:latin typeface="맑은 고딕"/>
                <a:ea typeface="맑은 고딕"/>
                <a:cs typeface="Pretendard"/>
                <a:sym typeface="Pretendard"/>
              </a:rPr>
              <a:t>6.9</a:t>
            </a:r>
            <a:r>
              <a:rPr lang="en-US" sz="996">
                <a:solidFill>
                  <a:srgbClr val="000000"/>
                </a:solidFill>
                <a:latin typeface="맑은 고딕"/>
                <a:ea typeface="맑은 고딕"/>
                <a:cs typeface="Pretendard"/>
                <a:sym typeface="Pretendard"/>
              </a:rPr>
              <a:t>%</a:t>
            </a:r>
          </a:p>
        </p:txBody>
      </p:sp>
      <p:sp>
        <p:nvSpPr>
          <p:cNvPr id="66" name="TextBox 66"/>
          <p:cNvSpPr txBox="1"/>
          <p:nvPr/>
        </p:nvSpPr>
        <p:spPr>
          <a:xfrm>
            <a:off x="495352" y="9232001"/>
            <a:ext cx="1767498" cy="147118"/>
          </a:xfrm>
          <a:prstGeom prst="rect">
            <a:avLst/>
          </a:prstGeom>
        </p:spPr>
        <p:txBody>
          <a:bodyPr lIns="0" tIns="0" rIns="0" bIns="0" anchor="t">
            <a:spAutoFit/>
          </a:bodyPr>
          <a:lstStyle/>
          <a:p>
            <a:pPr>
              <a:lnSpc>
                <a:spcPts val="1195"/>
              </a:lnSpc>
              <a:defRPr/>
            </a:pPr>
            <a:r>
              <a:rPr lang="en-US" sz="996">
                <a:solidFill>
                  <a:srgbClr val="FFFFFF"/>
                </a:solidFill>
                <a:latin typeface="맑은 고딕"/>
                <a:ea typeface="맑은 고딕"/>
                <a:cs typeface="Pretendard"/>
                <a:sym typeface="Pretendard"/>
              </a:rPr>
              <a:t>팀장 | </a:t>
            </a:r>
            <a:r>
              <a:rPr lang="ko-KR" altLang="en-US" sz="996">
                <a:solidFill>
                  <a:srgbClr val="FFFFFF"/>
                </a:solidFill>
                <a:latin typeface="맑은 고딕"/>
                <a:ea typeface="맑은 고딕"/>
                <a:cs typeface="Pretendard"/>
                <a:sym typeface="Pretendard"/>
              </a:rPr>
              <a:t>오규은</a:t>
            </a:r>
          </a:p>
        </p:txBody>
      </p:sp>
      <p:sp>
        <p:nvSpPr>
          <p:cNvPr id="67" name="TextBox 67"/>
          <p:cNvSpPr txBox="1"/>
          <p:nvPr/>
        </p:nvSpPr>
        <p:spPr>
          <a:xfrm>
            <a:off x="499226" y="9491689"/>
            <a:ext cx="1763626" cy="301717"/>
          </a:xfrm>
          <a:prstGeom prst="rect">
            <a:avLst/>
          </a:prstGeom>
        </p:spPr>
        <p:txBody>
          <a:bodyPr lIns="0" tIns="0" rIns="0" bIns="0" anchor="t">
            <a:spAutoFit/>
          </a:bodyPr>
          <a:lstStyle/>
          <a:p>
            <a:pPr>
              <a:lnSpc>
                <a:spcPts val="1195"/>
              </a:lnSpc>
              <a:defRPr/>
            </a:pPr>
            <a:r>
              <a:rPr lang="en-US" sz="996" dirty="0" err="1">
                <a:solidFill>
                  <a:srgbClr val="FFFFFF"/>
                </a:solidFill>
                <a:latin typeface="맑은 고딕"/>
                <a:ea typeface="맑은 고딕"/>
                <a:cs typeface="Pretendard"/>
                <a:sym typeface="Pretendard"/>
              </a:rPr>
              <a:t>팀원</a:t>
            </a:r>
            <a:r>
              <a:rPr lang="en-US" sz="996" dirty="0">
                <a:solidFill>
                  <a:srgbClr val="FFFFFF"/>
                </a:solidFill>
                <a:latin typeface="맑은 고딕"/>
                <a:ea typeface="맑은 고딕"/>
                <a:cs typeface="Pretendard"/>
                <a:sym typeface="Pretendard"/>
              </a:rPr>
              <a:t> |</a:t>
            </a:r>
            <a:r>
              <a:rPr lang="ko-KR" altLang="en-US" sz="996" dirty="0">
                <a:solidFill>
                  <a:srgbClr val="FFFFFF"/>
                </a:solidFill>
                <a:latin typeface="맑은 고딕"/>
                <a:ea typeface="맑은 고딕"/>
                <a:cs typeface="Pretendard"/>
                <a:sym typeface="Pretendard"/>
              </a:rPr>
              <a:t> 조찬형 권민재 </a:t>
            </a:r>
            <a:r>
              <a:rPr lang="ko-KR" altLang="en-US" sz="996" dirty="0" err="1">
                <a:solidFill>
                  <a:srgbClr val="FFFFFF"/>
                </a:solidFill>
                <a:latin typeface="맑은 고딕"/>
                <a:ea typeface="맑은 고딕"/>
                <a:cs typeface="Pretendard"/>
                <a:sym typeface="Pretendard"/>
              </a:rPr>
              <a:t>손채영</a:t>
            </a:r>
            <a:r>
              <a:rPr lang="ko-KR" altLang="en-US" sz="996" dirty="0">
                <a:solidFill>
                  <a:srgbClr val="FFFFFF"/>
                </a:solidFill>
                <a:latin typeface="맑은 고딕"/>
                <a:ea typeface="맑은 고딕"/>
                <a:cs typeface="Pretendard"/>
                <a:sym typeface="Pretendard"/>
              </a:rPr>
              <a:t> </a:t>
            </a:r>
            <a:r>
              <a:rPr lang="ko-KR" altLang="en-US" sz="996" dirty="0" err="1">
                <a:solidFill>
                  <a:srgbClr val="FFFFFF"/>
                </a:solidFill>
                <a:latin typeface="맑은 고딕"/>
                <a:ea typeface="맑은 고딕"/>
                <a:cs typeface="Pretendard"/>
                <a:sym typeface="Pretendard"/>
              </a:rPr>
              <a:t>안예찬</a:t>
            </a:r>
            <a:r>
              <a:rPr lang="ko-KR" altLang="en-US" sz="996" dirty="0">
                <a:solidFill>
                  <a:srgbClr val="FFFFFF"/>
                </a:solidFill>
                <a:latin typeface="맑은 고딕"/>
                <a:ea typeface="맑은 고딕"/>
                <a:cs typeface="Pretendard"/>
                <a:sym typeface="Pretendard"/>
              </a:rPr>
              <a:t> </a:t>
            </a:r>
            <a:r>
              <a:rPr lang="ko-KR" altLang="en-US" sz="996" dirty="0" err="1">
                <a:solidFill>
                  <a:srgbClr val="FFFFFF"/>
                </a:solidFill>
                <a:latin typeface="맑은 고딕"/>
                <a:ea typeface="맑은 고딕"/>
                <a:cs typeface="Pretendard"/>
                <a:sym typeface="Pretendard"/>
              </a:rPr>
              <a:t>최문종</a:t>
            </a:r>
            <a:r>
              <a:rPr lang="ko-KR" altLang="en-US" sz="996" dirty="0">
                <a:solidFill>
                  <a:srgbClr val="FFFFFF"/>
                </a:solidFill>
                <a:latin typeface="맑은 고딕"/>
                <a:ea typeface="맑은 고딕"/>
                <a:cs typeface="Pretendard"/>
                <a:sym typeface="Pretendard"/>
              </a:rPr>
              <a:t> 한재희</a:t>
            </a:r>
          </a:p>
        </p:txBody>
      </p:sp>
      <p:sp>
        <p:nvSpPr>
          <p:cNvPr id="68" name="TextBox 68"/>
          <p:cNvSpPr txBox="1"/>
          <p:nvPr/>
        </p:nvSpPr>
        <p:spPr>
          <a:xfrm>
            <a:off x="2755442" y="2860495"/>
            <a:ext cx="3621699" cy="301717"/>
          </a:xfrm>
          <a:prstGeom prst="rect">
            <a:avLst/>
          </a:prstGeom>
        </p:spPr>
        <p:txBody>
          <a:bodyPr lIns="0" tIns="0" rIns="0" bIns="0" rtlCol="0" anchor="t">
            <a:spAutoFit/>
          </a:bodyPr>
          <a:lstStyle/>
          <a:p>
            <a:pPr>
              <a:lnSpc>
                <a:spcPts val="1195"/>
              </a:lnSpc>
            </a:pPr>
            <a:r>
              <a:rPr lang="en-US" sz="950" b="0" i="0" dirty="0">
                <a:solidFill>
                  <a:srgbClr val="333333"/>
                </a:solidFill>
                <a:latin typeface="맑은 고딕"/>
                <a:ea typeface="맑은 고딕"/>
                <a:cs typeface="Pretendard"/>
                <a:sym typeface="Pretendard"/>
              </a:rPr>
              <a:t>✔️ ESS 확대와 유럽 EV 정상화가 맞물리는 실적 전환기</a:t>
            </a:r>
            <a:endParaRPr lang="en-US" sz="996" dirty="0">
              <a:solidFill>
                <a:srgbClr val="000000"/>
              </a:solidFill>
              <a:latin typeface="Pretendard"/>
              <a:ea typeface="Pretendard"/>
              <a:cs typeface="Pretendard"/>
              <a:sym typeface="Pretendard"/>
            </a:endParaRPr>
          </a:p>
        </p:txBody>
      </p:sp>
      <p:sp>
        <p:nvSpPr>
          <p:cNvPr id="70" name="TextBox 70"/>
          <p:cNvSpPr txBox="1"/>
          <p:nvPr/>
        </p:nvSpPr>
        <p:spPr>
          <a:xfrm>
            <a:off x="2760084" y="3123198"/>
            <a:ext cx="3802520" cy="304702"/>
          </a:xfrm>
          <a:prstGeom prst="rect">
            <a:avLst/>
          </a:prstGeom>
        </p:spPr>
        <p:txBody>
          <a:bodyPr wrap="square" lIns="0" tIns="0" rIns="0" bIns="0" anchor="t">
            <a:spAutoFit/>
          </a:bodyPr>
          <a:lstStyle/>
          <a:p>
            <a:pPr>
              <a:lnSpc>
                <a:spcPts val="1195"/>
              </a:lnSpc>
              <a:defRPr/>
            </a:pPr>
            <a:r>
              <a:rPr lang="en-US" sz="996" dirty="0">
                <a:solidFill>
                  <a:srgbClr val="000000"/>
                </a:solidFill>
                <a:latin typeface="맑은 고딕"/>
                <a:ea typeface="맑은 고딕"/>
                <a:cs typeface="Pretendard"/>
                <a:sym typeface="Pretendard"/>
              </a:rPr>
              <a:t>✔️ </a:t>
            </a:r>
            <a:r>
              <a:rPr lang="en-US" sz="996" dirty="0" err="1">
                <a:solidFill>
                  <a:srgbClr val="000000"/>
                </a:solidFill>
                <a:latin typeface="맑은 고딕"/>
                <a:ea typeface="맑은 고딕"/>
                <a:cs typeface="Pretendard"/>
                <a:sym typeface="Pretendard"/>
              </a:rPr>
              <a:t>적정주가</a:t>
            </a:r>
            <a:r>
              <a:rPr lang="en-US" sz="996" dirty="0">
                <a:solidFill>
                  <a:srgbClr val="000000"/>
                </a:solidFill>
                <a:latin typeface="맑은 고딕"/>
                <a:ea typeface="맑은 고딕"/>
                <a:cs typeface="Pretendard"/>
                <a:sym typeface="Pretendard"/>
              </a:rPr>
              <a:t> 603,850원, </a:t>
            </a:r>
            <a:r>
              <a:rPr lang="en-US" sz="996" dirty="0" err="1">
                <a:solidFill>
                  <a:srgbClr val="000000"/>
                </a:solidFill>
                <a:latin typeface="맑은 고딕"/>
                <a:ea typeface="맑은 고딕"/>
                <a:cs typeface="Pretendard"/>
                <a:sym typeface="Pretendard"/>
              </a:rPr>
              <a:t>투자의견</a:t>
            </a:r>
            <a:r>
              <a:rPr lang="en-US" sz="996" dirty="0">
                <a:solidFill>
                  <a:srgbClr val="000000"/>
                </a:solidFill>
                <a:latin typeface="맑은 고딕"/>
                <a:ea typeface="맑은 고딕"/>
                <a:cs typeface="Pretendard"/>
                <a:sym typeface="Pretendard"/>
              </a:rPr>
              <a:t> BUY (</a:t>
            </a:r>
            <a:r>
              <a:rPr lang="en-US" sz="996" dirty="0" err="1">
                <a:solidFill>
                  <a:srgbClr val="000000"/>
                </a:solidFill>
                <a:latin typeface="맑은 고딕"/>
                <a:ea typeface="맑은 고딕"/>
                <a:cs typeface="Pretendard"/>
                <a:sym typeface="Pretendard"/>
              </a:rPr>
              <a:t>상승여력</a:t>
            </a:r>
            <a:r>
              <a:rPr lang="en-US" sz="996" dirty="0">
                <a:solidFill>
                  <a:srgbClr val="000000"/>
                </a:solidFill>
                <a:latin typeface="맑은 고딕"/>
                <a:ea typeface="맑은 고딕"/>
                <a:cs typeface="Pretendard"/>
                <a:sym typeface="Pretendard"/>
              </a:rPr>
              <a:t> +46.4%)</a:t>
            </a:r>
          </a:p>
        </p:txBody>
      </p:sp>
      <p:sp>
        <p:nvSpPr>
          <p:cNvPr id="71" name="TextBox 49"/>
          <p:cNvSpPr txBox="1"/>
          <p:nvPr/>
        </p:nvSpPr>
        <p:spPr>
          <a:xfrm>
            <a:off x="2672439" y="5980176"/>
            <a:ext cx="3621699" cy="208901"/>
          </a:xfrm>
          <a:prstGeom prst="rect">
            <a:avLst/>
          </a:prstGeom>
        </p:spPr>
        <p:txBody>
          <a:bodyPr lIns="0" tIns="0" rIns="0" bIns="0" anchor="t">
            <a:spAutoFit/>
          </a:bodyPr>
          <a:lstStyle/>
          <a:p>
            <a:pPr>
              <a:lnSpc>
                <a:spcPts val="1672"/>
              </a:lnSpc>
              <a:defRPr/>
            </a:pPr>
            <a:r>
              <a:rPr lang="en-US" sz="1395" b="1" dirty="0" err="1">
                <a:latin typeface="맑은 고딕"/>
                <a:ea typeface="맑은 고딕"/>
                <a:cs typeface="Pretendard Bold"/>
                <a:sym typeface="Pretendard Bold"/>
              </a:rPr>
              <a:t>투자포인트</a:t>
            </a:r>
            <a:r>
              <a:rPr lang="en-US" sz="1395" b="1" dirty="0">
                <a:latin typeface="맑은 고딕"/>
                <a:ea typeface="맑은 고딕"/>
                <a:cs typeface="Pretendard Bold"/>
                <a:sym typeface="Pretendard Bold"/>
              </a:rPr>
              <a:t> </a:t>
            </a:r>
            <a:r>
              <a:rPr lang="en-US" altLang="ko-KR" sz="1395" b="1" dirty="0">
                <a:latin typeface="맑은 고딕"/>
                <a:ea typeface="맑은 고딕"/>
                <a:cs typeface="Pretendard Bold"/>
                <a:sym typeface="Pretendard Bold"/>
              </a:rPr>
              <a:t>3</a:t>
            </a:r>
            <a:r>
              <a:rPr lang="en-US" sz="1395" b="1" dirty="0">
                <a:latin typeface="맑은 고딕"/>
                <a:ea typeface="맑은 고딕"/>
                <a:cs typeface="Pretendard Bold"/>
                <a:sym typeface="Pretendard Bold"/>
              </a:rPr>
              <a:t>.</a:t>
            </a:r>
            <a:r>
              <a:rPr lang="ko-KR" altLang="en-US" sz="1395" b="1" dirty="0">
                <a:latin typeface="맑은 고딕"/>
                <a:ea typeface="맑은 고딕"/>
                <a:cs typeface="Pretendard Bold"/>
                <a:sym typeface="Pretendard Bold"/>
              </a:rPr>
              <a:t>  </a:t>
            </a:r>
            <a:r>
              <a:rPr lang="en-US" altLang="ko-KR" sz="1395" b="1" dirty="0">
                <a:solidFill>
                  <a:schemeClr val="accent1"/>
                </a:solidFill>
                <a:latin typeface="맑은 고딕"/>
                <a:ea typeface="맑은 고딕"/>
                <a:cs typeface="Pretendard Bold"/>
                <a:sym typeface="Pretendard Bold"/>
              </a:rPr>
              <a:t>46파이</a:t>
            </a:r>
            <a:r>
              <a:rPr lang="en-US" altLang="ko-KR" sz="1395" b="1" dirty="0">
                <a:latin typeface="맑은 고딕"/>
                <a:ea typeface="맑은 고딕"/>
                <a:cs typeface="Pretendard Bold"/>
                <a:sym typeface="Pretendard Bold"/>
              </a:rPr>
              <a:t>·신규 </a:t>
            </a:r>
            <a:r>
              <a:rPr lang="en-US" altLang="ko-KR" sz="1395" b="1" dirty="0" err="1">
                <a:latin typeface="맑은 고딕"/>
                <a:ea typeface="맑은 고딕"/>
                <a:cs typeface="Pretendard Bold"/>
                <a:sym typeface="Pretendard Bold"/>
              </a:rPr>
              <a:t>플랫폼</a:t>
            </a:r>
            <a:endParaRPr lang="en-US" altLang="ko-KR" sz="1395" b="1" dirty="0">
              <a:latin typeface="맑은 고딕"/>
              <a:ea typeface="맑은 고딕"/>
              <a:cs typeface="Pretendard Bold"/>
              <a:sym typeface="Pretendard Bold"/>
            </a:endParaRPr>
          </a:p>
        </p:txBody>
      </p:sp>
      <p:sp>
        <p:nvSpPr>
          <p:cNvPr id="72" name="TextBox 50">
            <a:extLst>
              <a:ext uri="{FF2B5EF4-FFF2-40B4-BE49-F238E27FC236}">
                <a16:creationId xmlns:a16="http://schemas.microsoft.com/office/drawing/2014/main" id="{7D3C443C-69A0-787E-458D-FF4F12AE6F47}"/>
              </a:ext>
            </a:extLst>
          </p:cNvPr>
          <p:cNvSpPr txBox="1"/>
          <p:nvPr/>
        </p:nvSpPr>
        <p:spPr>
          <a:xfrm>
            <a:off x="2672439" y="6199632"/>
            <a:ext cx="3621699" cy="914400"/>
          </a:xfrm>
          <a:prstGeom prst="rect">
            <a:avLst/>
          </a:prstGeom>
        </p:spPr>
        <p:txBody>
          <a:bodyPr lIns="0" tIns="0" rIns="0" bIns="0" rtlCol="0" anchor="t">
            <a:spAutoFit/>
          </a:bodyPr>
          <a:lstStyle/>
          <a:p>
            <a:pPr algn="just">
              <a:lnSpc>
                <a:spcPts val="1195"/>
              </a:lnSpc>
            </a:pPr>
            <a:r>
              <a:rPr lang="ko-KR" altLang="en-US" sz="900" b="0" i="0" dirty="0">
                <a:solidFill>
                  <a:srgbClr val="333333"/>
                </a:solidFill>
                <a:latin typeface="맑은 고딕"/>
                <a:ea typeface="맑은 고딕"/>
                <a:cs typeface="Pretendard"/>
                <a:sym typeface="Pretendard"/>
              </a:rPr>
              <a:t>국내 최선두로 46파이(4695) 양산을 개시해 선행 우위를 확보했다. 46파이 시장은 '30년 650GWh(CAGR 33%)로 성장하며, BMW 노이에 클라세·GM 북미 채택과 원통형 CAPA 확대로 천안 마더라인 양산이 '27년 이익 퀀텀점프로 이어진다.</a:t>
            </a:r>
          </a:p>
        </p:txBody>
      </p:sp>
      <p:graphicFrame>
        <p:nvGraphicFramePr>
          <p:cNvPr id="74" name="표 73"/>
          <p:cNvGraphicFramePr>
            <a:graphicFrameLocks noGrp="1"/>
          </p:cNvGraphicFramePr>
          <p:nvPr/>
        </p:nvGraphicFramePr>
        <p:xfrm>
          <a:off x="2665818" y="7223760"/>
          <a:ext cx="3581678" cy="2105896"/>
        </p:xfrm>
        <a:graphic>
          <a:graphicData uri="http://schemas.openxmlformats.org/drawingml/2006/table">
            <a:tbl>
              <a:tblPr firstRow="1" bandRow="1"/>
              <a:tblGrid>
                <a:gridCol w="757017"/>
                <a:gridCol w="566434"/>
                <a:gridCol w="582365"/>
                <a:gridCol w="533229"/>
                <a:gridCol w="533228"/>
                <a:gridCol w="609405"/>
              </a:tblGrid>
              <a:tr h="189972">
                <a:tc>
                  <a:txBody>
                    <a:bodyPr vert="horz" lIns="9522" tIns="9522" rIns="9522" bIns="0" anchor="ctr" anchorCtr="0"/>
                    <a:lstStyle/>
                    <a:p>
                      <a:pPr algn="ctr">
                        <a:buNone/>
                        <a:defRPr/>
                      </a:pPr>
                      <a:r>
                        <a:rPr lang="ko-KR" altLang="en-US" sz="800" b="1" i="0" u="none" strike="noStrike">
                          <a:solidFill>
                            <a:schemeClr val="bg1"/>
                          </a:solidFill>
                          <a:effectLst/>
                          <a:latin typeface="맑은 고딕"/>
                          <a:ea typeface="맑은 고딕"/>
                          <a:cs typeface="Pretendard"/>
                        </a:rPr>
                        <a:t>항목</a:t>
                      </a:r>
                      <a:endParaRPr lang="ko-KR" altLang="en-US" sz="800" b="1" i="0" u="none" strike="noStrike">
                        <a:solidFill>
                          <a:schemeClr val="bg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rgbClr val="005eb8"/>
                    </a:solidFill>
                  </a:tcPr>
                </a:tc>
                <a:tc>
                  <a:txBody>
                    <a:bodyPr vert="horz" lIns="9522" tIns="9522" rIns="9522" bIns="0" anchor="ctr" anchorCtr="0"/>
                    <a:lstStyle/>
                    <a:p>
                      <a:pPr algn="ctr">
                        <a:buNone/>
                        <a:defRPr/>
                      </a:pPr>
                      <a:r>
                        <a:rPr lang="en" sz="800" b="1" i="0" u="none" strike="noStrike">
                          <a:solidFill>
                            <a:schemeClr val="bg1"/>
                          </a:solidFill>
                          <a:effectLst/>
                          <a:latin typeface="맑은 고딕"/>
                          <a:ea typeface="맑은 고딕"/>
                          <a:cs typeface="Pretendard"/>
                        </a:rPr>
                        <a:t>2023A</a:t>
                      </a:r>
                      <a:endParaRPr lang="en" sz="800" b="1" i="0" u="none" strike="noStrike">
                        <a:solidFill>
                          <a:schemeClr val="bg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rgbClr val="005eb8"/>
                    </a:solidFill>
                  </a:tcPr>
                </a:tc>
                <a:tc>
                  <a:txBody>
                    <a:bodyPr vert="horz" lIns="9522" tIns="9522" rIns="9522" bIns="0" anchor="ctr" anchorCtr="0"/>
                    <a:lstStyle/>
                    <a:p>
                      <a:pPr algn="ctr">
                        <a:buNone/>
                        <a:defRPr/>
                      </a:pPr>
                      <a:r>
                        <a:rPr lang="en" sz="800" b="1" i="0" u="none" strike="noStrike">
                          <a:solidFill>
                            <a:schemeClr val="bg1"/>
                          </a:solidFill>
                          <a:effectLst/>
                          <a:latin typeface="맑은 고딕"/>
                          <a:ea typeface="맑은 고딕"/>
                          <a:cs typeface="Pretendard"/>
                        </a:rPr>
                        <a:t>2024A</a:t>
                      </a:r>
                      <a:endParaRPr lang="en" sz="800" b="1" i="0" u="none" strike="noStrike">
                        <a:solidFill>
                          <a:schemeClr val="bg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rgbClr val="005eb8"/>
                    </a:solidFill>
                  </a:tcPr>
                </a:tc>
                <a:tc>
                  <a:txBody>
                    <a:bodyPr vert="horz" lIns="9522" tIns="9522" rIns="9522" bIns="0" anchor="ctr" anchorCtr="0"/>
                    <a:lstStyle/>
                    <a:p>
                      <a:pPr algn="ctr">
                        <a:buNone/>
                        <a:defRPr/>
                      </a:pPr>
                      <a:r>
                        <a:rPr lang="en" sz="800" b="1" i="0" u="none" strike="noStrike">
                          <a:solidFill>
                            <a:schemeClr val="bg1"/>
                          </a:solidFill>
                          <a:effectLst/>
                          <a:latin typeface="맑은 고딕"/>
                          <a:ea typeface="맑은 고딕"/>
                          <a:cs typeface="Pretendard"/>
                        </a:rPr>
                        <a:t>2025</a:t>
                      </a:r>
                      <a:r>
                        <a:rPr lang="en-US" altLang="ko-KR" sz="800" b="1" i="0" u="none" strike="noStrike">
                          <a:solidFill>
                            <a:schemeClr val="bg1"/>
                          </a:solidFill>
                          <a:effectLst/>
                          <a:latin typeface="맑은 고딕"/>
                          <a:ea typeface="맑은 고딕"/>
                          <a:cs typeface="Pretendard"/>
                        </a:rPr>
                        <a:t>A</a:t>
                      </a:r>
                      <a:endParaRPr lang="en-US" altLang="ko-KR" sz="800" b="1" i="0" u="none" strike="noStrike">
                        <a:solidFill>
                          <a:schemeClr val="bg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rgbClr val="005eb8"/>
                    </a:solidFill>
                  </a:tcPr>
                </a:tc>
                <a:tc>
                  <a:txBody>
                    <a:bodyPr vert="horz" lIns="9522" tIns="9522" rIns="9522" bIns="0" anchor="ctr" anchorCtr="0"/>
                    <a:lstStyle/>
                    <a:p>
                      <a:pPr algn="ctr">
                        <a:buNone/>
                        <a:defRPr/>
                      </a:pPr>
                      <a:r>
                        <a:rPr lang="en" sz="800" b="1" i="0" u="none" strike="noStrike">
                          <a:solidFill>
                            <a:schemeClr val="bg1"/>
                          </a:solidFill>
                          <a:effectLst/>
                          <a:latin typeface="맑은 고딕"/>
                          <a:ea typeface="맑은 고딕"/>
                          <a:cs typeface="Pretendard"/>
                        </a:rPr>
                        <a:t>2026F</a:t>
                      </a:r>
                      <a:endParaRPr lang="en" sz="800" b="1" i="0" u="none" strike="noStrike">
                        <a:solidFill>
                          <a:schemeClr val="bg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rgbClr val="005eb8"/>
                    </a:solidFill>
                  </a:tcPr>
                </a:tc>
                <a:tc>
                  <a:txBody>
                    <a:bodyPr vert="horz" lIns="9522" tIns="9522" rIns="9522" bIns="0" anchor="ctr" anchorCtr="0"/>
                    <a:lstStyle/>
                    <a:p>
                      <a:pPr algn="ctr">
                        <a:buNone/>
                        <a:defRPr/>
                      </a:pPr>
                      <a:r>
                        <a:rPr lang="en" sz="800" b="1" i="0" u="none" strike="noStrike">
                          <a:solidFill>
                            <a:schemeClr val="bg1"/>
                          </a:solidFill>
                          <a:effectLst/>
                          <a:latin typeface="맑은 고딕"/>
                          <a:ea typeface="맑은 고딕"/>
                          <a:cs typeface="Pretendard"/>
                        </a:rPr>
                        <a:t>2027F</a:t>
                      </a:r>
                      <a:endParaRPr lang="en" sz="800" b="1" i="0" u="none" strike="noStrike">
                        <a:solidFill>
                          <a:schemeClr val="bg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rgbClr val="005eb8"/>
                    </a:solidFill>
                  </a:tcPr>
                </a:tc>
              </a:tr>
              <a:tr h="189972">
                <a:tc>
                  <a:txBody>
                    <a:bodyPr vert="horz" lIns="9522" tIns="9522" rIns="9522" bIns="0" anchor="ctr" anchorCtr="0"/>
                    <a:lstStyle/>
                    <a:p>
                      <a:pPr algn="ctr">
                        <a:buNone/>
                        <a:defRPr/>
                      </a:pPr>
                      <a:r>
                        <a:rPr lang="ko-KR" altLang="en-US" sz="800" b="0" i="0" u="none" strike="noStrike">
                          <a:solidFill>
                            <a:srgbClr val="000000"/>
                          </a:solidFill>
                          <a:effectLst/>
                          <a:latin typeface="맑은 고딕"/>
                          <a:ea typeface="맑은 고딕"/>
                          <a:cs typeface="Pretendard"/>
                        </a:rPr>
                        <a:t>매출액</a:t>
                      </a:r>
                      <a:r>
                        <a:rPr lang="en-US" altLang="ko-KR" sz="800" b="0" i="0" u="none" strike="noStrike">
                          <a:solidFill>
                            <a:srgbClr val="000000"/>
                          </a:solidFill>
                          <a:effectLst/>
                          <a:latin typeface="맑은 고딕"/>
                          <a:ea typeface="맑은 고딕"/>
                          <a:cs typeface="Pretendard"/>
                        </a:rPr>
                        <a:t>(</a:t>
                      </a:r>
                      <a:r>
                        <a:rPr lang="ko-KR" altLang="en-US" sz="800" b="0" i="0" u="none" strike="noStrike">
                          <a:solidFill>
                            <a:srgbClr val="000000"/>
                          </a:solidFill>
                          <a:effectLst/>
                          <a:latin typeface="맑은 고딕"/>
                          <a:ea typeface="맑은 고딕"/>
                          <a:cs typeface="Pretendard"/>
                        </a:rPr>
                        <a:t>조원</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21.44</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16.59</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13.27</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15.52</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18.94</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222938">
                <a:tc>
                  <a:txBody>
                    <a:bodyPr vert="horz" lIns="9522" tIns="9522" rIns="9522" bIns="0" anchor="ctr" anchorCtr="0"/>
                    <a:lstStyle/>
                    <a:p>
                      <a:pPr algn="ctr">
                        <a:buNone/>
                        <a:defRPr/>
                      </a:pPr>
                      <a:r>
                        <a:rPr lang="ko-KR" altLang="en-US" sz="800" b="0" i="0" u="none" strike="noStrike">
                          <a:solidFill>
                            <a:srgbClr val="000000"/>
                          </a:solidFill>
                          <a:effectLst/>
                          <a:latin typeface="맑은 고딕"/>
                          <a:ea typeface="맑은 고딕"/>
                          <a:cs typeface="Pretendard"/>
                        </a:rPr>
                        <a:t>매출성장률</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-22.6</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-20.0</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17.0</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22.0</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222938">
                <a:tc>
                  <a:txBody>
                    <a:bodyPr vert="horz" lIns="9522" tIns="9522" rIns="9522" bIns="0" anchor="ctr" anchorCtr="0"/>
                    <a:lstStyle/>
                    <a:p>
                      <a:pPr algn="ctr">
                        <a:buNone/>
                        <a:defRPr/>
                      </a:pPr>
                      <a:r>
                        <a:rPr lang="ko-KR" altLang="en-US" sz="800" b="0" i="0" u="none" strike="noStrike">
                          <a:solidFill>
                            <a:srgbClr val="000000"/>
                          </a:solidFill>
                          <a:effectLst/>
                          <a:latin typeface="맑은 고딕"/>
                          <a:ea typeface="맑은 고딕"/>
                          <a:cs typeface="Pretendard"/>
                        </a:rPr>
                        <a:t>영업이익</a:t>
                      </a:r>
                      <a:r>
                        <a:rPr lang="en-US" altLang="ko-KR" sz="800" b="0" i="0" u="none" strike="noStrike">
                          <a:solidFill>
                            <a:srgbClr val="000000"/>
                          </a:solidFill>
                          <a:effectLst/>
                          <a:latin typeface="맑은 고딕"/>
                          <a:ea typeface="맑은 고딕"/>
                          <a:cs typeface="Pretendard"/>
                        </a:rPr>
                        <a:t>(</a:t>
                      </a:r>
                      <a:r>
                        <a:rPr lang="ko-KR" altLang="en-US" sz="800" b="0" i="0" u="none" strike="noStrike">
                          <a:solidFill>
                            <a:srgbClr val="000000"/>
                          </a:solidFill>
                          <a:effectLst/>
                          <a:latin typeface="맑은 고딕"/>
                          <a:ea typeface="맑은 고딕"/>
                          <a:cs typeface="Pretendard"/>
                        </a:rPr>
                        <a:t>조원</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1.55</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0.36</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-1.72</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0.23</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1.51</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330216">
                <a:tc>
                  <a:txBody>
                    <a:bodyPr vert="horz" lIns="9522" tIns="9522" rIns="9522" bIns="0" anchor="ctr" anchorCtr="0"/>
                    <a:lstStyle/>
                    <a:p>
                      <a:pPr algn="ctr">
                        <a:buNone/>
                        <a:defRPr/>
                      </a:pPr>
                      <a:r>
                        <a:rPr lang="ko-KR" altLang="en-US" sz="800" b="0" i="0" u="none" strike="noStrike">
                          <a:solidFill>
                            <a:srgbClr val="000000"/>
                          </a:solidFill>
                          <a:effectLst/>
                          <a:latin typeface="맑은 고딕"/>
                          <a:ea typeface="맑은 고딕"/>
                          <a:cs typeface="Pretendard"/>
                        </a:rPr>
                        <a:t>영업이익률</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7.2</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2.2</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-13.0</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1.5</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8.0</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189972">
                <a:tc>
                  <a:txBody>
                    <a:bodyPr vert="horz" lIns="9522" tIns="9522" rIns="9522" bIns="0" anchor="ctr" anchorCtr="0"/>
                    <a:lstStyle/>
                    <a:p>
                      <a:pPr algn="ctr">
                        <a:buNone/>
                        <a:defRPr/>
                      </a:pPr>
                      <a:r>
                        <a:rPr lang="en" sz="800" b="0" i="0" u="none" strike="noStrike">
                          <a:solidFill>
                            <a:srgbClr val="000000"/>
                          </a:solidFill>
                          <a:effectLst/>
                          <a:latin typeface="맑은 고딕"/>
                          <a:ea typeface="맑은 고딕"/>
                          <a:cs typeface="Pretendard"/>
                        </a:rPr>
                        <a:t>EPS</a:t>
                      </a:r>
                      <a:r>
                        <a:rPr lang="en-US" altLang="ko-KR" sz="800" b="0" i="0" u="none" strike="noStrike">
                          <a:solidFill>
                            <a:srgbClr val="000000"/>
                          </a:solidFill>
                          <a:effectLst/>
                          <a:latin typeface="맑은 고딕"/>
                          <a:ea typeface="맑은 고딕"/>
                          <a:cs typeface="Pretendard"/>
                        </a:rPr>
                        <a:t>(</a:t>
                      </a:r>
                      <a:r>
                        <a:rPr lang="ko-KR" altLang="en-US" sz="800" b="0" i="0" u="none" strike="noStrike">
                          <a:solidFill>
                            <a:srgbClr val="000000"/>
                          </a:solidFill>
                          <a:effectLst/>
                          <a:latin typeface="맑은 고딕"/>
                          <a:ea typeface="맑은 고딕"/>
                          <a:cs typeface="Pretendard"/>
                        </a:rPr>
                        <a:t>원</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27,845</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8,305</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-6,617</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13,688</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10,671</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189972">
                <a:tc>
                  <a:txBody>
                    <a:bodyPr vert="horz" lIns="9522" tIns="9522" rIns="9522" bIns="0" anchor="ctr" anchorCtr="0"/>
                    <a:lstStyle/>
                    <a:p>
                      <a:pPr algn="ctr">
                        <a:buNone/>
                        <a:defRPr/>
                      </a:pPr>
                      <a:r>
                        <a:rPr lang="en" sz="800" b="0" i="0" u="none" strike="noStrike">
                          <a:solidFill>
                            <a:srgbClr val="000000"/>
                          </a:solidFill>
                          <a:effectLst/>
                          <a:latin typeface="맑은 고딕"/>
                          <a:ea typeface="맑은 고딕"/>
                          <a:cs typeface="Pretendard"/>
                        </a:rPr>
                        <a:t>PER</a:t>
                      </a:r>
                      <a:r>
                        <a:rPr lang="en-US" altLang="ko-KR" sz="800" b="0" i="0" u="none" strike="noStrike">
                          <a:solidFill>
                            <a:srgbClr val="000000"/>
                          </a:solidFill>
                          <a:effectLst/>
                          <a:latin typeface="맑은 고딕"/>
                          <a:ea typeface="맑은 고딕"/>
                          <a:cs typeface="Pretendard"/>
                        </a:rPr>
                        <a:t>(</a:t>
                      </a:r>
                      <a:r>
                        <a:rPr lang="ko-KR" altLang="en-US" sz="800" b="0" i="0" u="none" strike="noStrike">
                          <a:solidFill>
                            <a:srgbClr val="000000"/>
                          </a:solidFill>
                          <a:effectLst/>
                          <a:latin typeface="맑은 고딕"/>
                          <a:ea typeface="맑은 고딕"/>
                          <a:cs typeface="Pretendard"/>
                        </a:rPr>
                        <a:t>배</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16.6</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29.18</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N/M</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14.7</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1" tIns="9521" rIns="9521" bIns="0" anchor="ctr" anchorCtr="0"/>
                    <a:lstStyle/>
                    <a:p>
                      <a:pPr algn="ctr">
                        <a:buNone/>
                        <a:defRPr/>
                      </a:pPr>
                      <a:r>
                        <a:rPr lang="en-US" altLang="ko-KR" sz="800" i="0" u="none" strike="noStrike">
                          <a:solidFill>
                            <a:schemeClr val="tx1"/>
                          </a:solidFill>
                          <a:latin typeface="맑은 고딕"/>
                          <a:ea typeface="맑은 고딕"/>
                          <a:cs typeface="Pretendard"/>
                        </a:rPr>
                        <a:t>38.7</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189972">
                <a:tc>
                  <a:txBody>
                    <a:bodyPr vert="horz" lIns="9522" tIns="9522" rIns="9522" bIns="0" anchor="ctr" anchorCtr="0"/>
                    <a:lstStyle/>
                    <a:p>
                      <a:pPr algn="ctr">
                        <a:buNone/>
                        <a:defRPr/>
                      </a:pPr>
                      <a:r>
                        <a:rPr lang="en" sz="800" b="0" i="0" u="none" strike="noStrike">
                          <a:solidFill>
                            <a:srgbClr val="000000"/>
                          </a:solidFill>
                          <a:effectLst/>
                          <a:latin typeface="맑은 고딕"/>
                          <a:ea typeface="맑은 고딕"/>
                          <a:cs typeface="Pretendard"/>
                        </a:rPr>
                        <a:t>BPS</a:t>
                      </a:r>
                      <a:r>
                        <a:rPr lang="en-US" altLang="ko-KR" sz="800" b="0" i="0" u="none" strike="noStrike">
                          <a:solidFill>
                            <a:srgbClr val="000000"/>
                          </a:solidFill>
                          <a:effectLst/>
                          <a:latin typeface="맑은 고딕"/>
                          <a:ea typeface="맑은 고딕"/>
                          <a:cs typeface="Pretendard"/>
                        </a:rPr>
                        <a:t>(</a:t>
                      </a:r>
                      <a:r>
                        <a:rPr lang="ko-KR" altLang="en-US" sz="800" b="0" i="0" u="none" strike="noStrike">
                          <a:solidFill>
                            <a:srgbClr val="000000"/>
                          </a:solidFill>
                          <a:effectLst/>
                          <a:latin typeface="맑은 고딕"/>
                          <a:ea typeface="맑은 고딕"/>
                          <a:cs typeface="Pretendard"/>
                        </a:rPr>
                        <a:t>원</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297,087</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229,948</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235,646</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248,420</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latin typeface="맑은 고딕"/>
                          <a:ea typeface="맑은 고딕"/>
                          <a:cs typeface="Pretendard"/>
                        </a:rPr>
                        <a:t>274,476</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189972">
                <a:tc>
                  <a:txBody>
                    <a:bodyPr vert="horz" lIns="9522" tIns="9522" rIns="9522" bIns="0" anchor="ctr" anchorCtr="0"/>
                    <a:lstStyle/>
                    <a:p>
                      <a:pPr algn="ctr">
                        <a:buNone/>
                        <a:defRPr/>
                      </a:pPr>
                      <a:r>
                        <a:rPr lang="en" sz="800" b="0" i="0" u="none" strike="noStrike">
                          <a:solidFill>
                            <a:srgbClr val="000000"/>
                          </a:solidFill>
                          <a:effectLst/>
                          <a:latin typeface="맑은 고딕"/>
                          <a:ea typeface="맑은 고딕"/>
                          <a:cs typeface="Pretendard"/>
                        </a:rPr>
                        <a:t>PBR</a:t>
                      </a:r>
                      <a:r>
                        <a:rPr lang="en-US" altLang="ko-KR" sz="800" b="0" i="0" u="none" strike="noStrike">
                          <a:solidFill>
                            <a:srgbClr val="000000"/>
                          </a:solidFill>
                          <a:effectLst/>
                          <a:latin typeface="맑은 고딕"/>
                          <a:ea typeface="맑은 고딕"/>
                          <a:cs typeface="Pretendard"/>
                        </a:rPr>
                        <a:t>(</a:t>
                      </a:r>
                      <a:r>
                        <a:rPr lang="ko-KR" altLang="en-US" sz="800" b="0" i="0" u="none" strike="noStrike">
                          <a:solidFill>
                            <a:srgbClr val="000000"/>
                          </a:solidFill>
                          <a:effectLst/>
                          <a:latin typeface="맑은 고딕"/>
                          <a:ea typeface="맑은 고딕"/>
                          <a:cs typeface="Pretendard"/>
                        </a:rPr>
                        <a:t>배</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1.77</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0.87</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0.67</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0.8</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1" tIns="9521" rIns="9521" bIns="0" anchor="ctr" anchorCtr="0"/>
                    <a:lstStyle/>
                    <a:p>
                      <a:pPr algn="ctr">
                        <a:buNone/>
                        <a:defRPr/>
                      </a:pPr>
                      <a:r>
                        <a:rPr lang="en-US" altLang="ko-KR" sz="800" i="0" u="none" strike="noStrike">
                          <a:solidFill>
                            <a:schemeClr val="tx1"/>
                          </a:solidFill>
                          <a:effectLst/>
                          <a:latin typeface="맑은 고딕"/>
                          <a:ea typeface="맑은 고딕"/>
                          <a:cs typeface="Pretendard"/>
                        </a:rPr>
                        <a:t>1.51</a:t>
                      </a:r>
                      <a:endParaRPr lang="en-US" altLang="ko-KR" sz="800" i="0" u="none" strike="noStrike">
                        <a:solidFill>
                          <a:schemeClr val="tx1"/>
                        </a:solidFill>
                        <a:latin typeface="맑은 고딕"/>
                        <a:ea typeface="맑은 고딕"/>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r h="189972">
                <a:tc>
                  <a:txBody>
                    <a:bodyPr vert="horz" lIns="9522" tIns="9522" rIns="9522" bIns="0" anchor="ctr" anchorCtr="0"/>
                    <a:lstStyle/>
                    <a:p>
                      <a:pPr algn="ctr">
                        <a:buNone/>
                        <a:defRPr/>
                      </a:pPr>
                      <a:r>
                        <a:rPr lang="en" sz="800" b="0" i="0" u="none" strike="noStrike">
                          <a:solidFill>
                            <a:srgbClr val="000000"/>
                          </a:solidFill>
                          <a:effectLst/>
                          <a:latin typeface="맑은 고딕"/>
                          <a:ea typeface="맑은 고딕"/>
                          <a:cs typeface="Pretendard"/>
                        </a:rPr>
                        <a:t>ROE</a:t>
                      </a:r>
                      <a:r>
                        <a:rPr lang="en-US" altLang="ko-KR" sz="800" b="0" i="0" u="none" strike="noStrike">
                          <a:solidFill>
                            <a:srgbClr val="000000"/>
                          </a:solidFill>
                          <a:effectLst/>
                          <a:latin typeface="맑은 고딕"/>
                          <a:ea typeface="맑은 고딕"/>
                          <a:cs typeface="Pretendard"/>
                        </a:rPr>
                        <a:t>(%)</a:t>
                      </a:r>
                      <a:endParaRPr lang="en-US" altLang="ko-KR" sz="800" b="0" i="0" u="none" strike="noStrike">
                        <a:solidFill>
                          <a:srgbClr val="000000"/>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solidFill>
                      <a:schemeClr val="accent1">
                        <a:lumMod val="20000"/>
                        <a:lumOff val="80000"/>
                      </a:schemeClr>
                    </a:solid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11.58</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3.1</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-2.6</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5.7</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c>
                  <a:txBody>
                    <a:bodyPr vert="horz" lIns="9522" tIns="9522" rIns="9522" bIns="0" anchor="ctr" anchorCtr="0"/>
                    <a:lstStyle/>
                    <a:p>
                      <a:pPr algn="ctr">
                        <a:buNone/>
                        <a:defRPr/>
                      </a:pPr>
                      <a:r>
                        <a:rPr lang="en-US" altLang="ko-KR" sz="800" i="0" u="none" strike="noStrike">
                          <a:solidFill>
                            <a:schemeClr val="tx1"/>
                          </a:solidFill>
                          <a:effectLst/>
                          <a:latin typeface="맑은 고딕"/>
                          <a:ea typeface="맑은 고딕"/>
                          <a:cs typeface="Pretendard"/>
                        </a:rPr>
                        <a:t>3.9</a:t>
                      </a:r>
                      <a:endParaRPr lang="en-US" altLang="ko-KR" sz="800" i="0" u="none" strike="noStrike">
                        <a:solidFill>
                          <a:schemeClr val="tx1"/>
                        </a:solidFill>
                        <a:latin typeface="Pretendard"/>
                        <a:ea typeface="Pretendard"/>
                        <a:cs typeface="Pretendard"/>
                      </a:endParaRPr>
                    </a:p>
                  </a:txBody>
                  <a:tcPr marL="9522" marR="9522" marT="9522" marB="0" anchor="ctr">
                    <a:lnL w="6350" cap="flat" cmpd="sng" algn="ctr">
                      <a:solidFill>
                        <a:schemeClr val="bg1">
                          <a:lumMod val="95000"/>
                        </a:schemeClr>
                      </a:solidFill>
                      <a:prstDash val="solid"/>
                      <a:round/>
                      <a:headEnd w="med" len="med"/>
                      <a:tailEnd w="med" len="med"/>
                    </a:lnL>
                    <a:lnR w="6350" cap="flat" cmpd="sng" algn="ctr">
                      <a:solidFill>
                        <a:schemeClr val="bg1">
                          <a:lumMod val="95000"/>
                        </a:schemeClr>
                      </a:solidFill>
                      <a:prstDash val="solid"/>
                      <a:round/>
                      <a:headEnd w="med" len="med"/>
                      <a:tailEnd w="med" len="med"/>
                    </a:lnR>
                    <a:lnT w="6350" cap="flat" cmpd="sng" algn="ctr">
                      <a:solidFill>
                        <a:schemeClr val="bg1">
                          <a:lumMod val="95000"/>
                        </a:schemeClr>
                      </a:solidFill>
                      <a:prstDash val="solid"/>
                      <a:round/>
                      <a:headEnd w="med" len="med"/>
                      <a:tailEnd w="med" len="med"/>
                    </a:lnT>
                    <a:lnB w="6350" cap="flat" cmpd="sng" algn="ctr">
                      <a:solidFill>
                        <a:schemeClr val="bg1">
                          <a:lumMod val="95000"/>
                        </a:schemeClr>
                      </a:solidFill>
                      <a:prstDash val="solid"/>
                      <a:round/>
                      <a:headEnd w="med" len="med"/>
                      <a:tailEnd w="med" len="med"/>
                    </a:lnB>
                    <a:noFill/>
                  </a:tcPr>
                </a:tc>
              </a:tr>
            </a:tbl>
          </a:graphicData>
        </a:graphic>
      </p:graphicFrame>
      <p:sp>
        <p:nvSpPr>
          <p:cNvPr id="75" name="TextBox 74">
            <a:extLst>
              <a:ext uri="{FF2B5EF4-FFF2-40B4-BE49-F238E27FC236}">
                <a16:creationId xmlns:a16="http://schemas.microsoft.com/office/drawing/2014/main" id="{39AF5F17-D929-7590-54C1-549CE6A76C3E}"/>
              </a:ext>
            </a:extLst>
          </p:cNvPr>
          <p:cNvSpPr txBox="1"/>
          <p:nvPr/>
        </p:nvSpPr>
        <p:spPr>
          <a:xfrm>
            <a:off x="6778099" y="6798013"/>
            <a:ext cx="184672" cy="369086"/>
          </a:xfrm>
          <a:prstGeom prst="rect">
            <a:avLst/>
          </a:prstGeom>
          <a:noFill/>
        </p:spPr>
        <p:txBody>
          <a:bodyPr wrap="none" rtlCol="0">
            <a:spAutoFit/>
          </a:bodyPr>
          <a:lstStyle/>
          <a:p>
            <a:endParaRPr kumimoji="1" lang="ko-KR" altLang="en-US" sz="1799" dirty="0"/>
          </a:p>
        </p:txBody>
      </p:sp>
      <p:pic>
        <p:nvPicPr>
          <p:cNvPr id="76" name="Picture 75" descr="삼성sdi 표지사진.jpg"/>
          <p:cNvPicPr>
            <a:picLocks noChangeAspect="1"/>
          </p:cNvPicPr>
          <p:nvPr/>
        </p:nvPicPr>
        <p:blipFill>
          <a:blip r:embed="rId4"/>
          <a:srcRect t="5000" b="32000"/>
          <a:stretch>
            <a:fillRect/>
          </a:stretch>
        </p:blipFill>
        <p:spPr>
          <a:xfrm>
            <a:off x="-45720" y="-45720"/>
            <a:ext cx="6967728" cy="2304288"/>
          </a:xfrm>
          <a:prstGeom prst="rect">
            <a:avLst/>
          </a:prstGeom>
        </p:spPr>
      </p:pic>
      <p:sp>
        <p:nvSpPr>
          <p:cNvPr id="77" name="Rectangle 76"/>
          <p:cNvSpPr/>
          <p:nvPr/>
        </p:nvSpPr>
        <p:spPr>
          <a:xfrm>
            <a:off x="-45720" y="-45720"/>
            <a:ext cx="6967728" cy="2304288"/>
          </a:xfrm>
          <a:prstGeom prst="rect">
            <a:avLst/>
          </a:prstGeom>
          <a:solidFill>
            <a:srgbClr val="003A75">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3"/>
          <p:cNvSpPr txBox="1"/>
          <p:nvPr/>
        </p:nvSpPr>
        <p:spPr>
          <a:xfrm>
            <a:off x="469530" y="197166"/>
            <a:ext cx="1907377" cy="149095"/>
          </a:xfrm>
          <a:prstGeom prst="rect">
            <a:avLst/>
          </a:prstGeom>
        </p:spPr>
        <p:txBody>
          <a:bodyPr lIns="0" tIns="0" rIns="0" bIns="0" rtlCol="0" anchor="t">
            <a:spAutoFit/>
          </a:bodyPr>
          <a:lstStyle/>
          <a:p>
            <a:pPr algn="just">
              <a:lnSpc>
                <a:spcPts val="1195"/>
              </a:lnSpc>
            </a:pPr>
            <a:r>
              <a:rPr lang="en-US" sz="996" dirty="0">
                <a:solidFill>
                  <a:srgbClr val="FFFFFF">
                    <a:alpha val="60000"/>
                  </a:srgbClr>
                </a:solidFill>
                <a:latin typeface="맑은 고딕"/>
                <a:ea typeface="맑은 고딕"/>
                <a:cs typeface="Pretendard"/>
                <a:sym typeface="Pretendard"/>
              </a:rPr>
              <a:t>ICOK Research | Company</a:t>
            </a:r>
          </a:p>
        </p:txBody>
      </p:sp>
      <p:sp>
        <p:nvSpPr>
          <p:cNvPr id="45" name="TextBox 45"/>
          <p:cNvSpPr txBox="1"/>
          <p:nvPr/>
        </p:nvSpPr>
        <p:spPr>
          <a:xfrm>
            <a:off x="343321" y="1012693"/>
            <a:ext cx="2027123" cy="424339"/>
          </a:xfrm>
          <a:prstGeom prst="rect">
            <a:avLst/>
          </a:prstGeom>
        </p:spPr>
        <p:txBody>
          <a:bodyPr wrap="square" lIns="0" tIns="0" rIns="0" bIns="0" anchor="t">
            <a:spAutoFit/>
          </a:bodyPr>
          <a:lstStyle/>
          <a:p>
            <a:pPr algn="ctr">
              <a:lnSpc>
                <a:spcPts val="3586"/>
              </a:lnSpc>
              <a:defRPr/>
            </a:pPr>
            <a:r>
              <a:rPr lang="ko-KR" altLang="en-US" sz="2399" b="1">
                <a:solidFill>
                  <a:srgbClr val="FFFFFF"/>
                </a:solidFill>
                <a:latin typeface="맑은 고딕"/>
                <a:ea typeface="맑은 고딕"/>
                <a:cs typeface="Pretendard Bold"/>
                <a:sym typeface="Pretendard Bold"/>
              </a:rPr>
              <a:t>삼성</a:t>
            </a:r>
            <a:r>
              <a:rPr lang="en-US" altLang="ko-KR" sz="2399" b="1">
                <a:solidFill>
                  <a:srgbClr val="FFFFFF"/>
                </a:solidFill>
                <a:latin typeface="맑은 고딕"/>
                <a:ea typeface="맑은 고딕"/>
                <a:cs typeface="Pretendard Bold"/>
                <a:sym typeface="Pretendard Bold"/>
              </a:rPr>
              <a:t>SDI</a:t>
            </a:r>
          </a:p>
        </p:txBody>
      </p:sp>
      <p:sp>
        <p:nvSpPr>
          <p:cNvPr id="51" name="TextBox 51"/>
          <p:cNvSpPr txBox="1"/>
          <p:nvPr/>
        </p:nvSpPr>
        <p:spPr>
          <a:xfrm>
            <a:off x="518370" y="1576664"/>
            <a:ext cx="1698964" cy="270593"/>
          </a:xfrm>
          <a:prstGeom prst="rect">
            <a:avLst/>
          </a:prstGeom>
        </p:spPr>
        <p:txBody>
          <a:bodyPr lIns="0" tIns="0" rIns="0" bIns="0" anchor="t">
            <a:spAutoFit/>
          </a:bodyPr>
          <a:lstStyle/>
          <a:p>
            <a:pPr algn="ctr">
              <a:lnSpc>
                <a:spcPts val="2150"/>
              </a:lnSpc>
              <a:defRPr/>
            </a:pPr>
            <a:r>
              <a:rPr lang="en-US" sz="1792" b="1">
                <a:solidFill>
                  <a:srgbClr val="FFFFFF">
                    <a:alpha val="60000"/>
                  </a:srgbClr>
                </a:solidFill>
                <a:latin typeface="맑은 고딕"/>
                <a:ea typeface="맑은 고딕"/>
                <a:cs typeface="Pretendard Bold"/>
                <a:sym typeface="Pretendard Bold"/>
              </a:rPr>
              <a:t>(0</a:t>
            </a:r>
            <a:r>
              <a:rPr lang="en-US" altLang="ko-KR" sz="1792" b="1">
                <a:solidFill>
                  <a:srgbClr val="FFFFFF">
                    <a:alpha val="60000"/>
                  </a:srgbClr>
                </a:solidFill>
                <a:latin typeface="맑은 고딕"/>
                <a:ea typeface="맑은 고딕"/>
                <a:cs typeface="Pretendard Bold"/>
                <a:sym typeface="Pretendard Bold"/>
              </a:rPr>
              <a:t>0640</a:t>
            </a:r>
            <a:r>
              <a:rPr lang="en-US" sz="1792" b="1">
                <a:solidFill>
                  <a:srgbClr val="FFFFFF">
                    <a:alpha val="60000"/>
                  </a:srgbClr>
                </a:solidFill>
                <a:latin typeface="맑은 고딕"/>
                <a:ea typeface="맑은 고딕"/>
                <a:cs typeface="Pretendard Bold"/>
                <a:sym typeface="Pretendard Bold"/>
              </a:rPr>
              <a:t>0)</a:t>
            </a: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46304"/>
            <a:ext cx="6035040" cy="219456"/>
          </a:xfrm>
          <a:prstGeom prst="rect">
            <a:avLst/>
          </a:prstGeom>
          <a:noFill/>
          <a:ln/>
        </p:spPr>
        <p:txBody>
          <a:bodyPr wrap="square" lIns="0" tIns="0" rIns="0" bIns="0" rtlCol="0" anchor="ctr"/>
          <a:lstStyle/>
          <a:p>
            <a:pPr marL="0" indent="0">
              <a:buNone/>
            </a:pPr>
            <a:r>
              <a:rPr lang="en-US" sz="850" dirty="0">
                <a:solidFill>
                  <a:srgbClr val="6A6A6A"/>
                </a:solidFill>
                <a:latin typeface="Malgun Gothic" pitchFamily="34" charset="0"/>
                <a:ea typeface="Malgun Gothic" pitchFamily="34" charset="-122"/>
                <a:cs typeface="Malgun Gothic" pitchFamily="34" charset="-120"/>
              </a:rPr>
              <a:t>Company Research Report  |  삼성SDI (006400)</a:t>
            </a:r>
            <a:endParaRPr lang="en-US" sz="850" dirty="0"/>
          </a:p>
        </p:txBody>
      </p:sp>
      <p:sp>
        <p:nvSpPr>
          <p:cNvPr id="3" name="Shape 1"/>
          <p:cNvSpPr/>
          <p:nvPr/>
        </p:nvSpPr>
        <p:spPr>
          <a:xfrm>
            <a:off x="411480" y="420624"/>
            <a:ext cx="6035040" cy="0"/>
          </a:xfrm>
          <a:prstGeom prst="line">
            <a:avLst/>
          </a:prstGeom>
          <a:noFill/>
          <a:ln w="15875">
            <a:solidFill>
              <a:srgbClr val="005EB8"/>
            </a:solidFill>
            <a:prstDash val="solid"/>
          </a:ln>
        </p:spPr>
        <p:txBody>
          <a:bodyPr/>
          <a:lstStyle/>
          <a:p>
            <a:endParaRPr lang="ko-KR" altLang="en-US"/>
          </a:p>
        </p:txBody>
      </p:sp>
      <p:sp>
        <p:nvSpPr>
          <p:cNvPr id="25" name="TextBox 24"/>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2</a:t>
            </a:r>
          </a:p>
        </p:txBody>
      </p:sp>
      <p:sp>
        <p:nvSpPr>
          <p:cNvPr id="27" name="TextBox 18">
            <a:extLst>
              <a:ext uri="{FF2B5EF4-FFF2-40B4-BE49-F238E27FC236}">
                <a16:creationId xmlns:a16="http://schemas.microsoft.com/office/drawing/2014/main" id="{B02CB971-BF58-BFC2-DC2F-E59DEB1F2623}"/>
              </a:ext>
            </a:extLst>
          </p:cNvPr>
          <p:cNvSpPr txBox="1"/>
          <p:nvPr/>
        </p:nvSpPr>
        <p:spPr>
          <a:xfrm>
            <a:off x="567268" y="1056003"/>
            <a:ext cx="2874478" cy="743793"/>
          </a:xfrm>
          <a:prstGeom prst="rect">
            <a:avLst/>
          </a:prstGeom>
        </p:spPr>
        <p:txBody>
          <a:bodyPr lIns="0" tIns="0" rIns="0" bIns="0" rtlCol="0" anchor="t">
            <a:spAutoFit/>
          </a:bodyPr>
          <a:lstStyle/>
          <a:p>
            <a:pPr algn="ctr">
              <a:lnSpc>
                <a:spcPts val="5838"/>
              </a:lnSpc>
            </a:pPr>
            <a:r>
              <a:rPr lang="en-US" sz="4866" b="1" dirty="0">
                <a:solidFill>
                  <a:srgbClr val="005EB8"/>
                </a:solidFill>
                <a:latin typeface="Pretendard Bold"/>
                <a:ea typeface="Pretendard Bold"/>
                <a:cs typeface="Pretendard Bold"/>
                <a:sym typeface="Pretendard Bold"/>
              </a:rPr>
              <a:t>Contents</a:t>
            </a:r>
          </a:p>
        </p:txBody>
      </p:sp>
      <p:sp>
        <p:nvSpPr>
          <p:cNvPr id="29" name="TextBox 5">
            <a:extLst>
              <a:ext uri="{FF2B5EF4-FFF2-40B4-BE49-F238E27FC236}">
                <a16:creationId xmlns:a16="http://schemas.microsoft.com/office/drawing/2014/main" id="{4D53F5DF-C5B9-D0C5-CC8F-BAB75EF6B9DD}"/>
              </a:ext>
            </a:extLst>
          </p:cNvPr>
          <p:cNvSpPr txBox="1"/>
          <p:nvPr/>
        </p:nvSpPr>
        <p:spPr>
          <a:xfrm>
            <a:off x="1026089" y="5140398"/>
            <a:ext cx="893131" cy="206403"/>
          </a:xfrm>
          <a:prstGeom prst="rect">
            <a:avLst/>
          </a:prstGeom>
        </p:spPr>
        <p:txBody>
          <a:bodyPr lIns="0" tIns="0" rIns="0" bIns="0" rtlCol="0" anchor="t">
            <a:spAutoFit/>
          </a:bodyPr>
          <a:lstStyle/>
          <a:p>
            <a:pPr algn="just">
              <a:lnSpc>
                <a:spcPts val="1793"/>
              </a:lnSpc>
            </a:pPr>
            <a:r>
              <a:rPr lang="en-US" sz="1195" b="1">
                <a:solidFill>
                  <a:srgbClr val="000000"/>
                </a:solidFill>
                <a:latin typeface="+mj-ea"/>
                <a:ea typeface="+mj-ea"/>
                <a:cs typeface="Pretendard"/>
                <a:sym typeface="Pretendard"/>
              </a:rPr>
              <a:t>2. 기업분석</a:t>
            </a:r>
          </a:p>
        </p:txBody>
      </p:sp>
      <p:sp>
        <p:nvSpPr>
          <p:cNvPr id="31" name="AutoShape 6">
            <a:extLst>
              <a:ext uri="{FF2B5EF4-FFF2-40B4-BE49-F238E27FC236}">
                <a16:creationId xmlns:a16="http://schemas.microsoft.com/office/drawing/2014/main" id="{50F127AE-06FD-7EA0-14B0-A117A6208CBE}"/>
              </a:ext>
            </a:extLst>
          </p:cNvPr>
          <p:cNvSpPr/>
          <p:nvPr/>
        </p:nvSpPr>
        <p:spPr>
          <a:xfrm>
            <a:off x="2423999" y="4760556"/>
            <a:ext cx="3399747" cy="0"/>
          </a:xfrm>
          <a:prstGeom prst="line">
            <a:avLst/>
          </a:prstGeom>
          <a:ln w="9525" cap="rnd">
            <a:solidFill>
              <a:srgbClr val="FFFFFF"/>
            </a:solidFill>
            <a:prstDash val="solid"/>
            <a:headEnd type="none" w="sm" len="sm"/>
            <a:tailEnd type="none" w="sm" len="sm"/>
          </a:ln>
        </p:spPr>
        <p:txBody>
          <a:bodyPr/>
          <a:lstStyle/>
          <a:p>
            <a:endParaRPr lang="ko-KR" altLang="en-US" sz="6033" b="1">
              <a:latin typeface="+mj-ea"/>
              <a:ea typeface="+mj-ea"/>
            </a:endParaRPr>
          </a:p>
        </p:txBody>
      </p:sp>
      <p:sp>
        <p:nvSpPr>
          <p:cNvPr id="33" name="AutoShape 7">
            <a:extLst>
              <a:ext uri="{FF2B5EF4-FFF2-40B4-BE49-F238E27FC236}">
                <a16:creationId xmlns:a16="http://schemas.microsoft.com/office/drawing/2014/main" id="{C275261D-CE7B-C02D-A1BD-F6EAAD431443}"/>
              </a:ext>
            </a:extLst>
          </p:cNvPr>
          <p:cNvSpPr/>
          <p:nvPr/>
        </p:nvSpPr>
        <p:spPr>
          <a:xfrm>
            <a:off x="1919220" y="5264820"/>
            <a:ext cx="3902927" cy="0"/>
          </a:xfrm>
          <a:prstGeom prst="line">
            <a:avLst/>
          </a:prstGeom>
          <a:ln w="9525" cap="rnd">
            <a:solidFill>
              <a:srgbClr val="FFFFFF"/>
            </a:solidFill>
            <a:prstDash val="solid"/>
            <a:headEnd type="none" w="sm" len="sm"/>
            <a:tailEnd type="none" w="sm" len="sm"/>
          </a:ln>
        </p:spPr>
        <p:txBody>
          <a:bodyPr/>
          <a:lstStyle/>
          <a:p>
            <a:endParaRPr lang="ko-KR" altLang="en-US" sz="6033" b="1">
              <a:latin typeface="+mj-ea"/>
              <a:ea typeface="+mj-ea"/>
            </a:endParaRPr>
          </a:p>
        </p:txBody>
      </p:sp>
      <p:sp>
        <p:nvSpPr>
          <p:cNvPr id="35" name="AutoShape 8">
            <a:extLst>
              <a:ext uri="{FF2B5EF4-FFF2-40B4-BE49-F238E27FC236}">
                <a16:creationId xmlns:a16="http://schemas.microsoft.com/office/drawing/2014/main" id="{5C533B66-9A0B-C894-421D-B9DC8B025D2B}"/>
              </a:ext>
            </a:extLst>
          </p:cNvPr>
          <p:cNvSpPr/>
          <p:nvPr/>
        </p:nvSpPr>
        <p:spPr>
          <a:xfrm>
            <a:off x="2028955" y="7291893"/>
            <a:ext cx="3796389" cy="0"/>
          </a:xfrm>
          <a:prstGeom prst="line">
            <a:avLst/>
          </a:prstGeom>
          <a:ln w="9525" cap="rnd">
            <a:solidFill>
              <a:srgbClr val="FFFFFF"/>
            </a:solidFill>
            <a:prstDash val="solid"/>
            <a:headEnd type="none" w="sm" len="sm"/>
            <a:tailEnd type="none" w="sm" len="sm"/>
          </a:ln>
        </p:spPr>
        <p:txBody>
          <a:bodyPr/>
          <a:lstStyle/>
          <a:p>
            <a:endParaRPr lang="ko-KR" altLang="en-US" sz="6033" b="1">
              <a:latin typeface="+mj-ea"/>
              <a:ea typeface="+mj-ea"/>
            </a:endParaRPr>
          </a:p>
        </p:txBody>
      </p:sp>
      <p:sp>
        <p:nvSpPr>
          <p:cNvPr id="37" name="AutoShape 9">
            <a:extLst>
              <a:ext uri="{FF2B5EF4-FFF2-40B4-BE49-F238E27FC236}">
                <a16:creationId xmlns:a16="http://schemas.microsoft.com/office/drawing/2014/main" id="{B00BA274-0F57-1B09-B00E-558EFB5B9470}"/>
              </a:ext>
            </a:extLst>
          </p:cNvPr>
          <p:cNvSpPr/>
          <p:nvPr/>
        </p:nvSpPr>
        <p:spPr>
          <a:xfrm>
            <a:off x="2028955" y="6782620"/>
            <a:ext cx="3804378" cy="0"/>
          </a:xfrm>
          <a:prstGeom prst="line">
            <a:avLst/>
          </a:prstGeom>
          <a:ln w="9525" cap="rnd">
            <a:solidFill>
              <a:srgbClr val="FFFFFF"/>
            </a:solidFill>
            <a:prstDash val="solid"/>
            <a:headEnd type="none" w="sm" len="sm"/>
            <a:tailEnd type="none" w="sm" len="sm"/>
          </a:ln>
        </p:spPr>
        <p:txBody>
          <a:bodyPr/>
          <a:lstStyle/>
          <a:p>
            <a:endParaRPr lang="ko-KR" altLang="en-US" sz="6033" b="1">
              <a:latin typeface="+mj-ea"/>
              <a:ea typeface="+mj-ea"/>
            </a:endParaRPr>
          </a:p>
        </p:txBody>
      </p:sp>
      <p:sp>
        <p:nvSpPr>
          <p:cNvPr id="39" name="AutoShape 10">
            <a:extLst>
              <a:ext uri="{FF2B5EF4-FFF2-40B4-BE49-F238E27FC236}">
                <a16:creationId xmlns:a16="http://schemas.microsoft.com/office/drawing/2014/main" id="{D4435859-CEA1-7573-B8B6-B0B4F259A5D8}"/>
              </a:ext>
            </a:extLst>
          </p:cNvPr>
          <p:cNvSpPr/>
          <p:nvPr/>
        </p:nvSpPr>
        <p:spPr>
          <a:xfrm>
            <a:off x="2296243" y="6273349"/>
            <a:ext cx="3527504" cy="0"/>
          </a:xfrm>
          <a:prstGeom prst="line">
            <a:avLst/>
          </a:prstGeom>
          <a:ln w="9525" cap="rnd">
            <a:solidFill>
              <a:srgbClr val="FFFFFF"/>
            </a:solidFill>
            <a:prstDash val="solid"/>
            <a:headEnd type="none" w="sm" len="sm"/>
            <a:tailEnd type="none" w="sm" len="sm"/>
          </a:ln>
        </p:spPr>
        <p:txBody>
          <a:bodyPr/>
          <a:lstStyle/>
          <a:p>
            <a:endParaRPr lang="ko-KR" altLang="en-US" sz="6033" b="1">
              <a:latin typeface="+mj-ea"/>
              <a:ea typeface="+mj-ea"/>
            </a:endParaRPr>
          </a:p>
        </p:txBody>
      </p:sp>
      <p:sp>
        <p:nvSpPr>
          <p:cNvPr id="41" name="AutoShape 11">
            <a:extLst>
              <a:ext uri="{FF2B5EF4-FFF2-40B4-BE49-F238E27FC236}">
                <a16:creationId xmlns:a16="http://schemas.microsoft.com/office/drawing/2014/main" id="{5BC6AF48-47ED-F69E-3270-45ED3C02925E}"/>
              </a:ext>
            </a:extLst>
          </p:cNvPr>
          <p:cNvSpPr/>
          <p:nvPr/>
        </p:nvSpPr>
        <p:spPr>
          <a:xfrm>
            <a:off x="2028956" y="5769085"/>
            <a:ext cx="3797987" cy="0"/>
          </a:xfrm>
          <a:prstGeom prst="line">
            <a:avLst/>
          </a:prstGeom>
          <a:ln w="9525" cap="rnd">
            <a:solidFill>
              <a:srgbClr val="FFFFFF"/>
            </a:solidFill>
            <a:prstDash val="solid"/>
            <a:headEnd type="none" w="sm" len="sm"/>
            <a:tailEnd type="none" w="sm" len="sm"/>
          </a:ln>
        </p:spPr>
        <p:txBody>
          <a:bodyPr/>
          <a:lstStyle/>
          <a:p>
            <a:endParaRPr lang="ko-KR" altLang="en-US" sz="6033" b="1">
              <a:latin typeface="+mj-ea"/>
              <a:ea typeface="+mj-ea"/>
            </a:endParaRPr>
          </a:p>
        </p:txBody>
      </p:sp>
      <p:sp>
        <p:nvSpPr>
          <p:cNvPr id="43" name="TextBox 13">
            <a:extLst>
              <a:ext uri="{FF2B5EF4-FFF2-40B4-BE49-F238E27FC236}">
                <a16:creationId xmlns:a16="http://schemas.microsoft.com/office/drawing/2014/main" id="{8B053C44-95E4-B8B7-96CD-7E3853AEE293}"/>
              </a:ext>
            </a:extLst>
          </p:cNvPr>
          <p:cNvSpPr txBox="1"/>
          <p:nvPr/>
        </p:nvSpPr>
        <p:spPr>
          <a:xfrm>
            <a:off x="5823746" y="4636135"/>
            <a:ext cx="361709" cy="208006"/>
          </a:xfrm>
          <a:prstGeom prst="rect">
            <a:avLst/>
          </a:prstGeom>
        </p:spPr>
        <p:txBody>
          <a:bodyPr lIns="0" tIns="0" rIns="0" bIns="0" rtlCol="0" anchor="t">
            <a:spAutoFit/>
          </a:bodyPr>
          <a:lstStyle/>
          <a:p>
            <a:pPr algn="r">
              <a:lnSpc>
                <a:spcPts val="1793"/>
              </a:lnSpc>
            </a:pPr>
            <a:r>
              <a:rPr lang="en-US" sz="1195" b="1">
                <a:solidFill>
                  <a:srgbClr val="000000"/>
                </a:solidFill>
                <a:latin typeface="+mj-ea"/>
                <a:ea typeface="+mj-ea"/>
                <a:cs typeface="Pretendard"/>
                <a:sym typeface="Pretendard"/>
              </a:rPr>
              <a:t>03</a:t>
            </a:r>
          </a:p>
        </p:txBody>
      </p:sp>
      <p:sp>
        <p:nvSpPr>
          <p:cNvPr id="45" name="TextBox 14">
            <a:extLst>
              <a:ext uri="{FF2B5EF4-FFF2-40B4-BE49-F238E27FC236}">
                <a16:creationId xmlns:a16="http://schemas.microsoft.com/office/drawing/2014/main" id="{77689823-5612-CDF0-B80A-801A289AF914}"/>
              </a:ext>
            </a:extLst>
          </p:cNvPr>
          <p:cNvSpPr txBox="1"/>
          <p:nvPr/>
        </p:nvSpPr>
        <p:spPr>
          <a:xfrm>
            <a:off x="5822148" y="5140398"/>
            <a:ext cx="363307" cy="207749"/>
          </a:xfrm>
          <a:prstGeom prst="rect">
            <a:avLst/>
          </a:prstGeom>
        </p:spPr>
        <p:txBody>
          <a:bodyPr lIns="0" tIns="0" rIns="0" bIns="0" rtlCol="0" anchor="t">
            <a:spAutoFit/>
          </a:bodyPr>
          <a:lstStyle/>
          <a:p>
            <a:pPr algn="r">
              <a:lnSpc>
                <a:spcPts val="1793"/>
              </a:lnSpc>
            </a:pPr>
            <a:r>
              <a:rPr lang="en-US" sz="1195" b="1" dirty="0">
                <a:solidFill>
                  <a:srgbClr val="000000"/>
                </a:solidFill>
                <a:latin typeface="+mj-ea"/>
                <a:ea typeface="+mj-ea"/>
                <a:cs typeface="Pretendard"/>
                <a:sym typeface="Pretendard"/>
              </a:rPr>
              <a:t>09</a:t>
            </a:r>
          </a:p>
        </p:txBody>
      </p:sp>
      <p:sp>
        <p:nvSpPr>
          <p:cNvPr id="47" name="TextBox 15">
            <a:extLst>
              <a:ext uri="{FF2B5EF4-FFF2-40B4-BE49-F238E27FC236}">
                <a16:creationId xmlns:a16="http://schemas.microsoft.com/office/drawing/2014/main" id="{13C64386-3F4C-3626-D373-F85A2A60136E}"/>
              </a:ext>
            </a:extLst>
          </p:cNvPr>
          <p:cNvSpPr txBox="1"/>
          <p:nvPr/>
        </p:nvSpPr>
        <p:spPr>
          <a:xfrm>
            <a:off x="5826941" y="5644664"/>
            <a:ext cx="358515" cy="207749"/>
          </a:xfrm>
          <a:prstGeom prst="rect">
            <a:avLst/>
          </a:prstGeom>
        </p:spPr>
        <p:txBody>
          <a:bodyPr lIns="0" tIns="0" rIns="0" bIns="0" rtlCol="0" anchor="t">
            <a:spAutoFit/>
          </a:bodyPr>
          <a:lstStyle/>
          <a:p>
            <a:pPr algn="r">
              <a:lnSpc>
                <a:spcPts val="1793"/>
              </a:lnSpc>
            </a:pPr>
            <a:r>
              <a:rPr lang="en-US" altLang="ko-KR" sz="1195" b="1" dirty="0">
                <a:solidFill>
                  <a:srgbClr val="000000"/>
                </a:solidFill>
                <a:latin typeface="+mj-ea"/>
                <a:ea typeface="+mj-ea"/>
                <a:cs typeface="Pretendard"/>
                <a:sym typeface="Pretendard"/>
              </a:rPr>
              <a:t>16</a:t>
            </a:r>
            <a:endParaRPr lang="en-US" sz="1195" b="1" dirty="0">
              <a:solidFill>
                <a:srgbClr val="000000"/>
              </a:solidFill>
              <a:latin typeface="+mj-ea"/>
              <a:ea typeface="+mj-ea"/>
              <a:cs typeface="Pretendard"/>
              <a:sym typeface="Pretendard"/>
            </a:endParaRPr>
          </a:p>
        </p:txBody>
      </p:sp>
      <p:sp>
        <p:nvSpPr>
          <p:cNvPr id="49" name="TextBox 16">
            <a:extLst>
              <a:ext uri="{FF2B5EF4-FFF2-40B4-BE49-F238E27FC236}">
                <a16:creationId xmlns:a16="http://schemas.microsoft.com/office/drawing/2014/main" id="{F1FC72FC-5DED-AB90-33F5-B612E1FDA5CD}"/>
              </a:ext>
            </a:extLst>
          </p:cNvPr>
          <p:cNvSpPr txBox="1"/>
          <p:nvPr/>
        </p:nvSpPr>
        <p:spPr>
          <a:xfrm>
            <a:off x="5823746" y="6148927"/>
            <a:ext cx="361709" cy="207749"/>
          </a:xfrm>
          <a:prstGeom prst="rect">
            <a:avLst/>
          </a:prstGeom>
        </p:spPr>
        <p:txBody>
          <a:bodyPr lIns="0" tIns="0" rIns="0" bIns="0" rtlCol="0" anchor="t">
            <a:spAutoFit/>
          </a:bodyPr>
          <a:lstStyle/>
          <a:p>
            <a:pPr algn="r">
              <a:lnSpc>
                <a:spcPts val="1793"/>
              </a:lnSpc>
            </a:pPr>
            <a:r>
              <a:rPr lang="en-US" sz="1195" b="1" dirty="0">
                <a:solidFill>
                  <a:srgbClr val="000000"/>
                </a:solidFill>
                <a:latin typeface="+mj-ea"/>
                <a:ea typeface="+mj-ea"/>
                <a:cs typeface="Pretendard"/>
                <a:sym typeface="Pretendard"/>
              </a:rPr>
              <a:t>19</a:t>
            </a:r>
          </a:p>
        </p:txBody>
      </p:sp>
      <p:sp>
        <p:nvSpPr>
          <p:cNvPr id="51" name="TextBox 19">
            <a:extLst>
              <a:ext uri="{FF2B5EF4-FFF2-40B4-BE49-F238E27FC236}">
                <a16:creationId xmlns:a16="http://schemas.microsoft.com/office/drawing/2014/main" id="{B96ADEF9-B9F5-BAEC-2769-2E60FC6218E2}"/>
              </a:ext>
            </a:extLst>
          </p:cNvPr>
          <p:cNvSpPr txBox="1"/>
          <p:nvPr/>
        </p:nvSpPr>
        <p:spPr>
          <a:xfrm>
            <a:off x="1026089" y="4636135"/>
            <a:ext cx="1397909" cy="206403"/>
          </a:xfrm>
          <a:prstGeom prst="rect">
            <a:avLst/>
          </a:prstGeom>
        </p:spPr>
        <p:txBody>
          <a:bodyPr lIns="0" tIns="0" rIns="0" bIns="0" rtlCol="0" anchor="t">
            <a:spAutoFit/>
          </a:bodyPr>
          <a:lstStyle/>
          <a:p>
            <a:pPr algn="just">
              <a:lnSpc>
                <a:spcPts val="1793"/>
              </a:lnSpc>
            </a:pPr>
            <a:r>
              <a:rPr lang="en-US" sz="1195" b="1" dirty="0">
                <a:solidFill>
                  <a:srgbClr val="000000"/>
                </a:solidFill>
                <a:latin typeface="+mj-ea"/>
                <a:ea typeface="+mj-ea"/>
                <a:cs typeface="Pretendard"/>
                <a:sym typeface="Pretendard"/>
              </a:rPr>
              <a:t>1. </a:t>
            </a:r>
            <a:r>
              <a:rPr lang="en-US" sz="1195" b="1" dirty="0" err="1">
                <a:solidFill>
                  <a:srgbClr val="000000"/>
                </a:solidFill>
                <a:latin typeface="+mj-ea"/>
                <a:ea typeface="+mj-ea"/>
                <a:cs typeface="Pretendard"/>
                <a:sym typeface="Pretendard"/>
              </a:rPr>
              <a:t>산업분석</a:t>
            </a:r>
            <a:endParaRPr lang="en-US" sz="1195" b="1" dirty="0">
              <a:solidFill>
                <a:srgbClr val="000000"/>
              </a:solidFill>
              <a:latin typeface="+mj-ea"/>
              <a:ea typeface="+mj-ea"/>
              <a:cs typeface="Pretendard"/>
              <a:sym typeface="Pretendard"/>
            </a:endParaRPr>
          </a:p>
        </p:txBody>
      </p:sp>
      <p:sp>
        <p:nvSpPr>
          <p:cNvPr id="53" name="TextBox 20">
            <a:extLst>
              <a:ext uri="{FF2B5EF4-FFF2-40B4-BE49-F238E27FC236}">
                <a16:creationId xmlns:a16="http://schemas.microsoft.com/office/drawing/2014/main" id="{0EC0537C-1EA7-668A-0BF1-B293C5FDFE90}"/>
              </a:ext>
            </a:extLst>
          </p:cNvPr>
          <p:cNvSpPr txBox="1"/>
          <p:nvPr/>
        </p:nvSpPr>
        <p:spPr>
          <a:xfrm>
            <a:off x="1026089" y="5644663"/>
            <a:ext cx="1002865" cy="206403"/>
          </a:xfrm>
          <a:prstGeom prst="rect">
            <a:avLst/>
          </a:prstGeom>
        </p:spPr>
        <p:txBody>
          <a:bodyPr lIns="0" tIns="0" rIns="0" bIns="0" rtlCol="0" anchor="t">
            <a:spAutoFit/>
          </a:bodyPr>
          <a:lstStyle/>
          <a:p>
            <a:pPr algn="just">
              <a:lnSpc>
                <a:spcPts val="1793"/>
              </a:lnSpc>
            </a:pPr>
            <a:r>
              <a:rPr lang="en-US" sz="1195" b="1">
                <a:solidFill>
                  <a:srgbClr val="000000"/>
                </a:solidFill>
                <a:latin typeface="+mj-ea"/>
                <a:ea typeface="+mj-ea"/>
                <a:cs typeface="Pretendard"/>
                <a:sym typeface="Pretendard"/>
              </a:rPr>
              <a:t>3. 투자포인트</a:t>
            </a:r>
          </a:p>
        </p:txBody>
      </p:sp>
      <p:sp>
        <p:nvSpPr>
          <p:cNvPr id="55" name="TextBox 21">
            <a:extLst>
              <a:ext uri="{FF2B5EF4-FFF2-40B4-BE49-F238E27FC236}">
                <a16:creationId xmlns:a16="http://schemas.microsoft.com/office/drawing/2014/main" id="{BB902AB1-FA3F-B424-EA55-3D61BCBFA754}"/>
              </a:ext>
            </a:extLst>
          </p:cNvPr>
          <p:cNvSpPr txBox="1"/>
          <p:nvPr/>
        </p:nvSpPr>
        <p:spPr>
          <a:xfrm>
            <a:off x="1026090" y="6148927"/>
            <a:ext cx="1270155" cy="206531"/>
          </a:xfrm>
          <a:prstGeom prst="rect">
            <a:avLst/>
          </a:prstGeom>
        </p:spPr>
        <p:txBody>
          <a:bodyPr lIns="0" tIns="0" rIns="0" bIns="0" rtlCol="0" anchor="t">
            <a:spAutoFit/>
          </a:bodyPr>
          <a:lstStyle/>
          <a:p>
            <a:pPr algn="just">
              <a:lnSpc>
                <a:spcPts val="1793"/>
              </a:lnSpc>
            </a:pPr>
            <a:r>
              <a:rPr lang="en-US" altLang="ko-KR" sz="1195" b="1" dirty="0">
                <a:solidFill>
                  <a:srgbClr val="000000"/>
                </a:solidFill>
                <a:latin typeface="+mj-ea"/>
                <a:ea typeface="+mj-ea"/>
                <a:cs typeface="Pretendard"/>
                <a:sym typeface="Pretendard"/>
              </a:rPr>
              <a:t>4. Valuation</a:t>
            </a:r>
          </a:p>
        </p:txBody>
      </p:sp>
      <p:sp>
        <p:nvSpPr>
          <p:cNvPr id="57" name="TextBox 22">
            <a:extLst>
              <a:ext uri="{FF2B5EF4-FFF2-40B4-BE49-F238E27FC236}">
                <a16:creationId xmlns:a16="http://schemas.microsoft.com/office/drawing/2014/main" id="{2DE8FAE2-6D95-A450-3673-7948914E3DFB}"/>
              </a:ext>
            </a:extLst>
          </p:cNvPr>
          <p:cNvSpPr txBox="1"/>
          <p:nvPr/>
        </p:nvSpPr>
        <p:spPr>
          <a:xfrm>
            <a:off x="1026089" y="6658201"/>
            <a:ext cx="1002865" cy="208006"/>
          </a:xfrm>
          <a:prstGeom prst="rect">
            <a:avLst/>
          </a:prstGeom>
        </p:spPr>
        <p:txBody>
          <a:bodyPr lIns="0" tIns="0" rIns="0" bIns="0" rtlCol="0" anchor="t">
            <a:spAutoFit/>
          </a:bodyPr>
          <a:lstStyle/>
          <a:p>
            <a:pPr algn="just">
              <a:lnSpc>
                <a:spcPts val="1793"/>
              </a:lnSpc>
            </a:pPr>
            <a:r>
              <a:rPr lang="en-US" sz="1195" b="1" dirty="0">
                <a:solidFill>
                  <a:srgbClr val="000000"/>
                </a:solidFill>
                <a:latin typeface="+mj-ea"/>
                <a:ea typeface="+mj-ea"/>
                <a:cs typeface="Pretendard"/>
                <a:sym typeface="Pretendard"/>
              </a:rPr>
              <a:t>5. Risk Point</a:t>
            </a:r>
          </a:p>
        </p:txBody>
      </p:sp>
      <p:sp>
        <p:nvSpPr>
          <p:cNvPr id="59" name="TextBox 24">
            <a:extLst>
              <a:ext uri="{FF2B5EF4-FFF2-40B4-BE49-F238E27FC236}">
                <a16:creationId xmlns:a16="http://schemas.microsoft.com/office/drawing/2014/main" id="{B8B29D06-B5E8-3F07-C260-CE010DDE1E89}"/>
              </a:ext>
            </a:extLst>
          </p:cNvPr>
          <p:cNvSpPr txBox="1"/>
          <p:nvPr/>
        </p:nvSpPr>
        <p:spPr>
          <a:xfrm>
            <a:off x="5833331" y="6658200"/>
            <a:ext cx="352124" cy="208006"/>
          </a:xfrm>
          <a:prstGeom prst="rect">
            <a:avLst/>
          </a:prstGeom>
        </p:spPr>
        <p:txBody>
          <a:bodyPr lIns="0" tIns="0" rIns="0" bIns="0" rtlCol="0" anchor="t">
            <a:spAutoFit/>
          </a:bodyPr>
          <a:lstStyle/>
          <a:p>
            <a:pPr algn="r">
              <a:lnSpc>
                <a:spcPts val="1793"/>
              </a:lnSpc>
            </a:pPr>
            <a:r>
              <a:rPr lang="en-US" sz="1195" b="1" dirty="0">
                <a:solidFill>
                  <a:srgbClr val="000000"/>
                </a:solidFill>
                <a:latin typeface="+mj-ea"/>
                <a:ea typeface="+mj-ea"/>
                <a:cs typeface="Pretendard"/>
                <a:sym typeface="Pretendard"/>
              </a:rPr>
              <a:t>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201168"/>
          </a:xfrm>
          <a:prstGeom prst="rect">
            <a:avLst/>
          </a:prstGeom>
          <a:noFill/>
        </p:spPr>
        <p:txBody>
          <a:bodyPr wrap="square" lIns="0" tIns="0" rIns="0" bIns="0" anchor="t">
            <a:spAutoFit/>
          </a:bodyPr>
          <a:lstStyle/>
          <a:p>
            <a:pPr>
              <a:lnSpc>
                <a:spcPct val="118000"/>
              </a:lnSpc>
              <a:spcBef>
                <a:spcPts val="0"/>
              </a:spcBef>
              <a:spcAft>
                <a:spcPts val="400"/>
              </a:spcAft>
            </a:pPr>
            <a:r>
              <a:rPr sz="950" b="1" i="0">
                <a:solidFill>
                  <a:srgbClr val="003A75"/>
                </a:solidFill>
                <a:latin typeface="맑은 고딕"/>
              </a:rPr>
              <a:t>산업분석</a:t>
            </a: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8000"/>
              </a:lnSpc>
              <a:spcBef>
                <a:spcPts val="0"/>
              </a:spcBef>
              <a:spcAft>
                <a:spcPts val="400"/>
              </a:spcAft>
            </a:pPr>
            <a:r>
              <a:rPr sz="900" b="0" i="0">
                <a:solidFill>
                  <a:srgbClr val="6B7785"/>
                </a:solidFill>
                <a:latin typeface="맑은 고딕"/>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72876" y="1325901"/>
            <a:ext cx="5943600" cy="180627"/>
          </a:xfrm>
          <a:prstGeom prst="rect">
            <a:avLst/>
          </a:prstGeom>
          <a:noFill/>
        </p:spPr>
        <p:txBody>
          <a:bodyPr wrap="square" lIns="0" tIns="0" rIns="0" bIns="0" anchor="t">
            <a:spAutoFit/>
          </a:bodyPr>
          <a:lstStyle/>
          <a:p>
            <a:pPr>
              <a:lnSpc>
                <a:spcPct val="118000"/>
              </a:lnSpc>
              <a:spcBef>
                <a:spcPts val="0"/>
              </a:spcBef>
              <a:spcAft>
                <a:spcPts val="400"/>
              </a:spcAft>
            </a:pPr>
            <a:r>
              <a:rPr sz="1100" b="1" i="0" dirty="0">
                <a:latin typeface="맑은 고딕"/>
              </a:rPr>
              <a:t>1.1  2차전지 </a:t>
            </a:r>
            <a:r>
              <a:rPr sz="1100" b="1" i="0" dirty="0" err="1">
                <a:latin typeface="맑은 고딕"/>
              </a:rPr>
              <a:t>산업</a:t>
            </a:r>
            <a:r>
              <a:rPr sz="1100" b="1" i="0" dirty="0">
                <a:latin typeface="맑은 고딕"/>
              </a:rPr>
              <a:t> — </a:t>
            </a:r>
            <a:r>
              <a:rPr sz="1100" b="1" i="0" dirty="0" err="1">
                <a:latin typeface="맑은 고딕"/>
              </a:rPr>
              <a:t>전방산업</a:t>
            </a:r>
            <a:r>
              <a:rPr sz="1100" b="1" i="0" dirty="0">
                <a:latin typeface="맑은 고딕"/>
              </a:rPr>
              <a:t> 축 </a:t>
            </a:r>
            <a:r>
              <a:rPr sz="1100" b="1" i="0" dirty="0" err="1">
                <a:latin typeface="맑은 고딕"/>
              </a:rPr>
              <a:t>이동</a:t>
            </a:r>
            <a:r>
              <a:rPr sz="1100" b="1" i="0" dirty="0">
                <a:latin typeface="맑은 고딕"/>
              </a:rPr>
              <a:t> (</a:t>
            </a:r>
            <a:r>
              <a:rPr sz="1100" b="1" i="0" dirty="0" err="1">
                <a:latin typeface="맑은 고딕"/>
              </a:rPr>
              <a:t>EV→ESS·데이터센터</a:t>
            </a:r>
            <a:r>
              <a:rPr sz="1100" b="1" i="0" dirty="0">
                <a:latin typeface="맑은 고딕"/>
              </a:rPr>
              <a:t>)</a:t>
            </a:r>
          </a:p>
        </p:txBody>
      </p:sp>
      <p:sp>
        <p:nvSpPr>
          <p:cNvPr id="6" name="TextBox 5"/>
          <p:cNvSpPr txBox="1"/>
          <p:nvPr/>
        </p:nvSpPr>
        <p:spPr>
          <a:xfrm>
            <a:off x="1672876" y="1609544"/>
            <a:ext cx="5943600" cy="164148"/>
          </a:xfrm>
          <a:prstGeom prst="rect">
            <a:avLst/>
          </a:prstGeom>
          <a:noFill/>
        </p:spPr>
        <p:txBody>
          <a:bodyPr wrap="square" lIns="0" tIns="0" rIns="0" bIns="0" anchor="t">
            <a:spAutoFit/>
          </a:bodyPr>
          <a:lstStyle/>
          <a:p>
            <a:pPr>
              <a:lnSpc>
                <a:spcPct val="118000"/>
              </a:lnSpc>
              <a:spcBef>
                <a:spcPts val="0"/>
              </a:spcBef>
              <a:spcAft>
                <a:spcPts val="400"/>
              </a:spcAft>
            </a:pPr>
            <a:r>
              <a:rPr sz="1000" b="1" dirty="0" err="1">
                <a:latin typeface="맑은 고딕"/>
              </a:rPr>
              <a:t>배터리</a:t>
            </a:r>
            <a:r>
              <a:rPr sz="1000" b="1" dirty="0">
                <a:latin typeface="맑은 고딕"/>
              </a:rPr>
              <a:t> </a:t>
            </a:r>
            <a:r>
              <a:rPr sz="1000" b="1" dirty="0" err="1">
                <a:latin typeface="맑은 고딕"/>
              </a:rPr>
              <a:t>산업의</a:t>
            </a:r>
            <a:r>
              <a:rPr sz="1000" b="1" dirty="0">
                <a:latin typeface="맑은 고딕"/>
              </a:rPr>
              <a:t> </a:t>
            </a:r>
            <a:r>
              <a:rPr sz="1000" b="1" dirty="0" err="1">
                <a:latin typeface="맑은 고딕"/>
              </a:rPr>
              <a:t>중심축이</a:t>
            </a:r>
            <a:r>
              <a:rPr sz="1000" b="1" dirty="0">
                <a:latin typeface="맑은 고딕"/>
              </a:rPr>
              <a:t> EV </a:t>
            </a:r>
            <a:r>
              <a:rPr sz="1000" b="1" dirty="0" err="1">
                <a:latin typeface="맑은 고딕"/>
              </a:rPr>
              <a:t>단독에서</a:t>
            </a:r>
            <a:r>
              <a:rPr sz="1000" b="1" dirty="0">
                <a:latin typeface="맑은 고딕"/>
              </a:rPr>
              <a:t> </a:t>
            </a:r>
            <a:r>
              <a:rPr sz="1000" b="1" dirty="0" err="1">
                <a:latin typeface="맑은 고딕"/>
              </a:rPr>
              <a:t>ESS·데이터센터</a:t>
            </a:r>
            <a:r>
              <a:rPr sz="1000" b="1" dirty="0">
                <a:latin typeface="맑은 고딕"/>
              </a:rPr>
              <a:t> </a:t>
            </a:r>
            <a:r>
              <a:rPr sz="1000" b="1" dirty="0" err="1">
                <a:latin typeface="맑은 고딕"/>
              </a:rPr>
              <a:t>전력</a:t>
            </a:r>
            <a:r>
              <a:rPr sz="1000" b="1" dirty="0">
                <a:latin typeface="맑은 고딕"/>
              </a:rPr>
              <a:t> </a:t>
            </a:r>
            <a:r>
              <a:rPr sz="1000" b="1" dirty="0" err="1">
                <a:latin typeface="맑은 고딕"/>
              </a:rPr>
              <a:t>인프라로</a:t>
            </a:r>
            <a:r>
              <a:rPr sz="1000" b="1" dirty="0">
                <a:latin typeface="맑은 고딕"/>
              </a:rPr>
              <a:t> </a:t>
            </a:r>
            <a:r>
              <a:rPr sz="1000" b="1" dirty="0" err="1">
                <a:latin typeface="맑은 고딕"/>
              </a:rPr>
              <a:t>이동</a:t>
            </a:r>
            <a:r>
              <a:rPr sz="1000" b="1" dirty="0">
                <a:latin typeface="맑은 고딕"/>
              </a:rPr>
              <a:t> 중</a:t>
            </a:r>
          </a:p>
        </p:txBody>
      </p:sp>
      <p:sp>
        <p:nvSpPr>
          <p:cNvPr id="7" name="TextBox 6"/>
          <p:cNvSpPr txBox="1"/>
          <p:nvPr/>
        </p:nvSpPr>
        <p:spPr>
          <a:xfrm>
            <a:off x="1672876" y="1917664"/>
            <a:ext cx="4727924" cy="1890646"/>
          </a:xfrm>
          <a:prstGeom prst="rect">
            <a:avLst/>
          </a:prstGeom>
          <a:noFill/>
        </p:spPr>
        <p:txBody>
          <a:bodyPr wrap="square" lIns="0" tIns="0" rIns="0" bIns="0" anchor="t">
            <a:spAutoFit/>
          </a:bodyPr>
          <a:lstStyle/>
          <a:p>
            <a:pPr algn="just">
              <a:lnSpc>
                <a:spcPct val="125000"/>
              </a:lnSpc>
              <a:spcBef>
                <a:spcPts val="0"/>
              </a:spcBef>
              <a:spcAft>
                <a:spcPts val="700"/>
              </a:spcAft>
            </a:pPr>
            <a:r>
              <a:rPr sz="1000" b="0" i="0" dirty="0" err="1">
                <a:latin typeface="맑은 고딕"/>
              </a:rPr>
              <a:t>전기차</a:t>
            </a:r>
            <a:r>
              <a:rPr sz="1000" b="0" i="0" dirty="0">
                <a:latin typeface="맑은 고딕"/>
              </a:rPr>
              <a:t> </a:t>
            </a:r>
            <a:r>
              <a:rPr sz="1000" b="0" i="0" dirty="0" err="1">
                <a:latin typeface="맑은 고딕"/>
              </a:rPr>
              <a:t>성장</a:t>
            </a:r>
            <a:r>
              <a:rPr sz="1000" b="0" i="0" dirty="0">
                <a:latin typeface="맑은 고딕"/>
              </a:rPr>
              <a:t> </a:t>
            </a:r>
            <a:r>
              <a:rPr sz="1000" b="0" i="0" dirty="0" err="1">
                <a:latin typeface="맑은 고딕"/>
              </a:rPr>
              <a:t>둔화</a:t>
            </a:r>
            <a:r>
              <a:rPr sz="1000" b="0" i="0" dirty="0">
                <a:latin typeface="맑은 고딕"/>
              </a:rPr>
              <a:t>(</a:t>
            </a:r>
            <a:r>
              <a:rPr sz="1000" b="0" i="0" dirty="0" err="1">
                <a:latin typeface="맑은 고딕"/>
              </a:rPr>
              <a:t>캐즘</a:t>
            </a:r>
            <a:r>
              <a:rPr sz="1000" b="0" i="0" dirty="0">
                <a:latin typeface="맑은 고딕"/>
              </a:rPr>
              <a:t>) </a:t>
            </a:r>
            <a:r>
              <a:rPr sz="1000" b="0" i="0" dirty="0" err="1">
                <a:latin typeface="맑은 고딕"/>
              </a:rPr>
              <a:t>속에서도</a:t>
            </a:r>
            <a:r>
              <a:rPr sz="1000" b="0" i="0" dirty="0">
                <a:latin typeface="맑은 고딕"/>
              </a:rPr>
              <a:t> AI </a:t>
            </a:r>
            <a:r>
              <a:rPr sz="1000" b="0" i="0" dirty="0" err="1">
                <a:latin typeface="맑은 고딕"/>
              </a:rPr>
              <a:t>데이터센터·재생에너지</a:t>
            </a:r>
            <a:r>
              <a:rPr sz="1000" b="0" i="0" dirty="0">
                <a:latin typeface="맑은 고딕"/>
              </a:rPr>
              <a:t> </a:t>
            </a:r>
            <a:r>
              <a:rPr sz="1000" b="0" i="0" dirty="0" err="1">
                <a:latin typeface="맑은 고딕"/>
              </a:rPr>
              <a:t>확대가</a:t>
            </a:r>
            <a:r>
              <a:rPr sz="1000" b="0" i="0" dirty="0">
                <a:latin typeface="맑은 고딕"/>
              </a:rPr>
              <a:t> </a:t>
            </a:r>
            <a:r>
              <a:rPr sz="1000" b="0" i="0" dirty="0" err="1">
                <a:latin typeface="맑은 고딕"/>
              </a:rPr>
              <a:t>새로운</a:t>
            </a:r>
            <a:r>
              <a:rPr sz="1000" b="0" i="0" dirty="0">
                <a:latin typeface="맑은 고딕"/>
              </a:rPr>
              <a:t> </a:t>
            </a:r>
            <a:r>
              <a:rPr sz="1000" b="0" i="0" dirty="0" err="1">
                <a:latin typeface="맑은 고딕"/>
              </a:rPr>
              <a:t>수요를</a:t>
            </a:r>
            <a:r>
              <a:rPr sz="1000" b="0" i="0" dirty="0">
                <a:latin typeface="맑은 고딕"/>
              </a:rPr>
              <a:t> </a:t>
            </a:r>
            <a:r>
              <a:rPr sz="1000" b="0" i="0" dirty="0" err="1">
                <a:latin typeface="맑은 고딕"/>
              </a:rPr>
              <a:t>창출하고</a:t>
            </a:r>
            <a:r>
              <a:rPr sz="1000" b="0" i="0" dirty="0">
                <a:latin typeface="맑은 고딕"/>
              </a:rPr>
              <a:t> </a:t>
            </a:r>
            <a:r>
              <a:rPr sz="1000" b="0" i="0" dirty="0" err="1">
                <a:latin typeface="맑은 고딕"/>
              </a:rPr>
              <a:t>있다</a:t>
            </a:r>
            <a:r>
              <a:rPr sz="1000" b="0" i="0" dirty="0">
                <a:latin typeface="맑은 고딕"/>
              </a:rPr>
              <a:t>. </a:t>
            </a:r>
            <a:r>
              <a:rPr sz="1000" b="0" i="0" dirty="0" err="1">
                <a:latin typeface="맑은 고딕"/>
              </a:rPr>
              <a:t>배터리는</a:t>
            </a:r>
            <a:r>
              <a:rPr sz="1000" b="0" i="0" dirty="0">
                <a:latin typeface="맑은 고딕"/>
              </a:rPr>
              <a:t> 더 </a:t>
            </a:r>
            <a:r>
              <a:rPr sz="1000" b="0" i="0" dirty="0" err="1">
                <a:latin typeface="맑은 고딕"/>
              </a:rPr>
              <a:t>이상</a:t>
            </a:r>
            <a:r>
              <a:rPr sz="1000" b="0" i="0" dirty="0">
                <a:latin typeface="맑은 고딕"/>
              </a:rPr>
              <a:t> EV </a:t>
            </a:r>
            <a:r>
              <a:rPr sz="1000" b="0" i="0" dirty="0" err="1">
                <a:latin typeface="맑은 고딕"/>
              </a:rPr>
              <a:t>단일</a:t>
            </a:r>
            <a:r>
              <a:rPr sz="1000" b="0" i="0" dirty="0">
                <a:latin typeface="맑은 고딕"/>
              </a:rPr>
              <a:t> </a:t>
            </a:r>
            <a:r>
              <a:rPr sz="1000" b="0" i="0" dirty="0" err="1">
                <a:latin typeface="맑은 고딕"/>
              </a:rPr>
              <a:t>산업이</a:t>
            </a:r>
            <a:r>
              <a:rPr sz="1000" b="0" i="0" dirty="0">
                <a:latin typeface="맑은 고딕"/>
              </a:rPr>
              <a:t> </a:t>
            </a:r>
            <a:r>
              <a:rPr sz="1000" b="0" i="0" dirty="0" err="1">
                <a:latin typeface="맑은 고딕"/>
              </a:rPr>
              <a:t>아니라</a:t>
            </a:r>
            <a:r>
              <a:rPr sz="1000" b="0" i="0" dirty="0">
                <a:latin typeface="맑은 고딕"/>
              </a:rPr>
              <a:t> </a:t>
            </a:r>
            <a:r>
              <a:rPr sz="1000" b="0" i="0" dirty="0" err="1">
                <a:latin typeface="맑은 고딕"/>
              </a:rPr>
              <a:t>전력망과</a:t>
            </a:r>
            <a:r>
              <a:rPr sz="1000" b="0" i="0" dirty="0">
                <a:latin typeface="맑은 고딕"/>
              </a:rPr>
              <a:t> </a:t>
            </a:r>
            <a:r>
              <a:rPr sz="1000" b="0" i="0" dirty="0" err="1">
                <a:latin typeface="맑은 고딕"/>
              </a:rPr>
              <a:t>데이터센터를</a:t>
            </a:r>
            <a:r>
              <a:rPr sz="1000" b="0" i="0" dirty="0">
                <a:latin typeface="맑은 고딕"/>
              </a:rPr>
              <a:t> </a:t>
            </a:r>
            <a:r>
              <a:rPr sz="1000" b="0" i="0" dirty="0" err="1">
                <a:latin typeface="맑은 고딕"/>
              </a:rPr>
              <a:t>지탱하는</a:t>
            </a:r>
            <a:r>
              <a:rPr sz="1000" b="0" i="0" dirty="0">
                <a:latin typeface="맑은 고딕"/>
              </a:rPr>
              <a:t> </a:t>
            </a:r>
            <a:r>
              <a:rPr sz="1000" b="0" i="0" dirty="0" err="1">
                <a:latin typeface="맑은 고딕"/>
              </a:rPr>
              <a:t>전력</a:t>
            </a:r>
            <a:r>
              <a:rPr sz="1000" b="0" i="0" dirty="0">
                <a:latin typeface="맑은 고딕"/>
              </a:rPr>
              <a:t> </a:t>
            </a:r>
            <a:r>
              <a:rPr sz="1000" b="0" i="0" dirty="0" err="1">
                <a:latin typeface="맑은 고딕"/>
              </a:rPr>
              <a:t>인프라</a:t>
            </a:r>
            <a:r>
              <a:rPr sz="1000" b="0" i="0" dirty="0">
                <a:latin typeface="맑은 고딕"/>
              </a:rPr>
              <a:t> </a:t>
            </a:r>
            <a:r>
              <a:rPr sz="1000" b="0" i="0" dirty="0" err="1">
                <a:latin typeface="맑은 고딕"/>
              </a:rPr>
              <a:t>산업으로</a:t>
            </a:r>
            <a:r>
              <a:rPr sz="1000" b="0" i="0" dirty="0">
                <a:latin typeface="맑은 고딕"/>
              </a:rPr>
              <a:t> </a:t>
            </a:r>
            <a:r>
              <a:rPr sz="1000" b="0" i="0" dirty="0" err="1">
                <a:latin typeface="맑은 고딕"/>
              </a:rPr>
              <a:t>확장되고</a:t>
            </a:r>
            <a:r>
              <a:rPr sz="1000" b="0" i="0" dirty="0">
                <a:latin typeface="맑은 고딕"/>
              </a:rPr>
              <a:t> </a:t>
            </a:r>
            <a:r>
              <a:rPr sz="1000" b="0" i="0" dirty="0" err="1">
                <a:latin typeface="맑은 고딕"/>
              </a:rPr>
              <a:t>있다</a:t>
            </a:r>
            <a:r>
              <a:rPr sz="1000" b="0" i="0" dirty="0">
                <a:latin typeface="맑은 고딕"/>
              </a:rPr>
              <a:t>.</a:t>
            </a:r>
          </a:p>
          <a:p>
            <a:pPr algn="just">
              <a:lnSpc>
                <a:spcPct val="125000"/>
              </a:lnSpc>
              <a:spcBef>
                <a:spcPts val="0"/>
              </a:spcBef>
              <a:spcAft>
                <a:spcPts val="700"/>
              </a:spcAft>
            </a:pPr>
            <a:r>
              <a:rPr sz="1000" b="0" i="0" dirty="0">
                <a:latin typeface="맑은 고딕"/>
              </a:rPr>
              <a:t>2026년 </a:t>
            </a:r>
            <a:r>
              <a:rPr sz="1000" b="0" i="0" dirty="0" err="1">
                <a:latin typeface="맑은 고딕"/>
              </a:rPr>
              <a:t>글로벌</a:t>
            </a:r>
            <a:r>
              <a:rPr sz="1000" b="0" i="0" dirty="0">
                <a:latin typeface="맑은 고딕"/>
              </a:rPr>
              <a:t> </a:t>
            </a:r>
            <a:r>
              <a:rPr sz="1000" b="0" i="0" dirty="0" err="1">
                <a:latin typeface="맑은 고딕"/>
              </a:rPr>
              <a:t>배터리</a:t>
            </a:r>
            <a:r>
              <a:rPr sz="1000" b="0" i="0" dirty="0">
                <a:latin typeface="맑은 고딕"/>
              </a:rPr>
              <a:t> </a:t>
            </a:r>
            <a:r>
              <a:rPr sz="1000" b="0" i="0" dirty="0" err="1">
                <a:latin typeface="맑은 고딕"/>
              </a:rPr>
              <a:t>수요는</a:t>
            </a:r>
            <a:r>
              <a:rPr sz="1000" b="0" i="0" dirty="0">
                <a:latin typeface="맑은 고딕"/>
              </a:rPr>
              <a:t> 약 2.1TWh(+12%)로 </a:t>
            </a:r>
            <a:r>
              <a:rPr sz="1000" b="0" i="0" dirty="0" err="1">
                <a:latin typeface="맑은 고딕"/>
              </a:rPr>
              <a:t>전망되나</a:t>
            </a:r>
            <a:r>
              <a:rPr sz="1000" b="0" i="0" dirty="0">
                <a:latin typeface="맑은 고딕"/>
              </a:rPr>
              <a:t> </a:t>
            </a:r>
            <a:r>
              <a:rPr sz="1000" b="0" i="0" dirty="0" err="1">
                <a:latin typeface="맑은 고딕"/>
              </a:rPr>
              <a:t>성장의</a:t>
            </a:r>
            <a:r>
              <a:rPr sz="1000" b="0" i="0" dirty="0">
                <a:latin typeface="맑은 고딕"/>
              </a:rPr>
              <a:t> </a:t>
            </a:r>
            <a:r>
              <a:rPr sz="1000" b="0" i="0" dirty="0" err="1">
                <a:latin typeface="맑은 고딕"/>
              </a:rPr>
              <a:t>질은</a:t>
            </a:r>
            <a:r>
              <a:rPr sz="1000" b="0" i="0" dirty="0">
                <a:latin typeface="맑은 고딕"/>
              </a:rPr>
              <a:t> </a:t>
            </a:r>
            <a:r>
              <a:rPr sz="1000" b="0" i="0" dirty="0" err="1">
                <a:latin typeface="맑은 고딕"/>
              </a:rPr>
              <a:t>갈린다</a:t>
            </a:r>
            <a:r>
              <a:rPr sz="1000" b="0" i="0" dirty="0">
                <a:latin typeface="맑은 고딕"/>
              </a:rPr>
              <a:t>. </a:t>
            </a:r>
            <a:r>
              <a:rPr sz="1000" b="0" i="0" dirty="0" err="1">
                <a:latin typeface="맑은 고딕"/>
              </a:rPr>
              <a:t>EV향</a:t>
            </a:r>
            <a:r>
              <a:rPr sz="1000" b="0" i="0" dirty="0">
                <a:latin typeface="맑은 고딕"/>
              </a:rPr>
              <a:t>(약 1.5TWh, +5%)은 </a:t>
            </a:r>
            <a:r>
              <a:rPr sz="1000" b="0" i="0" dirty="0" err="1">
                <a:latin typeface="맑은 고딕"/>
              </a:rPr>
              <a:t>주요국</a:t>
            </a:r>
            <a:r>
              <a:rPr sz="1000" b="0" i="0" dirty="0">
                <a:latin typeface="맑은 고딕"/>
              </a:rPr>
              <a:t> </a:t>
            </a:r>
            <a:r>
              <a:rPr sz="1000" b="0" i="0" dirty="0" err="1">
                <a:latin typeface="맑은 고딕"/>
              </a:rPr>
              <a:t>보조금</a:t>
            </a:r>
            <a:r>
              <a:rPr sz="1000" b="0" i="0" dirty="0">
                <a:latin typeface="맑은 고딕"/>
              </a:rPr>
              <a:t> </a:t>
            </a:r>
            <a:r>
              <a:rPr sz="1000" b="0" i="0" dirty="0" err="1">
                <a:latin typeface="맑은 고딕"/>
              </a:rPr>
              <a:t>축소로</a:t>
            </a:r>
            <a:r>
              <a:rPr sz="1000" b="0" i="0" dirty="0">
                <a:latin typeface="맑은 고딕"/>
              </a:rPr>
              <a:t> </a:t>
            </a:r>
            <a:r>
              <a:rPr sz="1000" b="0" i="0" dirty="0" err="1">
                <a:latin typeface="맑은 고딕"/>
              </a:rPr>
              <a:t>둔화되는</a:t>
            </a:r>
            <a:r>
              <a:rPr sz="1000" b="0" i="0" dirty="0">
                <a:latin typeface="맑은 고딕"/>
              </a:rPr>
              <a:t> </a:t>
            </a:r>
            <a:r>
              <a:rPr sz="1000" b="0" i="0" dirty="0" err="1">
                <a:latin typeface="맑은 고딕"/>
              </a:rPr>
              <a:t>반면</a:t>
            </a:r>
            <a:r>
              <a:rPr sz="1000" b="0" i="0" dirty="0">
                <a:latin typeface="맑은 고딕"/>
              </a:rPr>
              <a:t>, </a:t>
            </a:r>
            <a:r>
              <a:rPr sz="1000" b="0" i="0" dirty="0" err="1">
                <a:latin typeface="맑은 고딕"/>
              </a:rPr>
              <a:t>ESS향</a:t>
            </a:r>
            <a:r>
              <a:rPr sz="1000" b="0" i="0" dirty="0">
                <a:latin typeface="맑은 고딕"/>
              </a:rPr>
              <a:t>(약 0.36TWh, +17~33%)은 AI </a:t>
            </a:r>
            <a:r>
              <a:rPr sz="1000" b="0" i="0" dirty="0" err="1">
                <a:latin typeface="맑은 고딕"/>
              </a:rPr>
              <a:t>데이터센터발</a:t>
            </a:r>
            <a:r>
              <a:rPr sz="1000" b="0" i="0" dirty="0">
                <a:latin typeface="맑은 고딕"/>
              </a:rPr>
              <a:t> </a:t>
            </a:r>
            <a:r>
              <a:rPr sz="1000" b="0" i="0" dirty="0" err="1">
                <a:latin typeface="맑은 고딕"/>
              </a:rPr>
              <a:t>전력·저장장치</a:t>
            </a:r>
            <a:r>
              <a:rPr sz="1000" b="0" i="0" dirty="0">
                <a:latin typeface="맑은 고딕"/>
              </a:rPr>
              <a:t> </a:t>
            </a:r>
            <a:r>
              <a:rPr sz="1000" b="0" i="0" dirty="0" err="1">
                <a:latin typeface="맑은 고딕"/>
              </a:rPr>
              <a:t>수요로</a:t>
            </a:r>
            <a:r>
              <a:rPr sz="1000" b="0" i="0" dirty="0">
                <a:latin typeface="맑은 고딕"/>
              </a:rPr>
              <a:t> </a:t>
            </a:r>
            <a:r>
              <a:rPr sz="1000" b="0" i="0" dirty="0" err="1">
                <a:latin typeface="맑은 고딕"/>
              </a:rPr>
              <a:t>고성장한다</a:t>
            </a:r>
            <a:r>
              <a:rPr sz="1000" b="0" i="0" dirty="0">
                <a:latin typeface="맑은 고딕"/>
              </a:rPr>
              <a:t>.</a:t>
            </a:r>
            <a:r>
              <a:rPr sz="1000" b="1" i="0" dirty="0">
                <a:latin typeface="맑은 고딕"/>
              </a:rPr>
              <a:t> [자료1]</a:t>
            </a:r>
          </a:p>
          <a:p>
            <a:pPr algn="just">
              <a:lnSpc>
                <a:spcPct val="125000"/>
              </a:lnSpc>
              <a:spcBef>
                <a:spcPts val="0"/>
              </a:spcBef>
              <a:spcAft>
                <a:spcPts val="700"/>
              </a:spcAft>
            </a:pPr>
            <a:r>
              <a:rPr sz="1000" b="0" i="0" dirty="0">
                <a:latin typeface="맑은 고딕"/>
              </a:rPr>
              <a:t>AI </a:t>
            </a:r>
            <a:r>
              <a:rPr sz="1000" b="0" i="0" dirty="0" err="1">
                <a:latin typeface="맑은 고딕"/>
              </a:rPr>
              <a:t>인프라의</a:t>
            </a:r>
            <a:r>
              <a:rPr sz="1000" b="0" i="0" dirty="0">
                <a:latin typeface="맑은 고딕"/>
              </a:rPr>
              <a:t> </a:t>
            </a:r>
            <a:r>
              <a:rPr sz="1000" b="0" i="0" dirty="0" err="1">
                <a:latin typeface="맑은 고딕"/>
              </a:rPr>
              <a:t>비선형</a:t>
            </a:r>
            <a:r>
              <a:rPr sz="1000" b="0" i="0" dirty="0">
                <a:latin typeface="맑은 고딕"/>
              </a:rPr>
              <a:t> </a:t>
            </a:r>
            <a:r>
              <a:rPr sz="1000" b="0" i="0" dirty="0" err="1">
                <a:latin typeface="맑은 고딕"/>
              </a:rPr>
              <a:t>성장으로</a:t>
            </a:r>
            <a:r>
              <a:rPr sz="1000" b="0" i="0" dirty="0">
                <a:latin typeface="맑은 고딕"/>
              </a:rPr>
              <a:t> 1GW급 GPU </a:t>
            </a:r>
            <a:r>
              <a:rPr sz="1000" b="0" i="0" dirty="0" err="1">
                <a:latin typeface="맑은 고딕"/>
              </a:rPr>
              <a:t>팜에</a:t>
            </a:r>
            <a:r>
              <a:rPr sz="1000" b="0" i="0" dirty="0">
                <a:latin typeface="맑은 고딕"/>
              </a:rPr>
              <a:t> </a:t>
            </a:r>
            <a:r>
              <a:rPr sz="1000" b="0" i="0" dirty="0" err="1">
                <a:latin typeface="맑은 고딕"/>
              </a:rPr>
              <a:t>요구되는</a:t>
            </a:r>
            <a:r>
              <a:rPr sz="1000" b="0" i="0" dirty="0">
                <a:latin typeface="맑은 고딕"/>
              </a:rPr>
              <a:t> </a:t>
            </a:r>
            <a:r>
              <a:rPr sz="1000" b="0" i="0" dirty="0" err="1">
                <a:latin typeface="맑은 고딕"/>
              </a:rPr>
              <a:t>ESS가</a:t>
            </a:r>
            <a:r>
              <a:rPr sz="1000" b="0" i="0" dirty="0">
                <a:latin typeface="맑은 고딕"/>
              </a:rPr>
              <a:t> 2GWh에서 </a:t>
            </a:r>
            <a:r>
              <a:rPr sz="1000" b="0" i="0" dirty="0" err="1">
                <a:latin typeface="맑은 고딕"/>
              </a:rPr>
              <a:t>최대</a:t>
            </a:r>
            <a:r>
              <a:rPr sz="1000" b="0" i="0" dirty="0">
                <a:latin typeface="맑은 고딕"/>
              </a:rPr>
              <a:t> 4GWh까지 </a:t>
            </a:r>
            <a:r>
              <a:rPr sz="1000" b="0" i="0" dirty="0" err="1">
                <a:latin typeface="맑은 고딕"/>
              </a:rPr>
              <a:t>확대되는</a:t>
            </a:r>
            <a:r>
              <a:rPr sz="1000" b="0" i="0" dirty="0">
                <a:latin typeface="맑은 고딕"/>
              </a:rPr>
              <a:t> </a:t>
            </a:r>
            <a:r>
              <a:rPr sz="1000" b="0" i="0" dirty="0" err="1">
                <a:latin typeface="맑은 고딕"/>
              </a:rPr>
              <a:t>추세다</a:t>
            </a:r>
            <a:r>
              <a:rPr sz="1000" b="0" i="0" dirty="0">
                <a:latin typeface="맑은 고딕"/>
              </a:rPr>
              <a:t>. </a:t>
            </a:r>
            <a:r>
              <a:rPr sz="1000" b="0" i="0" dirty="0" err="1">
                <a:latin typeface="맑은 고딕"/>
              </a:rPr>
              <a:t>삼성SDI는</a:t>
            </a:r>
            <a:r>
              <a:rPr sz="1000" b="0" i="0" dirty="0">
                <a:latin typeface="맑은 고딕"/>
              </a:rPr>
              <a:t> EV </a:t>
            </a:r>
            <a:r>
              <a:rPr sz="1000" b="0" i="0" dirty="0" err="1">
                <a:latin typeface="맑은 고딕"/>
              </a:rPr>
              <a:t>외에도</a:t>
            </a:r>
            <a:r>
              <a:rPr sz="1000" b="0" i="0" dirty="0">
                <a:latin typeface="맑은 고딕"/>
              </a:rPr>
              <a:t> </a:t>
            </a:r>
            <a:r>
              <a:rPr sz="1000" b="0" i="0" dirty="0" err="1">
                <a:latin typeface="맑은 고딕"/>
              </a:rPr>
              <a:t>북미</a:t>
            </a:r>
            <a:r>
              <a:rPr sz="1000" b="0" i="0" dirty="0">
                <a:latin typeface="맑은 고딕"/>
              </a:rPr>
              <a:t> </a:t>
            </a:r>
            <a:r>
              <a:rPr sz="1000" b="0" i="0" dirty="0" err="1">
                <a:latin typeface="맑은 고딕"/>
              </a:rPr>
              <a:t>ESS·UPS·BBU·전자재료로</a:t>
            </a:r>
            <a:r>
              <a:rPr sz="1000" b="0" i="0" dirty="0">
                <a:latin typeface="맑은 고딕"/>
              </a:rPr>
              <a:t> </a:t>
            </a:r>
            <a:r>
              <a:rPr sz="1000" b="0" i="0" dirty="0" err="1">
                <a:latin typeface="맑은 고딕"/>
              </a:rPr>
              <a:t>포트폴리오를</a:t>
            </a:r>
            <a:r>
              <a:rPr sz="1000" b="0" i="0" dirty="0">
                <a:latin typeface="맑은 고딕"/>
              </a:rPr>
              <a:t> </a:t>
            </a:r>
            <a:r>
              <a:rPr sz="1000" b="0" i="0" dirty="0" err="1">
                <a:latin typeface="맑은 고딕"/>
              </a:rPr>
              <a:t>넓혀</a:t>
            </a:r>
            <a:r>
              <a:rPr sz="1000" b="0" i="0" dirty="0">
                <a:latin typeface="맑은 고딕"/>
              </a:rPr>
              <a:t> EV </a:t>
            </a:r>
            <a:r>
              <a:rPr sz="1000" b="0" i="0" dirty="0" err="1">
                <a:latin typeface="맑은 고딕"/>
              </a:rPr>
              <a:t>둔화</a:t>
            </a:r>
            <a:r>
              <a:rPr sz="1000" b="0" i="0" dirty="0">
                <a:latin typeface="맑은 고딕"/>
              </a:rPr>
              <a:t> </a:t>
            </a:r>
            <a:r>
              <a:rPr sz="1000" b="0" i="0" dirty="0" err="1">
                <a:latin typeface="맑은 고딕"/>
              </a:rPr>
              <a:t>구간의</a:t>
            </a:r>
            <a:r>
              <a:rPr sz="1000" b="0" i="0" dirty="0">
                <a:latin typeface="맑은 고딕"/>
              </a:rPr>
              <a:t> </a:t>
            </a:r>
            <a:r>
              <a:rPr sz="1000" b="0" i="0" dirty="0" err="1">
                <a:latin typeface="맑은 고딕"/>
              </a:rPr>
              <a:t>대체</a:t>
            </a:r>
            <a:r>
              <a:rPr sz="1000" b="0" i="0" dirty="0">
                <a:latin typeface="맑은 고딕"/>
              </a:rPr>
              <a:t> </a:t>
            </a:r>
            <a:r>
              <a:rPr sz="1000" b="0" i="0" dirty="0" err="1">
                <a:latin typeface="맑은 고딕"/>
              </a:rPr>
              <a:t>수요축을</a:t>
            </a:r>
            <a:r>
              <a:rPr sz="1000" b="0" i="0" dirty="0">
                <a:latin typeface="맑은 고딕"/>
              </a:rPr>
              <a:t> </a:t>
            </a:r>
            <a:r>
              <a:rPr sz="1000" b="0" i="0" dirty="0" err="1">
                <a:latin typeface="맑은 고딕"/>
              </a:rPr>
              <a:t>확보하고</a:t>
            </a:r>
            <a:r>
              <a:rPr sz="1000" b="0" i="0" dirty="0">
                <a:latin typeface="맑은 고딕"/>
              </a:rPr>
              <a:t> </a:t>
            </a:r>
            <a:r>
              <a:rPr sz="1000" b="0" i="0" dirty="0" err="1">
                <a:latin typeface="맑은 고딕"/>
              </a:rPr>
              <a:t>있다</a:t>
            </a:r>
            <a:r>
              <a:rPr sz="1000" b="0" i="0" dirty="0">
                <a:latin typeface="맑은 고딕"/>
              </a:rPr>
              <a:t>.</a:t>
            </a:r>
          </a:p>
        </p:txBody>
      </p:sp>
      <p:sp>
        <p:nvSpPr>
          <p:cNvPr id="8" name="Rectangle 7"/>
          <p:cNvSpPr/>
          <p:nvPr/>
        </p:nvSpPr>
        <p:spPr>
          <a:xfrm>
            <a:off x="457200" y="4205401"/>
            <a:ext cx="5943600" cy="256032"/>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4259550"/>
            <a:ext cx="5797296" cy="147733"/>
          </a:xfrm>
          <a:prstGeom prst="rect">
            <a:avLst/>
          </a:prstGeom>
          <a:solidFill>
            <a:schemeClr val="accent1">
              <a:lumMod val="40000"/>
              <a:lumOff val="60000"/>
            </a:schemeClr>
          </a:solidFill>
        </p:spPr>
        <p:txBody>
          <a:bodyPr wrap="square" lIns="0" tIns="0" rIns="0" bIns="0" anchor="ctr">
            <a:spAutoFit/>
          </a:bodyPr>
          <a:lstStyle/>
          <a:p>
            <a:pPr>
              <a:lnSpc>
                <a:spcPct val="118000"/>
              </a:lnSpc>
              <a:spcBef>
                <a:spcPts val="0"/>
              </a:spcBef>
              <a:spcAft>
                <a:spcPts val="400"/>
              </a:spcAft>
            </a:pPr>
            <a:r>
              <a:rPr sz="900" b="1" i="0" dirty="0">
                <a:latin typeface="맑은 고딕"/>
              </a:rPr>
              <a:t>[자료1] 2026년 </a:t>
            </a:r>
            <a:r>
              <a:rPr sz="900" b="1" i="0" dirty="0" err="1">
                <a:latin typeface="맑은 고딕"/>
              </a:rPr>
              <a:t>글로벌</a:t>
            </a:r>
            <a:r>
              <a:rPr sz="900" b="1" i="0" dirty="0">
                <a:latin typeface="맑은 고딕"/>
              </a:rPr>
              <a:t> </a:t>
            </a:r>
            <a:r>
              <a:rPr sz="900" b="1" i="0" dirty="0" err="1">
                <a:latin typeface="맑은 고딕"/>
              </a:rPr>
              <a:t>배터리</a:t>
            </a:r>
            <a:r>
              <a:rPr sz="900" b="1" i="0" dirty="0">
                <a:latin typeface="맑은 고딕"/>
              </a:rPr>
              <a:t> </a:t>
            </a:r>
            <a:r>
              <a:rPr sz="900" b="1" i="0" dirty="0" err="1">
                <a:latin typeface="맑은 고딕"/>
              </a:rPr>
              <a:t>수요</a:t>
            </a:r>
            <a:r>
              <a:rPr sz="900" b="1" i="0" dirty="0">
                <a:latin typeface="맑은 고딕"/>
              </a:rPr>
              <a:t> </a:t>
            </a:r>
            <a:r>
              <a:rPr sz="900" b="1" i="0" dirty="0" err="1">
                <a:latin typeface="맑은 고딕"/>
              </a:rPr>
              <a:t>전망</a:t>
            </a:r>
            <a:endParaRPr sz="900" b="1" i="0" dirty="0">
              <a:latin typeface="맑은 고딕"/>
            </a:endParaRPr>
          </a:p>
        </p:txBody>
      </p:sp>
      <p:graphicFrame>
        <p:nvGraphicFramePr>
          <p:cNvPr id="10" name="Table 9"/>
          <p:cNvGraphicFramePr>
            <a:graphicFrameLocks noGrp="1"/>
          </p:cNvGraphicFramePr>
          <p:nvPr>
            <p:extLst>
              <p:ext uri="{D42A27DB-BD31-4B8C-83A1-F6EECF244321}">
                <p14:modId xmlns:p14="http://schemas.microsoft.com/office/powerpoint/2010/main" val="1492554376"/>
              </p:ext>
            </p:extLst>
          </p:nvPr>
        </p:nvGraphicFramePr>
        <p:xfrm>
          <a:off x="457200" y="4534585"/>
          <a:ext cx="5943600" cy="1682496"/>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10896">
                <a:tc>
                  <a:txBody>
                    <a:bodyPr/>
                    <a:lstStyle/>
                    <a:p>
                      <a:pPr algn="ctr"/>
                      <a:r>
                        <a:rPr sz="850" b="1" dirty="0" err="1">
                          <a:solidFill>
                            <a:schemeClr val="tx1"/>
                          </a:solidFill>
                          <a:latin typeface="맑은 고딕"/>
                        </a:rPr>
                        <a:t>구분</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a:solidFill>
                            <a:schemeClr val="tx1"/>
                          </a:solidFill>
                          <a:latin typeface="맑은 고딕"/>
                        </a:rPr>
                        <a:t>2026F </a:t>
                      </a:r>
                      <a:r>
                        <a:rPr sz="850" b="1" dirty="0" err="1">
                          <a:solidFill>
                            <a:schemeClr val="tx1"/>
                          </a:solidFill>
                          <a:latin typeface="맑은 고딕"/>
                        </a:rPr>
                        <a:t>수요</a:t>
                      </a:r>
                      <a:r>
                        <a:rPr sz="850" b="1" dirty="0">
                          <a:solidFill>
                            <a:schemeClr val="tx1"/>
                          </a:solidFill>
                          <a:latin typeface="맑은 고딕"/>
                        </a:rPr>
                        <a:t> (</a:t>
                      </a:r>
                      <a:r>
                        <a:rPr sz="850" b="1" dirty="0" err="1">
                          <a:solidFill>
                            <a:schemeClr val="tx1"/>
                          </a:solidFill>
                          <a:latin typeface="맑은 고딕"/>
                        </a:rPr>
                        <a:t>비중</a:t>
                      </a:r>
                      <a:r>
                        <a:rPr sz="850" b="1" dirty="0">
                          <a:solidFill>
                            <a:schemeClr val="tx1"/>
                          </a:solidFill>
                          <a:latin typeface="맑은 고딕"/>
                        </a:rPr>
                        <a:t>)</a:t>
                      </a:r>
                    </a:p>
                  </a:txBody>
                  <a:tcPr marL="45720" marR="36576" marT="18288" marB="18288" anchor="ctr">
                    <a:solidFill>
                      <a:schemeClr val="accent1">
                        <a:lumMod val="40000"/>
                        <a:lumOff val="60000"/>
                      </a:schemeClr>
                    </a:solidFill>
                  </a:tcPr>
                </a:tc>
                <a:tc>
                  <a:txBody>
                    <a:bodyPr/>
                    <a:lstStyle/>
                    <a:p>
                      <a:pPr algn="ctr"/>
                      <a:r>
                        <a:rPr sz="850" b="1" dirty="0">
                          <a:solidFill>
                            <a:schemeClr val="tx1"/>
                          </a:solidFill>
                          <a:latin typeface="맑은 고딕"/>
                        </a:rPr>
                        <a:t>YoY</a:t>
                      </a: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주요</a:t>
                      </a:r>
                      <a:r>
                        <a:rPr sz="850" b="1" dirty="0">
                          <a:solidFill>
                            <a:schemeClr val="tx1"/>
                          </a:solidFill>
                          <a:latin typeface="맑은 고딕"/>
                        </a:rPr>
                        <a:t> </a:t>
                      </a:r>
                      <a:r>
                        <a:rPr sz="850" b="1" dirty="0" err="1">
                          <a:solidFill>
                            <a:schemeClr val="tx1"/>
                          </a:solidFill>
                          <a:latin typeface="맑은 고딕"/>
                        </a:rPr>
                        <a:t>동인</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extLst>
                  <a:ext uri="{0D108BD9-81ED-4DB2-BD59-A6C34878D82A}">
                    <a16:rowId xmlns:a16="http://schemas.microsoft.com/office/drawing/2014/main" val="10000"/>
                  </a:ext>
                </a:extLst>
              </a:tr>
              <a:tr h="457200">
                <a:tc>
                  <a:txBody>
                    <a:bodyPr/>
                    <a:lstStyle/>
                    <a:p>
                      <a:pPr algn="l"/>
                      <a:r>
                        <a:rPr sz="850" b="0" dirty="0" err="1">
                          <a:solidFill>
                            <a:srgbClr val="222222"/>
                          </a:solidFill>
                          <a:latin typeface="맑은 고딕"/>
                        </a:rPr>
                        <a:t>전체</a:t>
                      </a:r>
                      <a:r>
                        <a:rPr sz="850" b="0" dirty="0">
                          <a:solidFill>
                            <a:srgbClr val="222222"/>
                          </a:solidFill>
                          <a:latin typeface="맑은 고딕"/>
                        </a:rPr>
                        <a:t> </a:t>
                      </a:r>
                      <a:r>
                        <a:rPr sz="850" b="0" dirty="0" err="1">
                          <a:solidFill>
                            <a:srgbClr val="222222"/>
                          </a:solidFill>
                          <a:latin typeface="맑은 고딕"/>
                        </a:rPr>
                        <a:t>배터리</a:t>
                      </a:r>
                      <a:endParaRPr sz="850" b="0" dirty="0">
                        <a:solidFill>
                          <a:srgbClr val="222222"/>
                        </a:solidFill>
                        <a:latin typeface="맑은 고딕"/>
                      </a:endParaRPr>
                    </a:p>
                  </a:txBody>
                  <a:tcPr marL="45720" marR="36576" marT="18288" marB="18288" anchor="ctr">
                    <a:solidFill>
                      <a:srgbClr val="FFFFFF"/>
                    </a:solidFill>
                  </a:tcPr>
                </a:tc>
                <a:tc>
                  <a:txBody>
                    <a:bodyPr/>
                    <a:lstStyle/>
                    <a:p>
                      <a:pPr algn="ctr"/>
                      <a:r>
                        <a:rPr sz="850" b="0">
                          <a:solidFill>
                            <a:srgbClr val="222222"/>
                          </a:solidFill>
                          <a:latin typeface="맑은 고딕"/>
                        </a:rPr>
                        <a:t>약 2.1TWh (100%)</a:t>
                      </a:r>
                    </a:p>
                  </a:txBody>
                  <a:tcPr marL="45720" marR="36576" marT="18288" marB="18288" anchor="ctr">
                    <a:solidFill>
                      <a:srgbClr val="FFFFFF"/>
                    </a:solidFill>
                  </a:tcPr>
                </a:tc>
                <a:tc>
                  <a:txBody>
                    <a:bodyPr/>
                    <a:lstStyle/>
                    <a:p>
                      <a:pPr algn="ctr"/>
                      <a:r>
                        <a:rPr sz="850" b="0">
                          <a:solidFill>
                            <a:srgbClr val="222222"/>
                          </a:solidFill>
                          <a:latin typeface="맑은 고딕"/>
                        </a:rPr>
                        <a:t>+12%</a:t>
                      </a:r>
                    </a:p>
                  </a:txBody>
                  <a:tcPr marL="45720" marR="36576" marT="18288" marB="18288" anchor="ctr">
                    <a:solidFill>
                      <a:srgbClr val="FFFFFF"/>
                    </a:solidFill>
                  </a:tcPr>
                </a:tc>
                <a:tc>
                  <a:txBody>
                    <a:bodyPr/>
                    <a:lstStyle/>
                    <a:p>
                      <a:pPr algn="ctr"/>
                      <a:r>
                        <a:rPr sz="850" b="0">
                          <a:solidFill>
                            <a:srgbClr val="222222"/>
                          </a:solidFill>
                          <a:latin typeface="맑은 고딕"/>
                        </a:rPr>
                        <a:t>EV 둔화로 전체 성장폭 축소 기조</a:t>
                      </a:r>
                    </a:p>
                  </a:txBody>
                  <a:tcPr marL="45720" marR="36576"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850" b="0">
                          <a:solidFill>
                            <a:srgbClr val="222222"/>
                          </a:solidFill>
                          <a:latin typeface="맑은 고딕"/>
                        </a:rPr>
                        <a:t>EV향</a:t>
                      </a:r>
                    </a:p>
                  </a:txBody>
                  <a:tcPr marL="45720" marR="36576" marT="18288" marB="18288" anchor="ctr">
                    <a:solidFill>
                      <a:srgbClr val="EEF1F6"/>
                    </a:solidFill>
                  </a:tcPr>
                </a:tc>
                <a:tc>
                  <a:txBody>
                    <a:bodyPr/>
                    <a:lstStyle/>
                    <a:p>
                      <a:pPr algn="ctr"/>
                      <a:r>
                        <a:rPr sz="850" b="0">
                          <a:solidFill>
                            <a:srgbClr val="222222"/>
                          </a:solidFill>
                          <a:latin typeface="맑은 고딕"/>
                        </a:rPr>
                        <a:t>약 1.5TWh (약 72%)</a:t>
                      </a:r>
                    </a:p>
                  </a:txBody>
                  <a:tcPr marL="45720" marR="36576" marT="18288" marB="18288" anchor="ctr">
                    <a:solidFill>
                      <a:srgbClr val="EEF1F6"/>
                    </a:solidFill>
                  </a:tcPr>
                </a:tc>
                <a:tc>
                  <a:txBody>
                    <a:bodyPr/>
                    <a:lstStyle/>
                    <a:p>
                      <a:pPr algn="ctr"/>
                      <a:r>
                        <a:rPr sz="850" b="0">
                          <a:solidFill>
                            <a:srgbClr val="222222"/>
                          </a:solidFill>
                          <a:latin typeface="맑은 고딕"/>
                        </a:rPr>
                        <a:t>+5%</a:t>
                      </a:r>
                    </a:p>
                  </a:txBody>
                  <a:tcPr marL="45720" marR="36576" marT="18288" marB="18288" anchor="ctr">
                    <a:solidFill>
                      <a:srgbClr val="EEF1F6"/>
                    </a:solidFill>
                  </a:tcPr>
                </a:tc>
                <a:tc>
                  <a:txBody>
                    <a:bodyPr/>
                    <a:lstStyle/>
                    <a:p>
                      <a:pPr algn="ctr"/>
                      <a:r>
                        <a:rPr sz="850" b="0">
                          <a:solidFill>
                            <a:srgbClr val="222222"/>
                          </a:solidFill>
                          <a:latin typeface="맑은 고딕"/>
                        </a:rPr>
                        <a:t>보조금 축소·북미·중국 내수 둔화</a:t>
                      </a:r>
                    </a:p>
                  </a:txBody>
                  <a:tcPr marL="45720" marR="36576" marT="18288" marB="18288" anchor="ctr">
                    <a:solidFill>
                      <a:srgbClr val="EEF1F6"/>
                    </a:solidFill>
                  </a:tcPr>
                </a:tc>
                <a:extLst>
                  <a:ext uri="{0D108BD9-81ED-4DB2-BD59-A6C34878D82A}">
                    <a16:rowId xmlns:a16="http://schemas.microsoft.com/office/drawing/2014/main" val="10002"/>
                  </a:ext>
                </a:extLst>
              </a:tr>
              <a:tr h="457200">
                <a:tc>
                  <a:txBody>
                    <a:bodyPr/>
                    <a:lstStyle/>
                    <a:p>
                      <a:pPr algn="l"/>
                      <a:r>
                        <a:rPr sz="850" b="0">
                          <a:solidFill>
                            <a:srgbClr val="222222"/>
                          </a:solidFill>
                          <a:latin typeface="맑은 고딕"/>
                        </a:rPr>
                        <a:t>ESS향</a:t>
                      </a:r>
                    </a:p>
                  </a:txBody>
                  <a:tcPr marL="45720" marR="36576" marT="18288" marB="18288" anchor="ctr">
                    <a:solidFill>
                      <a:srgbClr val="FFFFFF"/>
                    </a:solidFill>
                  </a:tcPr>
                </a:tc>
                <a:tc>
                  <a:txBody>
                    <a:bodyPr/>
                    <a:lstStyle/>
                    <a:p>
                      <a:pPr algn="ctr"/>
                      <a:r>
                        <a:rPr sz="850" b="0">
                          <a:solidFill>
                            <a:srgbClr val="222222"/>
                          </a:solidFill>
                          <a:latin typeface="맑은 고딕"/>
                        </a:rPr>
                        <a:t>약 0.36TWh (약 17%)</a:t>
                      </a:r>
                    </a:p>
                  </a:txBody>
                  <a:tcPr marL="45720" marR="36576" marT="18288" marB="18288" anchor="ctr">
                    <a:solidFill>
                      <a:srgbClr val="FFFFFF"/>
                    </a:solidFill>
                  </a:tcPr>
                </a:tc>
                <a:tc>
                  <a:txBody>
                    <a:bodyPr/>
                    <a:lstStyle/>
                    <a:p>
                      <a:pPr algn="ctr"/>
                      <a:r>
                        <a:rPr sz="850" b="0" dirty="0">
                          <a:solidFill>
                            <a:srgbClr val="222222"/>
                          </a:solidFill>
                          <a:latin typeface="맑은 고딕"/>
                        </a:rPr>
                        <a:t>+17~33%</a:t>
                      </a:r>
                    </a:p>
                  </a:txBody>
                  <a:tcPr marL="45720" marR="36576" marT="18288" marB="18288" anchor="ctr">
                    <a:solidFill>
                      <a:srgbClr val="FFFFFF"/>
                    </a:solidFill>
                  </a:tcPr>
                </a:tc>
                <a:tc>
                  <a:txBody>
                    <a:bodyPr/>
                    <a:lstStyle/>
                    <a:p>
                      <a:pPr algn="ctr"/>
                      <a:r>
                        <a:rPr sz="850" b="0" dirty="0">
                          <a:solidFill>
                            <a:srgbClr val="222222"/>
                          </a:solidFill>
                          <a:latin typeface="맑은 고딕"/>
                        </a:rPr>
                        <a:t>AI </a:t>
                      </a:r>
                      <a:r>
                        <a:rPr sz="850" b="0" dirty="0" err="1">
                          <a:solidFill>
                            <a:srgbClr val="222222"/>
                          </a:solidFill>
                          <a:latin typeface="맑은 고딕"/>
                        </a:rPr>
                        <a:t>데이터센터발</a:t>
                      </a:r>
                      <a:r>
                        <a:rPr sz="850" b="0" dirty="0">
                          <a:solidFill>
                            <a:srgbClr val="222222"/>
                          </a:solidFill>
                          <a:latin typeface="맑은 고딕"/>
                        </a:rPr>
                        <a:t> </a:t>
                      </a:r>
                      <a:r>
                        <a:rPr sz="850" b="0" dirty="0" err="1">
                          <a:solidFill>
                            <a:srgbClr val="222222"/>
                          </a:solidFill>
                          <a:latin typeface="맑은 고딕"/>
                        </a:rPr>
                        <a:t>수요</a:t>
                      </a:r>
                      <a:r>
                        <a:rPr sz="850" b="0" dirty="0">
                          <a:solidFill>
                            <a:srgbClr val="222222"/>
                          </a:solidFill>
                          <a:latin typeface="맑은 고딕"/>
                        </a:rPr>
                        <a:t> </a:t>
                      </a:r>
                      <a:r>
                        <a:rPr sz="850" b="0" dirty="0" err="1">
                          <a:solidFill>
                            <a:srgbClr val="222222"/>
                          </a:solidFill>
                          <a:latin typeface="맑은 고딕"/>
                        </a:rPr>
                        <a:t>폭발</a:t>
                      </a:r>
                      <a:endParaRPr sz="850" b="0" dirty="0">
                        <a:solidFill>
                          <a:srgbClr val="222222"/>
                        </a:solidFill>
                        <a:latin typeface="맑은 고딕"/>
                      </a:endParaRPr>
                    </a:p>
                  </a:txBody>
                  <a:tcPr marL="45720" marR="36576"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6491401"/>
            <a:ext cx="5943600" cy="219456"/>
          </a:xfrm>
          <a:prstGeom prst="rect">
            <a:avLst/>
          </a:prstGeom>
          <a:noFill/>
        </p:spPr>
        <p:txBody>
          <a:bodyPr wrap="square" lIns="0" tIns="0" rIns="0" bIns="0" anchor="t">
            <a:spAutoFit/>
          </a:bodyPr>
          <a:lstStyle/>
          <a:p>
            <a:pPr>
              <a:lnSpc>
                <a:spcPct val="118000"/>
              </a:lnSpc>
              <a:spcBef>
                <a:spcPts val="0"/>
              </a:spcBef>
              <a:spcAft>
                <a:spcPts val="400"/>
              </a:spcAft>
            </a:pPr>
            <a:r>
              <a:rPr sz="750" b="0" i="1">
                <a:solidFill>
                  <a:srgbClr val="6B7785"/>
                </a:solidFill>
                <a:latin typeface="맑은 고딕"/>
              </a:rPr>
              <a:t>출처: SNE Research·BloombergNEF·증권사 전망(2026F), ICOK</a:t>
            </a:r>
          </a:p>
        </p:txBody>
      </p:sp>
      <p:sp>
        <p:nvSpPr>
          <p:cNvPr id="12" name="TextBox 11"/>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3</a:t>
            </a:r>
          </a:p>
        </p:txBody>
      </p:sp>
      <p:sp>
        <p:nvSpPr>
          <p:cNvPr id="14" name="TextBox 10">
            <a:extLst>
              <a:ext uri="{FF2B5EF4-FFF2-40B4-BE49-F238E27FC236}">
                <a16:creationId xmlns:a16="http://schemas.microsoft.com/office/drawing/2014/main" id="{C80E383C-E24A-F44B-E01A-FF03BCD31DDB}"/>
              </a:ext>
            </a:extLst>
          </p:cNvPr>
          <p:cNvSpPr txBox="1"/>
          <p:nvPr/>
        </p:nvSpPr>
        <p:spPr>
          <a:xfrm>
            <a:off x="1672876" y="934621"/>
            <a:ext cx="4646838" cy="514693"/>
          </a:xfrm>
          <a:prstGeom prst="rect">
            <a:avLst/>
          </a:prstGeom>
        </p:spPr>
        <p:txBody>
          <a:bodyPr lIns="0" tIns="0" rIns="0" bIns="0" rtlCol="0" anchor="t">
            <a:spAutoFit/>
          </a:bodyPr>
          <a:lstStyle/>
          <a:p>
            <a:pPr algn="just">
              <a:lnSpc>
                <a:spcPts val="2093"/>
              </a:lnSpc>
            </a:pPr>
            <a:r>
              <a:rPr lang="en-US" altLang="ko-KR" sz="1395" b="1" dirty="0">
                <a:solidFill>
                  <a:srgbClr val="005EB8"/>
                </a:solidFill>
                <a:latin typeface="Pretendard Bold"/>
                <a:ea typeface="Pretendard Bold"/>
                <a:cs typeface="Pretendard Bold"/>
                <a:sym typeface="Pretendard Bold"/>
              </a:rPr>
              <a:t>1.</a:t>
            </a:r>
            <a:r>
              <a:rPr lang="ko-KR" altLang="en-US" sz="1395" b="1" dirty="0">
                <a:solidFill>
                  <a:srgbClr val="005EB8"/>
                </a:solidFill>
                <a:latin typeface="Pretendard Bold"/>
                <a:ea typeface="Pretendard Bold"/>
                <a:cs typeface="Pretendard Bold"/>
                <a:sym typeface="Pretendard Bold"/>
              </a:rPr>
              <a:t> 산업분석</a:t>
            </a:r>
            <a:endParaRPr lang="en" altLang="ko-KR" sz="1395" b="1" dirty="0">
              <a:solidFill>
                <a:srgbClr val="005EB8"/>
              </a:solidFill>
              <a:latin typeface="Pretendard Bold"/>
              <a:ea typeface="Pretendard Bold"/>
              <a:cs typeface="Pretendard Bold"/>
              <a:sym typeface="Pretendard Bold"/>
            </a:endParaRPr>
          </a:p>
          <a:p>
            <a:pPr algn="just">
              <a:lnSpc>
                <a:spcPts val="2093"/>
              </a:lnSpc>
            </a:pPr>
            <a:endParaRPr lang="en-US" sz="1395" b="1" dirty="0">
              <a:solidFill>
                <a:srgbClr val="005EB8"/>
              </a:solidFill>
              <a:latin typeface="Pretendard Bold"/>
              <a:ea typeface="Pretendard Bold"/>
              <a:cs typeface="Pretendard Bold"/>
              <a:sym typeface="Pretendard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201168"/>
          </a:xfrm>
          <a:prstGeom prst="rect">
            <a:avLst/>
          </a:prstGeom>
          <a:noFill/>
        </p:spPr>
        <p:txBody>
          <a:bodyPr wrap="square" lIns="0" tIns="0" rIns="0" bIns="0" anchor="t">
            <a:spAutoFit/>
          </a:bodyPr>
          <a:lstStyle/>
          <a:p>
            <a:pPr>
              <a:lnSpc>
                <a:spcPct val="118000"/>
              </a:lnSpc>
              <a:spcBef>
                <a:spcPts val="0"/>
              </a:spcBef>
              <a:spcAft>
                <a:spcPts val="400"/>
              </a:spcAft>
            </a:pPr>
            <a:r>
              <a:rPr sz="950" b="1" i="0">
                <a:solidFill>
                  <a:srgbClr val="003A75"/>
                </a:solidFill>
                <a:latin typeface="맑은 고딕"/>
              </a:rPr>
              <a:t>산업분석</a:t>
            </a: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8000"/>
              </a:lnSpc>
              <a:spcBef>
                <a:spcPts val="0"/>
              </a:spcBef>
              <a:spcAft>
                <a:spcPts val="400"/>
              </a:spcAft>
            </a:pPr>
            <a:r>
              <a:rPr sz="900" b="0" i="0">
                <a:solidFill>
                  <a:srgbClr val="6B7785"/>
                </a:solidFill>
                <a:latin typeface="맑은 고딕"/>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046795"/>
            <a:ext cx="5943600" cy="180627"/>
          </a:xfrm>
          <a:prstGeom prst="rect">
            <a:avLst/>
          </a:prstGeom>
          <a:noFill/>
        </p:spPr>
        <p:txBody>
          <a:bodyPr wrap="square" lIns="0" tIns="0" rIns="0" bIns="0" anchor="t">
            <a:spAutoFit/>
          </a:bodyPr>
          <a:lstStyle/>
          <a:p>
            <a:pPr>
              <a:lnSpc>
                <a:spcPct val="118000"/>
              </a:lnSpc>
              <a:spcBef>
                <a:spcPts val="0"/>
              </a:spcBef>
              <a:spcAft>
                <a:spcPts val="400"/>
              </a:spcAft>
            </a:pPr>
            <a:r>
              <a:rPr sz="1100" b="1" i="0" dirty="0">
                <a:latin typeface="맑은 고딕"/>
              </a:rPr>
              <a:t>1.2  </a:t>
            </a:r>
            <a:r>
              <a:rPr sz="1100" b="1" i="0" dirty="0" err="1">
                <a:latin typeface="맑은 고딕"/>
              </a:rPr>
              <a:t>ESS·데이터센터</a:t>
            </a:r>
            <a:r>
              <a:rPr sz="1100" b="1" i="0" dirty="0">
                <a:latin typeface="맑은 고딕"/>
              </a:rPr>
              <a:t> </a:t>
            </a:r>
            <a:r>
              <a:rPr sz="1100" b="1" i="0" dirty="0" err="1">
                <a:latin typeface="맑은 고딕"/>
              </a:rPr>
              <a:t>전력</a:t>
            </a:r>
            <a:r>
              <a:rPr sz="1100" b="1" i="0" dirty="0">
                <a:latin typeface="맑은 고딕"/>
              </a:rPr>
              <a:t> — </a:t>
            </a:r>
            <a:r>
              <a:rPr sz="1100" b="1" i="0" dirty="0" err="1">
                <a:latin typeface="맑은 고딕"/>
              </a:rPr>
              <a:t>북미</a:t>
            </a:r>
            <a:r>
              <a:rPr sz="1100" b="1" i="0" dirty="0">
                <a:latin typeface="맑은 고딕"/>
              </a:rPr>
              <a:t> Grid ESS + UPS·BBU</a:t>
            </a:r>
          </a:p>
        </p:txBody>
      </p:sp>
      <p:sp>
        <p:nvSpPr>
          <p:cNvPr id="6" name="TextBox 5"/>
          <p:cNvSpPr txBox="1"/>
          <p:nvPr/>
        </p:nvSpPr>
        <p:spPr>
          <a:xfrm>
            <a:off x="1371600" y="1350387"/>
            <a:ext cx="5943600" cy="164148"/>
          </a:xfrm>
          <a:prstGeom prst="rect">
            <a:avLst/>
          </a:prstGeom>
          <a:noFill/>
        </p:spPr>
        <p:txBody>
          <a:bodyPr wrap="square" lIns="0" tIns="0" rIns="0" bIns="0" anchor="t">
            <a:spAutoFit/>
          </a:bodyPr>
          <a:lstStyle/>
          <a:p>
            <a:pPr>
              <a:lnSpc>
                <a:spcPct val="118000"/>
              </a:lnSpc>
              <a:spcBef>
                <a:spcPts val="0"/>
              </a:spcBef>
              <a:spcAft>
                <a:spcPts val="400"/>
              </a:spcAft>
            </a:pPr>
            <a:r>
              <a:rPr sz="1000" b="1" dirty="0" err="1">
                <a:latin typeface="맑은 고딕"/>
              </a:rPr>
              <a:t>데이터센터</a:t>
            </a:r>
            <a:r>
              <a:rPr sz="1000" b="1" dirty="0">
                <a:latin typeface="맑은 고딕"/>
              </a:rPr>
              <a:t> </a:t>
            </a:r>
            <a:r>
              <a:rPr sz="1000" b="1" dirty="0" err="1">
                <a:latin typeface="맑은 고딕"/>
              </a:rPr>
              <a:t>수요의</a:t>
            </a:r>
            <a:r>
              <a:rPr sz="1000" b="1" dirty="0">
                <a:latin typeface="맑은 고딕"/>
              </a:rPr>
              <a:t> </a:t>
            </a:r>
            <a:r>
              <a:rPr sz="1000" b="1" dirty="0" err="1">
                <a:latin typeface="맑은 고딕"/>
              </a:rPr>
              <a:t>최대</a:t>
            </a:r>
            <a:r>
              <a:rPr sz="1000" b="1" dirty="0">
                <a:latin typeface="맑은 고딕"/>
              </a:rPr>
              <a:t> </a:t>
            </a:r>
            <a:r>
              <a:rPr sz="1000" b="1" dirty="0" err="1">
                <a:latin typeface="맑은 고딕"/>
              </a:rPr>
              <a:t>수혜처는</a:t>
            </a:r>
            <a:r>
              <a:rPr sz="1000" b="1" dirty="0">
                <a:latin typeface="맑은 고딕"/>
              </a:rPr>
              <a:t> </a:t>
            </a:r>
            <a:r>
              <a:rPr sz="1000" b="1" dirty="0" err="1">
                <a:latin typeface="맑은 고딕"/>
              </a:rPr>
              <a:t>전력망</a:t>
            </a:r>
            <a:r>
              <a:rPr sz="1000" b="1" dirty="0">
                <a:latin typeface="맑은 고딕"/>
              </a:rPr>
              <a:t> </a:t>
            </a:r>
            <a:r>
              <a:rPr sz="1000" b="1" dirty="0" err="1">
                <a:latin typeface="맑은 고딕"/>
              </a:rPr>
              <a:t>안정화용</a:t>
            </a:r>
            <a:r>
              <a:rPr sz="1000" b="1" dirty="0">
                <a:latin typeface="맑은 고딕"/>
              </a:rPr>
              <a:t> Grid </a:t>
            </a:r>
            <a:r>
              <a:rPr sz="1000" b="1" dirty="0" err="1">
                <a:latin typeface="맑은 고딕"/>
              </a:rPr>
              <a:t>ESS와</a:t>
            </a:r>
            <a:r>
              <a:rPr sz="1000" b="1" dirty="0">
                <a:latin typeface="맑은 고딕"/>
              </a:rPr>
              <a:t> </a:t>
            </a:r>
            <a:r>
              <a:rPr sz="1000" b="1" dirty="0" err="1">
                <a:latin typeface="맑은 고딕"/>
              </a:rPr>
              <a:t>비상전원</a:t>
            </a:r>
            <a:r>
              <a:rPr sz="1000" b="1" dirty="0">
                <a:latin typeface="맑은 고딕"/>
              </a:rPr>
              <a:t>(UPS·BBU)</a:t>
            </a:r>
          </a:p>
        </p:txBody>
      </p:sp>
      <p:sp>
        <p:nvSpPr>
          <p:cNvPr id="7" name="TextBox 6"/>
          <p:cNvSpPr txBox="1"/>
          <p:nvPr/>
        </p:nvSpPr>
        <p:spPr>
          <a:xfrm>
            <a:off x="1371600" y="1678662"/>
            <a:ext cx="5029200" cy="1608517"/>
          </a:xfrm>
          <a:prstGeom prst="rect">
            <a:avLst/>
          </a:prstGeom>
          <a:noFill/>
        </p:spPr>
        <p:txBody>
          <a:bodyPr wrap="square" lIns="0" tIns="0" rIns="0" bIns="0" anchor="t">
            <a:spAutoFit/>
          </a:bodyPr>
          <a:lstStyle/>
          <a:p>
            <a:pPr algn="just">
              <a:lnSpc>
                <a:spcPct val="125000"/>
              </a:lnSpc>
              <a:spcBef>
                <a:spcPts val="0"/>
              </a:spcBef>
              <a:spcAft>
                <a:spcPts val="700"/>
              </a:spcAft>
            </a:pPr>
            <a:r>
              <a:rPr sz="1000" b="0" i="0" dirty="0" err="1">
                <a:solidFill>
                  <a:srgbClr val="222222"/>
                </a:solidFill>
                <a:latin typeface="맑은 고딕"/>
              </a:rPr>
              <a:t>데이터센터</a:t>
            </a:r>
            <a:r>
              <a:rPr sz="1000" b="0" i="0" dirty="0">
                <a:solidFill>
                  <a:srgbClr val="222222"/>
                </a:solidFill>
                <a:latin typeface="맑은 고딕"/>
              </a:rPr>
              <a:t> </a:t>
            </a:r>
            <a:r>
              <a:rPr sz="1000" b="0" i="0" dirty="0" err="1">
                <a:solidFill>
                  <a:srgbClr val="222222"/>
                </a:solidFill>
                <a:latin typeface="맑은 고딕"/>
              </a:rPr>
              <a:t>수요</a:t>
            </a:r>
            <a:r>
              <a:rPr sz="1000" b="0" i="0" dirty="0">
                <a:solidFill>
                  <a:srgbClr val="222222"/>
                </a:solidFill>
                <a:latin typeface="맑은 고딕"/>
              </a:rPr>
              <a:t> </a:t>
            </a:r>
            <a:r>
              <a:rPr sz="1000" b="0" i="0" dirty="0" err="1">
                <a:solidFill>
                  <a:srgbClr val="222222"/>
                </a:solidFill>
                <a:latin typeface="맑은 고딕"/>
              </a:rPr>
              <a:t>증가의</a:t>
            </a:r>
            <a:r>
              <a:rPr sz="1000" b="0" i="0" dirty="0">
                <a:solidFill>
                  <a:srgbClr val="222222"/>
                </a:solidFill>
                <a:latin typeface="맑은 고딕"/>
              </a:rPr>
              <a:t> </a:t>
            </a:r>
            <a:r>
              <a:rPr sz="1000" b="0" i="0" dirty="0" err="1">
                <a:solidFill>
                  <a:srgbClr val="222222"/>
                </a:solidFill>
                <a:latin typeface="맑은 고딕"/>
              </a:rPr>
              <a:t>가장</a:t>
            </a:r>
            <a:r>
              <a:rPr sz="1000" b="0" i="0" dirty="0">
                <a:solidFill>
                  <a:srgbClr val="222222"/>
                </a:solidFill>
                <a:latin typeface="맑은 고딕"/>
              </a:rPr>
              <a:t> 큰 </a:t>
            </a:r>
            <a:r>
              <a:rPr sz="1000" b="0" i="0" dirty="0" err="1">
                <a:solidFill>
                  <a:srgbClr val="222222"/>
                </a:solidFill>
                <a:latin typeface="맑은 고딕"/>
              </a:rPr>
              <a:t>수혜처는</a:t>
            </a:r>
            <a:r>
              <a:rPr sz="1000" b="0" i="0" dirty="0">
                <a:solidFill>
                  <a:srgbClr val="222222"/>
                </a:solidFill>
                <a:latin typeface="맑은 고딕"/>
              </a:rPr>
              <a:t> </a:t>
            </a:r>
            <a:r>
              <a:rPr sz="1000" b="0" i="0" dirty="0" err="1">
                <a:solidFill>
                  <a:srgbClr val="222222"/>
                </a:solidFill>
                <a:latin typeface="맑은 고딕"/>
              </a:rPr>
              <a:t>전력망</a:t>
            </a:r>
            <a:r>
              <a:rPr sz="1000" b="0" i="0" dirty="0">
                <a:solidFill>
                  <a:srgbClr val="222222"/>
                </a:solidFill>
                <a:latin typeface="맑은 고딕"/>
              </a:rPr>
              <a:t> </a:t>
            </a:r>
            <a:r>
              <a:rPr sz="1000" b="0" i="0" dirty="0" err="1">
                <a:solidFill>
                  <a:srgbClr val="222222"/>
                </a:solidFill>
                <a:latin typeface="맑은 고딕"/>
              </a:rPr>
              <a:t>안정화를</a:t>
            </a:r>
            <a:r>
              <a:rPr sz="1000" b="0" i="0" dirty="0">
                <a:solidFill>
                  <a:srgbClr val="222222"/>
                </a:solidFill>
                <a:latin typeface="맑은 고딕"/>
              </a:rPr>
              <a:t> </a:t>
            </a:r>
            <a:r>
              <a:rPr sz="1000" b="0" i="0" dirty="0" err="1">
                <a:solidFill>
                  <a:srgbClr val="222222"/>
                </a:solidFill>
                <a:latin typeface="맑은 고딕"/>
              </a:rPr>
              <a:t>위한</a:t>
            </a:r>
            <a:r>
              <a:rPr sz="1000" b="0" i="0" dirty="0">
                <a:solidFill>
                  <a:srgbClr val="222222"/>
                </a:solidFill>
                <a:latin typeface="맑은 고딕"/>
              </a:rPr>
              <a:t> Grid </a:t>
            </a:r>
            <a:r>
              <a:rPr sz="1000" b="0" i="0" dirty="0" err="1">
                <a:solidFill>
                  <a:srgbClr val="222222"/>
                </a:solidFill>
                <a:latin typeface="맑은 고딕"/>
              </a:rPr>
              <a:t>ESS다</a:t>
            </a:r>
            <a:r>
              <a:rPr sz="1000" b="0" i="0" dirty="0">
                <a:solidFill>
                  <a:srgbClr val="222222"/>
                </a:solidFill>
                <a:latin typeface="맑은 고딕"/>
              </a:rPr>
              <a:t>. AI </a:t>
            </a:r>
            <a:r>
              <a:rPr sz="1000" b="0" i="0" dirty="0" err="1">
                <a:solidFill>
                  <a:srgbClr val="222222"/>
                </a:solidFill>
                <a:latin typeface="맑은 고딕"/>
              </a:rPr>
              <a:t>데이터센터</a:t>
            </a:r>
            <a:r>
              <a:rPr sz="1000" b="0" i="0" dirty="0">
                <a:solidFill>
                  <a:srgbClr val="222222"/>
                </a:solidFill>
                <a:latin typeface="맑은 고딕"/>
              </a:rPr>
              <a:t> </a:t>
            </a:r>
            <a:r>
              <a:rPr sz="1000" b="0" i="0" dirty="0" err="1">
                <a:solidFill>
                  <a:srgbClr val="222222"/>
                </a:solidFill>
                <a:latin typeface="맑은 고딕"/>
              </a:rPr>
              <a:t>급증으로</a:t>
            </a:r>
            <a:r>
              <a:rPr sz="1000" b="0" i="0" dirty="0">
                <a:solidFill>
                  <a:srgbClr val="222222"/>
                </a:solidFill>
                <a:latin typeface="맑은 고딕"/>
              </a:rPr>
              <a:t> </a:t>
            </a:r>
            <a:r>
              <a:rPr sz="1000" b="0" i="0" dirty="0" err="1">
                <a:solidFill>
                  <a:srgbClr val="222222"/>
                </a:solidFill>
                <a:latin typeface="맑은 고딕"/>
              </a:rPr>
              <a:t>전력</a:t>
            </a:r>
            <a:r>
              <a:rPr sz="1000" b="0" i="0" dirty="0">
                <a:solidFill>
                  <a:srgbClr val="222222"/>
                </a:solidFill>
                <a:latin typeface="맑은 고딕"/>
              </a:rPr>
              <a:t> </a:t>
            </a:r>
            <a:r>
              <a:rPr sz="1000" b="0" i="0" dirty="0" err="1">
                <a:solidFill>
                  <a:srgbClr val="222222"/>
                </a:solidFill>
                <a:latin typeface="맑은 고딕"/>
              </a:rPr>
              <a:t>피크가</a:t>
            </a:r>
            <a:r>
              <a:rPr sz="1000" b="0" i="0" dirty="0">
                <a:solidFill>
                  <a:srgbClr val="222222"/>
                </a:solidFill>
                <a:latin typeface="맑은 고딕"/>
              </a:rPr>
              <a:t> </a:t>
            </a:r>
            <a:r>
              <a:rPr sz="1000" b="0" i="0" dirty="0" err="1">
                <a:solidFill>
                  <a:srgbClr val="222222"/>
                </a:solidFill>
                <a:latin typeface="맑은 고딕"/>
              </a:rPr>
              <a:t>높아지고</a:t>
            </a:r>
            <a:r>
              <a:rPr sz="1000" b="0" i="0" dirty="0">
                <a:solidFill>
                  <a:srgbClr val="222222"/>
                </a:solidFill>
                <a:latin typeface="맑은 고딕"/>
              </a:rPr>
              <a:t> </a:t>
            </a:r>
            <a:r>
              <a:rPr sz="1000" b="0" i="0" dirty="0" err="1">
                <a:solidFill>
                  <a:srgbClr val="222222"/>
                </a:solidFill>
                <a:latin typeface="맑은 고딕"/>
              </a:rPr>
              <a:t>재생에너지</a:t>
            </a:r>
            <a:r>
              <a:rPr sz="1000" b="0" i="0" dirty="0">
                <a:solidFill>
                  <a:srgbClr val="222222"/>
                </a:solidFill>
                <a:latin typeface="맑은 고딕"/>
              </a:rPr>
              <a:t> </a:t>
            </a:r>
            <a:r>
              <a:rPr sz="1000" b="0" i="0" dirty="0" err="1">
                <a:solidFill>
                  <a:srgbClr val="222222"/>
                </a:solidFill>
                <a:latin typeface="맑은 고딕"/>
              </a:rPr>
              <a:t>설치가</a:t>
            </a:r>
            <a:r>
              <a:rPr sz="1000" b="0" i="0" dirty="0">
                <a:solidFill>
                  <a:srgbClr val="222222"/>
                </a:solidFill>
                <a:latin typeface="맑은 고딕"/>
              </a:rPr>
              <a:t> </a:t>
            </a:r>
            <a:r>
              <a:rPr sz="1000" b="0" i="0" dirty="0" err="1">
                <a:solidFill>
                  <a:srgbClr val="222222"/>
                </a:solidFill>
                <a:latin typeface="맑은 고딕"/>
              </a:rPr>
              <a:t>늘면서</a:t>
            </a:r>
            <a:r>
              <a:rPr sz="1000" b="0" i="0" dirty="0">
                <a:solidFill>
                  <a:srgbClr val="222222"/>
                </a:solidFill>
                <a:latin typeface="맑은 고딕"/>
              </a:rPr>
              <a:t>, </a:t>
            </a:r>
            <a:r>
              <a:rPr sz="1000" b="0" i="0" dirty="0" err="1">
                <a:solidFill>
                  <a:srgbClr val="222222"/>
                </a:solidFill>
                <a:latin typeface="맑은 고딕"/>
              </a:rPr>
              <a:t>간헐성</a:t>
            </a:r>
            <a:r>
              <a:rPr sz="1000" b="0" i="0" dirty="0">
                <a:solidFill>
                  <a:srgbClr val="222222"/>
                </a:solidFill>
                <a:latin typeface="맑은 고딕"/>
              </a:rPr>
              <a:t> </a:t>
            </a:r>
            <a:r>
              <a:rPr sz="1000" b="0" i="0" dirty="0" err="1">
                <a:solidFill>
                  <a:srgbClr val="222222"/>
                </a:solidFill>
                <a:latin typeface="맑은 고딕"/>
              </a:rPr>
              <a:t>보완을</a:t>
            </a:r>
            <a:r>
              <a:rPr sz="1000" b="0" i="0" dirty="0">
                <a:solidFill>
                  <a:srgbClr val="222222"/>
                </a:solidFill>
                <a:latin typeface="맑은 고딕"/>
              </a:rPr>
              <a:t> </a:t>
            </a:r>
            <a:r>
              <a:rPr sz="1000" b="0" i="0" dirty="0" err="1">
                <a:solidFill>
                  <a:srgbClr val="222222"/>
                </a:solidFill>
                <a:latin typeface="맑은 고딕"/>
              </a:rPr>
              <a:t>위한</a:t>
            </a:r>
            <a:r>
              <a:rPr sz="1000" b="0" i="0" dirty="0">
                <a:solidFill>
                  <a:srgbClr val="222222"/>
                </a:solidFill>
                <a:latin typeface="맑은 고딕"/>
              </a:rPr>
              <a:t> ESS </a:t>
            </a:r>
            <a:r>
              <a:rPr sz="1000" b="0" i="0" dirty="0" err="1">
                <a:solidFill>
                  <a:srgbClr val="222222"/>
                </a:solidFill>
                <a:latin typeface="맑은 고딕"/>
              </a:rPr>
              <a:t>수요가</a:t>
            </a:r>
            <a:r>
              <a:rPr sz="1000" b="0" i="0" dirty="0">
                <a:solidFill>
                  <a:srgbClr val="222222"/>
                </a:solidFill>
                <a:latin typeface="맑은 고딕"/>
              </a:rPr>
              <a:t> </a:t>
            </a:r>
            <a:r>
              <a:rPr sz="1000" b="0" i="0" dirty="0" err="1">
                <a:solidFill>
                  <a:srgbClr val="222222"/>
                </a:solidFill>
                <a:latin typeface="맑은 고딕"/>
              </a:rPr>
              <a:t>구조적으로</a:t>
            </a:r>
            <a:r>
              <a:rPr sz="1000" b="0" i="0" dirty="0">
                <a:solidFill>
                  <a:srgbClr val="222222"/>
                </a:solidFill>
                <a:latin typeface="맑은 고딕"/>
              </a:rPr>
              <a:t> </a:t>
            </a:r>
            <a:r>
              <a:rPr sz="1000" b="0" i="0" dirty="0" err="1">
                <a:solidFill>
                  <a:srgbClr val="222222"/>
                </a:solidFill>
                <a:latin typeface="맑은 고딕"/>
              </a:rPr>
              <a:t>확대된다</a:t>
            </a:r>
            <a:r>
              <a:rPr sz="1000" b="0" i="0" dirty="0">
                <a:solidFill>
                  <a:srgbClr val="222222"/>
                </a:solidFill>
                <a:latin typeface="맑은 고딕"/>
              </a:rPr>
              <a:t>. </a:t>
            </a:r>
            <a:r>
              <a:rPr sz="1000" b="0" i="0" dirty="0" err="1">
                <a:solidFill>
                  <a:srgbClr val="222222"/>
                </a:solidFill>
                <a:latin typeface="맑은 고딕"/>
              </a:rPr>
              <a:t>수명</a:t>
            </a:r>
            <a:r>
              <a:rPr sz="1000" b="0" i="0" dirty="0">
                <a:solidFill>
                  <a:srgbClr val="222222"/>
                </a:solidFill>
                <a:latin typeface="맑은 고딕"/>
              </a:rPr>
              <a:t> </a:t>
            </a:r>
            <a:r>
              <a:rPr sz="1000" b="0" i="0" dirty="0" err="1">
                <a:solidFill>
                  <a:srgbClr val="222222"/>
                </a:solidFill>
                <a:latin typeface="맑은 고딕"/>
              </a:rPr>
              <a:t>특성상</a:t>
            </a:r>
            <a:r>
              <a:rPr sz="1000" b="0" i="0" dirty="0">
                <a:solidFill>
                  <a:srgbClr val="222222"/>
                </a:solidFill>
                <a:latin typeface="맑은 고딕"/>
              </a:rPr>
              <a:t> Grid </a:t>
            </a:r>
            <a:r>
              <a:rPr sz="1000" b="0" i="0" dirty="0" err="1">
                <a:solidFill>
                  <a:srgbClr val="222222"/>
                </a:solidFill>
                <a:latin typeface="맑은 고딕"/>
              </a:rPr>
              <a:t>ESS는</a:t>
            </a:r>
            <a:r>
              <a:rPr sz="1000" b="0" i="0" dirty="0">
                <a:solidFill>
                  <a:srgbClr val="222222"/>
                </a:solidFill>
                <a:latin typeface="맑은 고딕"/>
              </a:rPr>
              <a:t> LFP </a:t>
            </a:r>
            <a:r>
              <a:rPr sz="1000" b="0" i="0" dirty="0" err="1">
                <a:solidFill>
                  <a:srgbClr val="222222"/>
                </a:solidFill>
                <a:latin typeface="맑은 고딕"/>
              </a:rPr>
              <a:t>중심으로</a:t>
            </a:r>
            <a:r>
              <a:rPr sz="1000" b="0" i="0" dirty="0">
                <a:solidFill>
                  <a:srgbClr val="222222"/>
                </a:solidFill>
                <a:latin typeface="맑은 고딕"/>
              </a:rPr>
              <a:t> </a:t>
            </a:r>
            <a:r>
              <a:rPr sz="1000" b="0" i="0" dirty="0" err="1">
                <a:solidFill>
                  <a:srgbClr val="222222"/>
                </a:solidFill>
                <a:latin typeface="맑은 고딕"/>
              </a:rPr>
              <a:t>성장한다</a:t>
            </a:r>
            <a:r>
              <a:rPr sz="1000" b="0" i="0" dirty="0">
                <a:solidFill>
                  <a:srgbClr val="222222"/>
                </a:solidFill>
                <a:latin typeface="맑은 고딕"/>
              </a:rPr>
              <a:t>.</a:t>
            </a:r>
          </a:p>
          <a:p>
            <a:pPr algn="just">
              <a:lnSpc>
                <a:spcPct val="125000"/>
              </a:lnSpc>
              <a:spcBef>
                <a:spcPts val="0"/>
              </a:spcBef>
              <a:spcAft>
                <a:spcPts val="700"/>
              </a:spcAft>
            </a:pPr>
            <a:r>
              <a:rPr sz="1000" b="0" i="0" dirty="0" err="1">
                <a:solidFill>
                  <a:srgbClr val="222222"/>
                </a:solidFill>
                <a:latin typeface="맑은 고딕"/>
              </a:rPr>
              <a:t>데이터센터</a:t>
            </a:r>
            <a:r>
              <a:rPr sz="1000" b="0" i="0" dirty="0">
                <a:solidFill>
                  <a:srgbClr val="222222"/>
                </a:solidFill>
                <a:latin typeface="맑은 고딕"/>
              </a:rPr>
              <a:t> </a:t>
            </a:r>
            <a:r>
              <a:rPr sz="1000" b="0" i="0" dirty="0" err="1">
                <a:solidFill>
                  <a:srgbClr val="222222"/>
                </a:solidFill>
                <a:latin typeface="맑은 고딕"/>
              </a:rPr>
              <a:t>전력보호</a:t>
            </a:r>
            <a:r>
              <a:rPr sz="1000" b="0" i="0" dirty="0">
                <a:solidFill>
                  <a:srgbClr val="222222"/>
                </a:solidFill>
                <a:latin typeface="맑은 고딕"/>
              </a:rPr>
              <a:t>(UPS·BBU) </a:t>
            </a:r>
            <a:r>
              <a:rPr sz="1000" b="0" i="0" dirty="0" err="1">
                <a:solidFill>
                  <a:srgbClr val="222222"/>
                </a:solidFill>
                <a:latin typeface="맑은 고딕"/>
              </a:rPr>
              <a:t>시장의</a:t>
            </a:r>
            <a:r>
              <a:rPr sz="1000" b="0" i="0" dirty="0">
                <a:solidFill>
                  <a:srgbClr val="222222"/>
                </a:solidFill>
                <a:latin typeface="맑은 고딕"/>
              </a:rPr>
              <a:t> </a:t>
            </a:r>
            <a:r>
              <a:rPr sz="1000" b="0" i="0" dirty="0" err="1">
                <a:solidFill>
                  <a:srgbClr val="222222"/>
                </a:solidFill>
                <a:latin typeface="맑은 고딕"/>
              </a:rPr>
              <a:t>핵심</a:t>
            </a:r>
            <a:r>
              <a:rPr sz="1000" b="0" i="0" dirty="0">
                <a:solidFill>
                  <a:srgbClr val="222222"/>
                </a:solidFill>
                <a:latin typeface="맑은 고딕"/>
              </a:rPr>
              <a:t> </a:t>
            </a:r>
            <a:r>
              <a:rPr sz="1000" b="0" i="0" dirty="0" err="1">
                <a:solidFill>
                  <a:srgbClr val="222222"/>
                </a:solidFill>
                <a:latin typeface="맑은 고딕"/>
              </a:rPr>
              <a:t>드라이버는</a:t>
            </a:r>
            <a:r>
              <a:rPr sz="1000" b="0" i="0" dirty="0">
                <a:solidFill>
                  <a:srgbClr val="222222"/>
                </a:solidFill>
                <a:latin typeface="맑은 고딕"/>
              </a:rPr>
              <a:t> </a:t>
            </a:r>
            <a:r>
              <a:rPr sz="1000" b="0" i="0" dirty="0" err="1">
                <a:solidFill>
                  <a:srgbClr val="222222"/>
                </a:solidFill>
                <a:latin typeface="맑은 고딕"/>
              </a:rPr>
              <a:t>서버</a:t>
            </a:r>
            <a:r>
              <a:rPr sz="1000" b="0" i="0" dirty="0">
                <a:solidFill>
                  <a:srgbClr val="222222"/>
                </a:solidFill>
                <a:latin typeface="맑은 고딕"/>
              </a:rPr>
              <a:t> 수 </a:t>
            </a:r>
            <a:r>
              <a:rPr sz="1000" b="0" i="0" dirty="0" err="1">
                <a:solidFill>
                  <a:srgbClr val="222222"/>
                </a:solidFill>
                <a:latin typeface="맑은 고딕"/>
              </a:rPr>
              <a:t>증가가</a:t>
            </a:r>
            <a:r>
              <a:rPr sz="1000" b="0" i="0" dirty="0">
                <a:solidFill>
                  <a:srgbClr val="222222"/>
                </a:solidFill>
                <a:latin typeface="맑은 고딕"/>
              </a:rPr>
              <a:t> </a:t>
            </a:r>
            <a:r>
              <a:rPr sz="1000" b="0" i="0" dirty="0" err="1">
                <a:solidFill>
                  <a:srgbClr val="222222"/>
                </a:solidFill>
                <a:latin typeface="맑은 고딕"/>
              </a:rPr>
              <a:t>아니라</a:t>
            </a:r>
            <a:r>
              <a:rPr sz="1000" b="0" i="0" dirty="0">
                <a:solidFill>
                  <a:srgbClr val="222222"/>
                </a:solidFill>
                <a:latin typeface="맑은 고딕"/>
              </a:rPr>
              <a:t> AI </a:t>
            </a:r>
            <a:r>
              <a:rPr sz="1000" b="0" i="0" dirty="0" err="1">
                <a:solidFill>
                  <a:srgbClr val="222222"/>
                </a:solidFill>
                <a:latin typeface="맑은 고딕"/>
              </a:rPr>
              <a:t>랙의</a:t>
            </a:r>
            <a:r>
              <a:rPr sz="1000" b="0" i="0" dirty="0">
                <a:solidFill>
                  <a:srgbClr val="222222"/>
                </a:solidFill>
                <a:latin typeface="맑은 고딕"/>
              </a:rPr>
              <a:t> </a:t>
            </a:r>
            <a:r>
              <a:rPr sz="1000" b="0" i="0" dirty="0" err="1">
                <a:solidFill>
                  <a:srgbClr val="222222"/>
                </a:solidFill>
                <a:latin typeface="맑은 고딕"/>
              </a:rPr>
              <a:t>전력밀도</a:t>
            </a:r>
            <a:r>
              <a:rPr sz="1000" b="0" i="0" dirty="0">
                <a:solidFill>
                  <a:srgbClr val="222222"/>
                </a:solidFill>
                <a:latin typeface="맑은 고딕"/>
              </a:rPr>
              <a:t> </a:t>
            </a:r>
            <a:r>
              <a:rPr sz="1000" b="0" i="0" dirty="0" err="1">
                <a:solidFill>
                  <a:srgbClr val="222222"/>
                </a:solidFill>
                <a:latin typeface="맑은 고딕"/>
              </a:rPr>
              <a:t>상승이다</a:t>
            </a:r>
            <a:r>
              <a:rPr sz="1000" b="0" i="0" dirty="0">
                <a:solidFill>
                  <a:srgbClr val="222222"/>
                </a:solidFill>
                <a:latin typeface="맑은 고딕"/>
              </a:rPr>
              <a:t>. </a:t>
            </a:r>
            <a:r>
              <a:rPr sz="1000" b="0" i="0" dirty="0" err="1">
                <a:solidFill>
                  <a:srgbClr val="222222"/>
                </a:solidFill>
                <a:latin typeface="맑은 고딕"/>
              </a:rPr>
              <a:t>전통</a:t>
            </a:r>
            <a:r>
              <a:rPr sz="1000" b="0" i="0" dirty="0">
                <a:solidFill>
                  <a:srgbClr val="222222"/>
                </a:solidFill>
                <a:latin typeface="맑은 고딕"/>
              </a:rPr>
              <a:t> </a:t>
            </a:r>
            <a:r>
              <a:rPr sz="1000" b="0" i="0" dirty="0" err="1">
                <a:solidFill>
                  <a:srgbClr val="222222"/>
                </a:solidFill>
                <a:latin typeface="맑은 고딕"/>
              </a:rPr>
              <a:t>서버랙</a:t>
            </a:r>
            <a:r>
              <a:rPr sz="1000" b="0" i="0" dirty="0">
                <a:solidFill>
                  <a:srgbClr val="222222"/>
                </a:solidFill>
                <a:latin typeface="맑은 고딕"/>
              </a:rPr>
              <a:t>(10kW, </a:t>
            </a:r>
            <a:r>
              <a:rPr sz="1000" b="0" i="0" dirty="0" err="1">
                <a:solidFill>
                  <a:srgbClr val="222222"/>
                </a:solidFill>
                <a:latin typeface="맑은 고딕"/>
              </a:rPr>
              <a:t>랙당</a:t>
            </a:r>
            <a:r>
              <a:rPr sz="1000" b="0" i="0" dirty="0">
                <a:solidFill>
                  <a:srgbClr val="222222"/>
                </a:solidFill>
                <a:latin typeface="맑은 고딕"/>
              </a:rPr>
              <a:t> 약 1kWh)</a:t>
            </a:r>
            <a:r>
              <a:rPr sz="1000" b="0" i="0" dirty="0" err="1">
                <a:solidFill>
                  <a:srgbClr val="222222"/>
                </a:solidFill>
                <a:latin typeface="맑은 고딕"/>
              </a:rPr>
              <a:t>에서</a:t>
            </a:r>
            <a:r>
              <a:rPr sz="1000" b="0" i="0" dirty="0">
                <a:solidFill>
                  <a:srgbClr val="222222"/>
                </a:solidFill>
                <a:latin typeface="맑은 고딕"/>
              </a:rPr>
              <a:t> </a:t>
            </a:r>
            <a:r>
              <a:rPr sz="1000" b="0" i="0" dirty="0" err="1">
                <a:solidFill>
                  <a:srgbClr val="222222"/>
                </a:solidFill>
                <a:latin typeface="맑은 고딕"/>
              </a:rPr>
              <a:t>고밀도</a:t>
            </a:r>
            <a:r>
              <a:rPr sz="1000" b="0" i="0" dirty="0">
                <a:solidFill>
                  <a:srgbClr val="222222"/>
                </a:solidFill>
                <a:latin typeface="맑은 고딕"/>
              </a:rPr>
              <a:t> AI 랙(100~300kW, 8~50kWh)</a:t>
            </a:r>
            <a:r>
              <a:rPr sz="1000" b="0" i="0" dirty="0" err="1">
                <a:solidFill>
                  <a:srgbClr val="222222"/>
                </a:solidFill>
                <a:latin typeface="맑은 고딕"/>
              </a:rPr>
              <a:t>으로</a:t>
            </a:r>
            <a:r>
              <a:rPr sz="1000" b="0" i="0" dirty="0">
                <a:solidFill>
                  <a:srgbClr val="222222"/>
                </a:solidFill>
                <a:latin typeface="맑은 고딕"/>
              </a:rPr>
              <a:t> </a:t>
            </a:r>
            <a:r>
              <a:rPr sz="1000" b="0" i="0" dirty="0" err="1">
                <a:solidFill>
                  <a:srgbClr val="222222"/>
                </a:solidFill>
                <a:latin typeface="맑은 고딕"/>
              </a:rPr>
              <a:t>가며</a:t>
            </a:r>
            <a:r>
              <a:rPr sz="1000" b="0" i="0" dirty="0">
                <a:solidFill>
                  <a:srgbClr val="222222"/>
                </a:solidFill>
                <a:latin typeface="맑은 고딕"/>
              </a:rPr>
              <a:t> </a:t>
            </a:r>
            <a:r>
              <a:rPr sz="1000" b="0" i="0" dirty="0" err="1">
                <a:solidFill>
                  <a:srgbClr val="222222"/>
                </a:solidFill>
                <a:latin typeface="맑은 고딕"/>
              </a:rPr>
              <a:t>랙당</a:t>
            </a:r>
            <a:r>
              <a:rPr sz="1000" b="0" i="0" dirty="0">
                <a:solidFill>
                  <a:srgbClr val="222222"/>
                </a:solidFill>
                <a:latin typeface="맑은 고딕"/>
              </a:rPr>
              <a:t> </a:t>
            </a:r>
            <a:r>
              <a:rPr sz="1000" b="0" i="0" dirty="0" err="1">
                <a:solidFill>
                  <a:srgbClr val="222222"/>
                </a:solidFill>
                <a:latin typeface="맑은 고딕"/>
              </a:rPr>
              <a:t>배터리</a:t>
            </a:r>
            <a:r>
              <a:rPr sz="1000" b="0" i="0" dirty="0">
                <a:solidFill>
                  <a:srgbClr val="222222"/>
                </a:solidFill>
                <a:latin typeface="맑은 고딕"/>
              </a:rPr>
              <a:t> </a:t>
            </a:r>
            <a:r>
              <a:rPr sz="1000" b="0" i="0" dirty="0" err="1">
                <a:solidFill>
                  <a:srgbClr val="222222"/>
                </a:solidFill>
                <a:latin typeface="맑은 고딕"/>
              </a:rPr>
              <a:t>용량이</a:t>
            </a:r>
            <a:r>
              <a:rPr sz="1000" b="0" i="0" dirty="0">
                <a:solidFill>
                  <a:srgbClr val="222222"/>
                </a:solidFill>
                <a:latin typeface="맑은 고딕"/>
              </a:rPr>
              <a:t> </a:t>
            </a:r>
            <a:r>
              <a:rPr sz="1000" b="0" i="0" dirty="0" err="1">
                <a:solidFill>
                  <a:srgbClr val="222222"/>
                </a:solidFill>
                <a:latin typeface="맑은 고딕"/>
              </a:rPr>
              <a:t>최소</a:t>
            </a:r>
            <a:r>
              <a:rPr sz="1000" b="0" i="0" dirty="0">
                <a:solidFill>
                  <a:srgbClr val="222222"/>
                </a:solidFill>
                <a:latin typeface="맑은 고딕"/>
              </a:rPr>
              <a:t> 10배 </a:t>
            </a:r>
            <a:r>
              <a:rPr sz="1000" b="0" i="0" dirty="0" err="1">
                <a:solidFill>
                  <a:srgbClr val="222222"/>
                </a:solidFill>
                <a:latin typeface="맑은 고딕"/>
              </a:rPr>
              <a:t>이상</a:t>
            </a:r>
            <a:r>
              <a:rPr sz="1000" b="0" i="0" dirty="0">
                <a:solidFill>
                  <a:srgbClr val="222222"/>
                </a:solidFill>
                <a:latin typeface="맑은 고딕"/>
              </a:rPr>
              <a:t> </a:t>
            </a:r>
            <a:r>
              <a:rPr sz="1000" b="0" i="0" dirty="0" err="1">
                <a:solidFill>
                  <a:srgbClr val="222222"/>
                </a:solidFill>
                <a:latin typeface="맑은 고딕"/>
              </a:rPr>
              <a:t>늘어난다</a:t>
            </a:r>
            <a:r>
              <a:rPr sz="1000" b="0" i="0" dirty="0">
                <a:solidFill>
                  <a:srgbClr val="222222"/>
                </a:solidFill>
                <a:latin typeface="맑은 고딕"/>
              </a:rPr>
              <a:t>. </a:t>
            </a:r>
            <a:r>
              <a:rPr sz="1000" b="0" i="0" dirty="0" err="1">
                <a:solidFill>
                  <a:srgbClr val="222222"/>
                </a:solidFill>
                <a:latin typeface="맑은 고딕"/>
              </a:rPr>
              <a:t>삼성SDI는</a:t>
            </a:r>
            <a:r>
              <a:rPr sz="1000" b="0" i="0" dirty="0">
                <a:solidFill>
                  <a:srgbClr val="222222"/>
                </a:solidFill>
                <a:latin typeface="맑은 고딕"/>
              </a:rPr>
              <a:t> BBU </a:t>
            </a:r>
            <a:r>
              <a:rPr sz="1000" b="0" i="0" dirty="0" err="1">
                <a:solidFill>
                  <a:srgbClr val="222222"/>
                </a:solidFill>
                <a:latin typeface="맑은 고딕"/>
              </a:rPr>
              <a:t>시장</a:t>
            </a:r>
            <a:r>
              <a:rPr sz="1000" b="0" i="0" dirty="0">
                <a:solidFill>
                  <a:srgbClr val="222222"/>
                </a:solidFill>
                <a:latin typeface="맑은 고딕"/>
              </a:rPr>
              <a:t> </a:t>
            </a:r>
            <a:r>
              <a:rPr sz="1000" b="0" i="0" dirty="0" err="1">
                <a:solidFill>
                  <a:srgbClr val="222222"/>
                </a:solidFill>
                <a:latin typeface="맑은 고딕"/>
              </a:rPr>
              <a:t>점유율</a:t>
            </a:r>
            <a:r>
              <a:rPr sz="1000" b="0" i="0" dirty="0">
                <a:solidFill>
                  <a:srgbClr val="222222"/>
                </a:solidFill>
                <a:latin typeface="맑은 고딕"/>
              </a:rPr>
              <a:t> 약 40%로 </a:t>
            </a:r>
            <a:r>
              <a:rPr sz="1000" b="0" i="0" dirty="0" err="1">
                <a:solidFill>
                  <a:srgbClr val="222222"/>
                </a:solidFill>
                <a:latin typeface="맑은 고딕"/>
              </a:rPr>
              <a:t>선도하며</a:t>
            </a:r>
            <a:r>
              <a:rPr sz="1000" b="0" i="0" dirty="0">
                <a:solidFill>
                  <a:srgbClr val="222222"/>
                </a:solidFill>
                <a:latin typeface="맑은 고딕"/>
              </a:rPr>
              <a:t>, </a:t>
            </a:r>
            <a:r>
              <a:rPr sz="1000" b="0" i="0" dirty="0" err="1">
                <a:solidFill>
                  <a:srgbClr val="222222"/>
                </a:solidFill>
                <a:latin typeface="맑은 고딕"/>
              </a:rPr>
              <a:t>데이터센터</a:t>
            </a:r>
            <a:r>
              <a:rPr sz="1000" b="0" i="0" dirty="0">
                <a:solidFill>
                  <a:srgbClr val="222222"/>
                </a:solidFill>
                <a:latin typeface="맑은 고딕"/>
              </a:rPr>
              <a:t> UPS </a:t>
            </a:r>
            <a:r>
              <a:rPr sz="1000" b="0" i="0" dirty="0" err="1">
                <a:solidFill>
                  <a:srgbClr val="222222"/>
                </a:solidFill>
                <a:latin typeface="맑은 고딕"/>
              </a:rPr>
              <a:t>시장은</a:t>
            </a:r>
            <a:r>
              <a:rPr sz="1000" b="0" i="0" dirty="0">
                <a:solidFill>
                  <a:srgbClr val="222222"/>
                </a:solidFill>
                <a:latin typeface="맑은 고딕"/>
              </a:rPr>
              <a:t> 2025년 55억 </a:t>
            </a:r>
            <a:r>
              <a:rPr sz="1000" b="0" i="0" dirty="0" err="1">
                <a:solidFill>
                  <a:srgbClr val="222222"/>
                </a:solidFill>
                <a:latin typeface="맑은 고딕"/>
              </a:rPr>
              <a:t>달러에서</a:t>
            </a:r>
            <a:r>
              <a:rPr sz="1000" b="0" i="0" dirty="0">
                <a:solidFill>
                  <a:srgbClr val="222222"/>
                </a:solidFill>
                <a:latin typeface="맑은 고딕"/>
              </a:rPr>
              <a:t> 2035년 110억 </a:t>
            </a:r>
            <a:r>
              <a:rPr sz="1000" b="0" i="0" dirty="0" err="1">
                <a:solidFill>
                  <a:srgbClr val="222222"/>
                </a:solidFill>
                <a:latin typeface="맑은 고딕"/>
              </a:rPr>
              <a:t>달러</a:t>
            </a:r>
            <a:r>
              <a:rPr sz="1000" b="0" i="0" dirty="0">
                <a:solidFill>
                  <a:srgbClr val="222222"/>
                </a:solidFill>
                <a:latin typeface="맑은 고딕"/>
              </a:rPr>
              <a:t>+(CAGR 약 8%)로 </a:t>
            </a:r>
            <a:r>
              <a:rPr sz="1000" b="0" i="0" dirty="0" err="1">
                <a:solidFill>
                  <a:srgbClr val="222222"/>
                </a:solidFill>
                <a:latin typeface="맑은 고딕"/>
              </a:rPr>
              <a:t>전망된다</a:t>
            </a:r>
            <a:r>
              <a:rPr sz="1000" b="0" i="0" dirty="0">
                <a:solidFill>
                  <a:srgbClr val="222222"/>
                </a:solidFill>
                <a:latin typeface="맑은 고딕"/>
              </a:rPr>
              <a:t>. [자료2·3]</a:t>
            </a:r>
          </a:p>
        </p:txBody>
      </p:sp>
      <p:sp>
        <p:nvSpPr>
          <p:cNvPr id="8" name="Rectangle 7"/>
          <p:cNvSpPr/>
          <p:nvPr/>
        </p:nvSpPr>
        <p:spPr>
          <a:xfrm>
            <a:off x="457200" y="3931920"/>
            <a:ext cx="5943600" cy="256032"/>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3986069"/>
            <a:ext cx="5797296" cy="147733"/>
          </a:xfrm>
          <a:prstGeom prst="rect">
            <a:avLst/>
          </a:prstGeom>
          <a:solidFill>
            <a:schemeClr val="accent1">
              <a:lumMod val="40000"/>
              <a:lumOff val="60000"/>
            </a:schemeClr>
          </a:solidFill>
        </p:spPr>
        <p:txBody>
          <a:bodyPr wrap="square" lIns="0" tIns="0" rIns="0" bIns="0" anchor="ctr">
            <a:spAutoFit/>
          </a:bodyPr>
          <a:lstStyle/>
          <a:p>
            <a:pPr>
              <a:lnSpc>
                <a:spcPct val="118000"/>
              </a:lnSpc>
              <a:spcBef>
                <a:spcPts val="0"/>
              </a:spcBef>
              <a:spcAft>
                <a:spcPts val="400"/>
              </a:spcAft>
            </a:pPr>
            <a:r>
              <a:rPr sz="900" b="1" i="0" dirty="0">
                <a:solidFill>
                  <a:sysClr val="windowText" lastClr="000000"/>
                </a:solidFill>
                <a:latin typeface="맑은 고딕"/>
              </a:rPr>
              <a:t>[자료2] </a:t>
            </a:r>
            <a:r>
              <a:rPr sz="900" b="1" i="0" dirty="0" err="1">
                <a:solidFill>
                  <a:sysClr val="windowText" lastClr="000000"/>
                </a:solidFill>
                <a:latin typeface="맑은 고딕"/>
              </a:rPr>
              <a:t>북미</a:t>
            </a:r>
            <a:r>
              <a:rPr sz="900" b="1" i="0" dirty="0">
                <a:solidFill>
                  <a:sysClr val="windowText" lastClr="000000"/>
                </a:solidFill>
                <a:latin typeface="맑은 고딕"/>
              </a:rPr>
              <a:t> Grid ESS </a:t>
            </a:r>
            <a:r>
              <a:rPr sz="900" b="1" i="0" dirty="0" err="1">
                <a:solidFill>
                  <a:sysClr val="windowText" lastClr="000000"/>
                </a:solidFill>
                <a:latin typeface="맑은 고딕"/>
              </a:rPr>
              <a:t>신규</a:t>
            </a:r>
            <a:r>
              <a:rPr sz="900" b="1" i="0" dirty="0">
                <a:solidFill>
                  <a:sysClr val="windowText" lastClr="000000"/>
                </a:solidFill>
                <a:latin typeface="맑은 고딕"/>
              </a:rPr>
              <a:t> </a:t>
            </a:r>
            <a:r>
              <a:rPr sz="900" b="1" i="0" dirty="0" err="1">
                <a:solidFill>
                  <a:sysClr val="windowText" lastClr="000000"/>
                </a:solidFill>
                <a:latin typeface="맑은 고딕"/>
              </a:rPr>
              <a:t>설치</a:t>
            </a:r>
            <a:r>
              <a:rPr sz="900" b="1" i="0" dirty="0">
                <a:solidFill>
                  <a:sysClr val="windowText" lastClr="000000"/>
                </a:solidFill>
                <a:latin typeface="맑은 고딕"/>
              </a:rPr>
              <a:t> </a:t>
            </a:r>
            <a:r>
              <a:rPr sz="900" b="1" i="0" dirty="0" err="1">
                <a:solidFill>
                  <a:sysClr val="windowText" lastClr="000000"/>
                </a:solidFill>
                <a:latin typeface="맑은 고딕"/>
              </a:rPr>
              <a:t>전망</a:t>
            </a:r>
            <a:endParaRPr sz="900" b="1" i="0" dirty="0">
              <a:solidFill>
                <a:sysClr val="windowText" lastClr="000000"/>
              </a:solidFill>
              <a:latin typeface="맑은 고딕"/>
            </a:endParaRPr>
          </a:p>
        </p:txBody>
      </p:sp>
      <p:graphicFrame>
        <p:nvGraphicFramePr>
          <p:cNvPr id="10" name="Table 9"/>
          <p:cNvGraphicFramePr>
            <a:graphicFrameLocks noGrp="1"/>
          </p:cNvGraphicFramePr>
          <p:nvPr>
            <p:extLst>
              <p:ext uri="{D42A27DB-BD31-4B8C-83A1-F6EECF244321}">
                <p14:modId xmlns:p14="http://schemas.microsoft.com/office/powerpoint/2010/main" val="920413004"/>
              </p:ext>
            </p:extLst>
          </p:nvPr>
        </p:nvGraphicFramePr>
        <p:xfrm>
          <a:off x="457200" y="4261104"/>
          <a:ext cx="5943600" cy="1133856"/>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10896">
                <a:tc>
                  <a:txBody>
                    <a:bodyPr/>
                    <a:lstStyle/>
                    <a:p>
                      <a:pPr algn="ctr"/>
                      <a:r>
                        <a:rPr sz="850" b="1" dirty="0" err="1">
                          <a:solidFill>
                            <a:schemeClr val="tx1"/>
                          </a:solidFill>
                          <a:latin typeface="맑은 고딕"/>
                        </a:rPr>
                        <a:t>연도</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북미</a:t>
                      </a:r>
                      <a:r>
                        <a:rPr sz="850" b="1" dirty="0">
                          <a:solidFill>
                            <a:schemeClr val="tx1"/>
                          </a:solidFill>
                          <a:latin typeface="맑은 고딕"/>
                        </a:rPr>
                        <a:t> </a:t>
                      </a:r>
                      <a:r>
                        <a:rPr sz="850" b="1" dirty="0" err="1">
                          <a:solidFill>
                            <a:schemeClr val="tx1"/>
                          </a:solidFill>
                          <a:latin typeface="맑은 고딕"/>
                        </a:rPr>
                        <a:t>신규</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글로벌</a:t>
                      </a:r>
                      <a:r>
                        <a:rPr sz="850" b="1" dirty="0">
                          <a:solidFill>
                            <a:schemeClr val="tx1"/>
                          </a:solidFill>
                          <a:latin typeface="맑은 고딕"/>
                        </a:rPr>
                        <a:t>(</a:t>
                      </a:r>
                      <a:r>
                        <a:rPr sz="850" b="1" dirty="0" err="1">
                          <a:solidFill>
                            <a:schemeClr val="tx1"/>
                          </a:solidFill>
                          <a:latin typeface="맑은 고딕"/>
                        </a:rPr>
                        <a:t>비중국</a:t>
                      </a:r>
                      <a:r>
                        <a:rPr sz="850" b="1" dirty="0">
                          <a:solidFill>
                            <a:schemeClr val="tx1"/>
                          </a:solidFill>
                          <a:latin typeface="맑은 고딕"/>
                        </a:rPr>
                        <a:t>)</a:t>
                      </a:r>
                    </a:p>
                  </a:txBody>
                  <a:tcPr marL="45720" marR="36576" marT="18288" marB="18288" anchor="ctr">
                    <a:solidFill>
                      <a:schemeClr val="accent1">
                        <a:lumMod val="40000"/>
                        <a:lumOff val="60000"/>
                      </a:schemeClr>
                    </a:solidFill>
                  </a:tcPr>
                </a:tc>
                <a:tc>
                  <a:txBody>
                    <a:bodyPr/>
                    <a:lstStyle/>
                    <a:p>
                      <a:pPr algn="ctr"/>
                      <a:r>
                        <a:rPr sz="850" b="1" dirty="0">
                          <a:solidFill>
                            <a:schemeClr val="tx1"/>
                          </a:solidFill>
                          <a:latin typeface="맑은 고딕"/>
                        </a:rPr>
                        <a:t>YoY</a:t>
                      </a: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비고</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extLst>
                  <a:ext uri="{0D108BD9-81ED-4DB2-BD59-A6C34878D82A}">
                    <a16:rowId xmlns:a16="http://schemas.microsoft.com/office/drawing/2014/main" val="10000"/>
                  </a:ext>
                </a:extLst>
              </a:tr>
              <a:tr h="274320">
                <a:tc>
                  <a:txBody>
                    <a:bodyPr/>
                    <a:lstStyle/>
                    <a:p>
                      <a:pPr algn="l"/>
                      <a:r>
                        <a:rPr sz="850" b="0">
                          <a:solidFill>
                            <a:srgbClr val="222222"/>
                          </a:solidFill>
                          <a:latin typeface="맑은 고딕"/>
                        </a:rPr>
                        <a:t>2023</a:t>
                      </a:r>
                    </a:p>
                  </a:txBody>
                  <a:tcPr marL="45720" marR="36576" marT="18288" marB="18288" anchor="ctr">
                    <a:solidFill>
                      <a:srgbClr val="FFFFFF"/>
                    </a:solidFill>
                  </a:tcPr>
                </a:tc>
                <a:tc>
                  <a:txBody>
                    <a:bodyPr/>
                    <a:lstStyle/>
                    <a:p>
                      <a:pPr algn="ctr"/>
                      <a:r>
                        <a:rPr sz="850" b="0">
                          <a:solidFill>
                            <a:srgbClr val="222222"/>
                          </a:solidFill>
                          <a:latin typeface="맑은 고딕"/>
                        </a:rPr>
                        <a:t>10~12GW</a:t>
                      </a:r>
                    </a:p>
                  </a:txBody>
                  <a:tcPr marL="45720" marR="36576" marT="18288" marB="18288" anchor="ctr">
                    <a:solidFill>
                      <a:srgbClr val="FFFFFF"/>
                    </a:solidFill>
                  </a:tcPr>
                </a:tc>
                <a:tc>
                  <a:txBody>
                    <a:bodyPr/>
                    <a:lstStyle/>
                    <a:p>
                      <a:pPr algn="ctr"/>
                      <a:r>
                        <a:rPr sz="850" b="0">
                          <a:solidFill>
                            <a:srgbClr val="222222"/>
                          </a:solidFill>
                          <a:latin typeface="맑은 고딕"/>
                        </a:rPr>
                        <a:t>≈22GW</a:t>
                      </a:r>
                    </a:p>
                  </a:txBody>
                  <a:tcPr marL="45720" marR="36576" marT="18288" marB="18288" anchor="ctr">
                    <a:solidFill>
                      <a:srgbClr val="FFFFFF"/>
                    </a:solidFill>
                  </a:tcPr>
                </a:tc>
                <a:tc>
                  <a:txBody>
                    <a:bodyPr/>
                    <a:lstStyle/>
                    <a:p>
                      <a:pPr algn="ctr"/>
                      <a:r>
                        <a:rPr sz="850" b="0">
                          <a:solidFill>
                            <a:srgbClr val="222222"/>
                          </a:solidFill>
                          <a:latin typeface="맑은 고딕"/>
                        </a:rPr>
                        <a:t>-</a:t>
                      </a:r>
                    </a:p>
                  </a:txBody>
                  <a:tcPr marL="45720" marR="36576" marT="18288" marB="18288" anchor="ctr">
                    <a:solidFill>
                      <a:srgbClr val="FFFFFF"/>
                    </a:solidFill>
                  </a:tcPr>
                </a:tc>
                <a:tc>
                  <a:txBody>
                    <a:bodyPr/>
                    <a:lstStyle/>
                    <a:p>
                      <a:pPr algn="ctr"/>
                      <a:r>
                        <a:rPr sz="850" b="0">
                          <a:solidFill>
                            <a:srgbClr val="222222"/>
                          </a:solidFill>
                          <a:latin typeface="맑은 고딕"/>
                        </a:rPr>
                        <a:t>캘리포니아·텍사스 주도</a:t>
                      </a:r>
                    </a:p>
                  </a:txBody>
                  <a:tcPr marL="45720" marR="36576"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850" b="0">
                          <a:solidFill>
                            <a:srgbClr val="222222"/>
                          </a:solidFill>
                          <a:latin typeface="맑은 고딕"/>
                        </a:rPr>
                        <a:t>2025E</a:t>
                      </a:r>
                    </a:p>
                  </a:txBody>
                  <a:tcPr marL="45720" marR="36576" marT="18288" marB="18288" anchor="ctr">
                    <a:solidFill>
                      <a:srgbClr val="EEF1F6"/>
                    </a:solidFill>
                  </a:tcPr>
                </a:tc>
                <a:tc>
                  <a:txBody>
                    <a:bodyPr/>
                    <a:lstStyle/>
                    <a:p>
                      <a:pPr algn="ctr"/>
                      <a:r>
                        <a:rPr sz="850" b="0">
                          <a:solidFill>
                            <a:srgbClr val="222222"/>
                          </a:solidFill>
                          <a:latin typeface="맑은 고딕"/>
                        </a:rPr>
                        <a:t>18~24GW</a:t>
                      </a:r>
                    </a:p>
                  </a:txBody>
                  <a:tcPr marL="45720" marR="36576" marT="18288" marB="18288" anchor="ctr">
                    <a:solidFill>
                      <a:srgbClr val="EEF1F6"/>
                    </a:solidFill>
                  </a:tcPr>
                </a:tc>
                <a:tc>
                  <a:txBody>
                    <a:bodyPr/>
                    <a:lstStyle/>
                    <a:p>
                      <a:pPr algn="ctr"/>
                      <a:r>
                        <a:rPr sz="850" b="0">
                          <a:solidFill>
                            <a:srgbClr val="222222"/>
                          </a:solidFill>
                          <a:latin typeface="맑은 고딕"/>
                        </a:rPr>
                        <a:t>≈43GW</a:t>
                      </a:r>
                    </a:p>
                  </a:txBody>
                  <a:tcPr marL="45720" marR="36576" marT="18288" marB="18288" anchor="ctr">
                    <a:solidFill>
                      <a:srgbClr val="EEF1F6"/>
                    </a:solidFill>
                  </a:tcPr>
                </a:tc>
                <a:tc>
                  <a:txBody>
                    <a:bodyPr/>
                    <a:lstStyle/>
                    <a:p>
                      <a:pPr algn="ctr"/>
                      <a:r>
                        <a:rPr sz="850" b="0">
                          <a:solidFill>
                            <a:srgbClr val="222222"/>
                          </a:solidFill>
                          <a:latin typeface="맑은 고딕"/>
                        </a:rPr>
                        <a:t>+70%</a:t>
                      </a:r>
                    </a:p>
                  </a:txBody>
                  <a:tcPr marL="45720" marR="36576" marT="18288" marB="18288" anchor="ctr">
                    <a:solidFill>
                      <a:srgbClr val="EEF1F6"/>
                    </a:solidFill>
                  </a:tcPr>
                </a:tc>
                <a:tc>
                  <a:txBody>
                    <a:bodyPr/>
                    <a:lstStyle/>
                    <a:p>
                      <a:pPr algn="ctr"/>
                      <a:r>
                        <a:rPr sz="850" b="0">
                          <a:solidFill>
                            <a:srgbClr val="222222"/>
                          </a:solidFill>
                          <a:latin typeface="맑은 고딕"/>
                        </a:rPr>
                        <a:t>IRA 세액공제 효과 반영</a:t>
                      </a:r>
                    </a:p>
                  </a:txBody>
                  <a:tcPr marL="45720" marR="36576" marT="18288" marB="18288" anchor="ctr">
                    <a:solidFill>
                      <a:srgbClr val="EEF1F6"/>
                    </a:solidFill>
                  </a:tcPr>
                </a:tc>
                <a:extLst>
                  <a:ext uri="{0D108BD9-81ED-4DB2-BD59-A6C34878D82A}">
                    <a16:rowId xmlns:a16="http://schemas.microsoft.com/office/drawing/2014/main" val="10002"/>
                  </a:ext>
                </a:extLst>
              </a:tr>
              <a:tr h="274320">
                <a:tc>
                  <a:txBody>
                    <a:bodyPr/>
                    <a:lstStyle/>
                    <a:p>
                      <a:pPr algn="l"/>
                      <a:r>
                        <a:rPr sz="850" b="0">
                          <a:solidFill>
                            <a:srgbClr val="222222"/>
                          </a:solidFill>
                          <a:latin typeface="맑은 고딕"/>
                        </a:rPr>
                        <a:t>2030E (누적)</a:t>
                      </a:r>
                    </a:p>
                  </a:txBody>
                  <a:tcPr marL="45720" marR="36576" marT="18288" marB="18288" anchor="ctr">
                    <a:solidFill>
                      <a:srgbClr val="FFFFFF"/>
                    </a:solidFill>
                  </a:tcPr>
                </a:tc>
                <a:tc>
                  <a:txBody>
                    <a:bodyPr/>
                    <a:lstStyle/>
                    <a:p>
                      <a:pPr algn="ctr"/>
                      <a:r>
                        <a:rPr sz="850" b="0" dirty="0">
                          <a:solidFill>
                            <a:srgbClr val="222222"/>
                          </a:solidFill>
                          <a:latin typeface="맑은 고딕"/>
                        </a:rPr>
                        <a:t>133GW</a:t>
                      </a:r>
                    </a:p>
                  </a:txBody>
                  <a:tcPr marL="45720" marR="36576" marT="18288" marB="18288" anchor="ctr">
                    <a:solidFill>
                      <a:srgbClr val="FFFFFF"/>
                    </a:solidFill>
                  </a:tcPr>
                </a:tc>
                <a:tc>
                  <a:txBody>
                    <a:bodyPr/>
                    <a:lstStyle/>
                    <a:p>
                      <a:pPr algn="ctr"/>
                      <a:r>
                        <a:rPr sz="850" b="0">
                          <a:solidFill>
                            <a:srgbClr val="222222"/>
                          </a:solidFill>
                          <a:latin typeface="맑은 고딕"/>
                        </a:rPr>
                        <a:t>-</a:t>
                      </a:r>
                    </a:p>
                  </a:txBody>
                  <a:tcPr marL="45720" marR="36576" marT="18288" marB="18288" anchor="ctr">
                    <a:solidFill>
                      <a:srgbClr val="FFFFFF"/>
                    </a:solidFill>
                  </a:tcPr>
                </a:tc>
                <a:tc>
                  <a:txBody>
                    <a:bodyPr/>
                    <a:lstStyle/>
                    <a:p>
                      <a:pPr algn="ctr"/>
                      <a:r>
                        <a:rPr sz="850" b="0" dirty="0">
                          <a:solidFill>
                            <a:srgbClr val="222222"/>
                          </a:solidFill>
                          <a:latin typeface="맑은 고딕"/>
                        </a:rPr>
                        <a:t>×7배</a:t>
                      </a:r>
                    </a:p>
                  </a:txBody>
                  <a:tcPr marL="45720" marR="36576" marT="18288" marB="18288" anchor="ctr">
                    <a:solidFill>
                      <a:srgbClr val="FFFFFF"/>
                    </a:solidFill>
                  </a:tcPr>
                </a:tc>
                <a:tc>
                  <a:txBody>
                    <a:bodyPr/>
                    <a:lstStyle/>
                    <a:p>
                      <a:pPr algn="ctr"/>
                      <a:r>
                        <a:rPr sz="850" b="0" dirty="0">
                          <a:solidFill>
                            <a:srgbClr val="222222"/>
                          </a:solidFill>
                          <a:latin typeface="맑은 고딕"/>
                        </a:rPr>
                        <a:t>2023년 </a:t>
                      </a:r>
                      <a:r>
                        <a:rPr sz="850" b="0" dirty="0" err="1">
                          <a:solidFill>
                            <a:srgbClr val="222222"/>
                          </a:solidFill>
                          <a:latin typeface="맑은 고딕"/>
                        </a:rPr>
                        <a:t>대비</a:t>
                      </a:r>
                      <a:r>
                        <a:rPr sz="850" b="0" dirty="0">
                          <a:solidFill>
                            <a:srgbClr val="222222"/>
                          </a:solidFill>
                          <a:latin typeface="맑은 고딕"/>
                        </a:rPr>
                        <a:t> 7배</a:t>
                      </a:r>
                    </a:p>
                  </a:txBody>
                  <a:tcPr marL="45720" marR="36576"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650992"/>
            <a:ext cx="5943600" cy="219456"/>
          </a:xfrm>
          <a:prstGeom prst="rect">
            <a:avLst/>
          </a:prstGeom>
          <a:noFill/>
        </p:spPr>
        <p:txBody>
          <a:bodyPr wrap="square" lIns="0" tIns="0" rIns="0" bIns="0" anchor="t">
            <a:spAutoFit/>
          </a:bodyPr>
          <a:lstStyle/>
          <a:p>
            <a:pPr>
              <a:lnSpc>
                <a:spcPct val="118000"/>
              </a:lnSpc>
              <a:spcBef>
                <a:spcPts val="0"/>
              </a:spcBef>
              <a:spcAft>
                <a:spcPts val="400"/>
              </a:spcAft>
            </a:pPr>
            <a:r>
              <a:rPr sz="750" b="0" i="1">
                <a:solidFill>
                  <a:srgbClr val="6B7785"/>
                </a:solidFill>
                <a:latin typeface="맑은 고딕"/>
              </a:rPr>
              <a:t>출처: WoodMac·EIA, ICOK</a:t>
            </a:r>
          </a:p>
        </p:txBody>
      </p:sp>
      <p:sp>
        <p:nvSpPr>
          <p:cNvPr id="12" name="Rectangle 11"/>
          <p:cNvSpPr/>
          <p:nvPr/>
        </p:nvSpPr>
        <p:spPr>
          <a:xfrm>
            <a:off x="457200" y="5989320"/>
            <a:ext cx="5943600" cy="256032"/>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 y="6043469"/>
            <a:ext cx="5797296" cy="147733"/>
          </a:xfrm>
          <a:prstGeom prst="rect">
            <a:avLst/>
          </a:prstGeom>
          <a:solidFill>
            <a:schemeClr val="accent1">
              <a:lumMod val="40000"/>
              <a:lumOff val="60000"/>
            </a:schemeClr>
          </a:solidFill>
        </p:spPr>
        <p:txBody>
          <a:bodyPr wrap="square" lIns="0" tIns="0" rIns="0" bIns="0" anchor="ctr">
            <a:spAutoFit/>
          </a:bodyPr>
          <a:lstStyle/>
          <a:p>
            <a:pPr>
              <a:lnSpc>
                <a:spcPct val="118000"/>
              </a:lnSpc>
              <a:spcBef>
                <a:spcPts val="0"/>
              </a:spcBef>
              <a:spcAft>
                <a:spcPts val="400"/>
              </a:spcAft>
            </a:pPr>
            <a:r>
              <a:rPr sz="900" b="1" i="0" dirty="0">
                <a:latin typeface="맑은 고딕"/>
              </a:rPr>
              <a:t>[자료3] AI 랙 </a:t>
            </a:r>
            <a:r>
              <a:rPr sz="900" b="1" i="0" dirty="0" err="1">
                <a:latin typeface="맑은 고딕"/>
              </a:rPr>
              <a:t>전력밀도와</a:t>
            </a:r>
            <a:r>
              <a:rPr sz="900" b="1" i="0" dirty="0">
                <a:latin typeface="맑은 고딕"/>
              </a:rPr>
              <a:t> </a:t>
            </a:r>
            <a:r>
              <a:rPr sz="900" b="1" i="0" dirty="0" err="1">
                <a:latin typeface="맑은 고딕"/>
              </a:rPr>
              <a:t>랙당</a:t>
            </a:r>
            <a:r>
              <a:rPr sz="900" b="1" i="0" dirty="0">
                <a:latin typeface="맑은 고딕"/>
              </a:rPr>
              <a:t> BBU </a:t>
            </a:r>
            <a:r>
              <a:rPr sz="900" b="1" i="0" dirty="0" err="1">
                <a:latin typeface="맑은 고딕"/>
              </a:rPr>
              <a:t>용량</a:t>
            </a:r>
            <a:endParaRPr sz="900" b="1" i="0" dirty="0">
              <a:latin typeface="맑은 고딕"/>
            </a:endParaRPr>
          </a:p>
        </p:txBody>
      </p:sp>
      <p:graphicFrame>
        <p:nvGraphicFramePr>
          <p:cNvPr id="14" name="Table 13"/>
          <p:cNvGraphicFramePr>
            <a:graphicFrameLocks noGrp="1"/>
          </p:cNvGraphicFramePr>
          <p:nvPr>
            <p:extLst>
              <p:ext uri="{D42A27DB-BD31-4B8C-83A1-F6EECF244321}">
                <p14:modId xmlns:p14="http://schemas.microsoft.com/office/powerpoint/2010/main" val="450214451"/>
              </p:ext>
            </p:extLst>
          </p:nvPr>
        </p:nvGraphicFramePr>
        <p:xfrm>
          <a:off x="457200" y="6318504"/>
          <a:ext cx="5943600" cy="1133856"/>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10896">
                <a:tc>
                  <a:txBody>
                    <a:bodyPr/>
                    <a:lstStyle/>
                    <a:p>
                      <a:pPr algn="ctr"/>
                      <a:r>
                        <a:rPr sz="850" b="1" dirty="0">
                          <a:solidFill>
                            <a:schemeClr val="tx1"/>
                          </a:solidFill>
                          <a:latin typeface="맑은 고딕"/>
                        </a:rPr>
                        <a:t>랙 </a:t>
                      </a:r>
                      <a:r>
                        <a:rPr sz="850" b="1" dirty="0" err="1">
                          <a:solidFill>
                            <a:schemeClr val="tx1"/>
                          </a:solidFill>
                          <a:latin typeface="맑은 고딕"/>
                        </a:rPr>
                        <a:t>유형</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전력</a:t>
                      </a:r>
                      <a:r>
                        <a:rPr sz="850" b="1" dirty="0">
                          <a:solidFill>
                            <a:schemeClr val="tx1"/>
                          </a:solidFill>
                          <a:latin typeface="맑은 고딕"/>
                        </a:rPr>
                        <a:t> </a:t>
                      </a:r>
                      <a:r>
                        <a:rPr sz="850" b="1" dirty="0" err="1">
                          <a:solidFill>
                            <a:schemeClr val="tx1"/>
                          </a:solidFill>
                          <a:latin typeface="맑은 고딕"/>
                        </a:rPr>
                        <a:t>밀도</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랙당</a:t>
                      </a:r>
                      <a:r>
                        <a:rPr sz="850" b="1" dirty="0">
                          <a:solidFill>
                            <a:schemeClr val="tx1"/>
                          </a:solidFill>
                          <a:latin typeface="맑은 고딕"/>
                        </a:rPr>
                        <a:t> BBU </a:t>
                      </a:r>
                      <a:r>
                        <a:rPr sz="850" b="1" dirty="0" err="1">
                          <a:solidFill>
                            <a:schemeClr val="tx1"/>
                          </a:solidFill>
                          <a:latin typeface="맑은 고딕"/>
                        </a:rPr>
                        <a:t>용량</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기존</a:t>
                      </a:r>
                      <a:r>
                        <a:rPr sz="850" b="1" dirty="0">
                          <a:solidFill>
                            <a:schemeClr val="tx1"/>
                          </a:solidFill>
                          <a:latin typeface="맑은 고딕"/>
                        </a:rPr>
                        <a:t> </a:t>
                      </a:r>
                      <a:r>
                        <a:rPr sz="850" b="1" dirty="0" err="1">
                          <a:solidFill>
                            <a:schemeClr val="tx1"/>
                          </a:solidFill>
                          <a:latin typeface="맑은 고딕"/>
                        </a:rPr>
                        <a:t>대비</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extLst>
                  <a:ext uri="{0D108BD9-81ED-4DB2-BD59-A6C34878D82A}">
                    <a16:rowId xmlns:a16="http://schemas.microsoft.com/office/drawing/2014/main" val="10000"/>
                  </a:ext>
                </a:extLst>
              </a:tr>
              <a:tr h="274320">
                <a:tc>
                  <a:txBody>
                    <a:bodyPr/>
                    <a:lstStyle/>
                    <a:p>
                      <a:pPr algn="l"/>
                      <a:r>
                        <a:rPr sz="850" b="0">
                          <a:solidFill>
                            <a:srgbClr val="222222"/>
                          </a:solidFill>
                          <a:latin typeface="맑은 고딕"/>
                        </a:rPr>
                        <a:t>전통 CPU 서버랙</a:t>
                      </a:r>
                    </a:p>
                  </a:txBody>
                  <a:tcPr marL="45720" marR="36576" marT="18288" marB="18288" anchor="ctr">
                    <a:solidFill>
                      <a:srgbClr val="FFFFFF"/>
                    </a:solidFill>
                  </a:tcPr>
                </a:tc>
                <a:tc>
                  <a:txBody>
                    <a:bodyPr/>
                    <a:lstStyle/>
                    <a:p>
                      <a:pPr algn="ctr"/>
                      <a:r>
                        <a:rPr sz="850" b="0">
                          <a:solidFill>
                            <a:srgbClr val="222222"/>
                          </a:solidFill>
                          <a:latin typeface="맑은 고딕"/>
                        </a:rPr>
                        <a:t>10kW</a:t>
                      </a:r>
                    </a:p>
                  </a:txBody>
                  <a:tcPr marL="45720" marR="36576" marT="18288" marB="18288" anchor="ctr">
                    <a:solidFill>
                      <a:srgbClr val="FFFFFF"/>
                    </a:solidFill>
                  </a:tcPr>
                </a:tc>
                <a:tc>
                  <a:txBody>
                    <a:bodyPr/>
                    <a:lstStyle/>
                    <a:p>
                      <a:pPr algn="ctr"/>
                      <a:r>
                        <a:rPr sz="850" b="0">
                          <a:solidFill>
                            <a:srgbClr val="222222"/>
                          </a:solidFill>
                          <a:latin typeface="맑은 고딕"/>
                        </a:rPr>
                        <a:t>약 1kWh 미만</a:t>
                      </a:r>
                    </a:p>
                  </a:txBody>
                  <a:tcPr marL="45720" marR="36576" marT="18288" marB="18288" anchor="ctr">
                    <a:solidFill>
                      <a:srgbClr val="FFFFFF"/>
                    </a:solidFill>
                  </a:tcPr>
                </a:tc>
                <a:tc>
                  <a:txBody>
                    <a:bodyPr/>
                    <a:lstStyle/>
                    <a:p>
                      <a:pPr algn="ctr"/>
                      <a:r>
                        <a:rPr sz="850" b="0">
                          <a:solidFill>
                            <a:srgbClr val="222222"/>
                          </a:solidFill>
                          <a:latin typeface="맑은 고딕"/>
                        </a:rPr>
                        <a:t>기준</a:t>
                      </a:r>
                    </a:p>
                  </a:txBody>
                  <a:tcPr marL="45720" marR="36576"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850" b="0">
                          <a:solidFill>
                            <a:srgbClr val="222222"/>
                          </a:solidFill>
                          <a:latin typeface="맑은 고딕"/>
                        </a:rPr>
                        <a:t>일반 AI/GPU 랙</a:t>
                      </a:r>
                    </a:p>
                  </a:txBody>
                  <a:tcPr marL="45720" marR="36576" marT="18288" marB="18288" anchor="ctr">
                    <a:solidFill>
                      <a:srgbClr val="EEF1F6"/>
                    </a:solidFill>
                  </a:tcPr>
                </a:tc>
                <a:tc>
                  <a:txBody>
                    <a:bodyPr/>
                    <a:lstStyle/>
                    <a:p>
                      <a:pPr algn="ctr"/>
                      <a:r>
                        <a:rPr sz="850" b="0">
                          <a:solidFill>
                            <a:srgbClr val="222222"/>
                          </a:solidFill>
                          <a:latin typeface="맑은 고딕"/>
                        </a:rPr>
                        <a:t>40~80kW</a:t>
                      </a:r>
                    </a:p>
                  </a:txBody>
                  <a:tcPr marL="45720" marR="36576" marT="18288" marB="18288" anchor="ctr">
                    <a:solidFill>
                      <a:srgbClr val="EEF1F6"/>
                    </a:solidFill>
                  </a:tcPr>
                </a:tc>
                <a:tc>
                  <a:txBody>
                    <a:bodyPr/>
                    <a:lstStyle/>
                    <a:p>
                      <a:pPr algn="ctr"/>
                      <a:r>
                        <a:rPr sz="850" b="0">
                          <a:solidFill>
                            <a:srgbClr val="222222"/>
                          </a:solidFill>
                          <a:latin typeface="맑은 고딕"/>
                        </a:rPr>
                        <a:t>3~7kWh</a:t>
                      </a:r>
                    </a:p>
                  </a:txBody>
                  <a:tcPr marL="45720" marR="36576" marT="18288" marB="18288" anchor="ctr">
                    <a:solidFill>
                      <a:srgbClr val="EEF1F6"/>
                    </a:solidFill>
                  </a:tcPr>
                </a:tc>
                <a:tc>
                  <a:txBody>
                    <a:bodyPr/>
                    <a:lstStyle/>
                    <a:p>
                      <a:pPr algn="ctr"/>
                      <a:r>
                        <a:rPr sz="850" b="0">
                          <a:solidFill>
                            <a:srgbClr val="222222"/>
                          </a:solidFill>
                          <a:latin typeface="맑은 고딕"/>
                        </a:rPr>
                        <a:t>4~8배</a:t>
                      </a:r>
                    </a:p>
                  </a:txBody>
                  <a:tcPr marL="45720" marR="36576" marT="18288" marB="18288" anchor="ctr">
                    <a:solidFill>
                      <a:srgbClr val="EEF1F6"/>
                    </a:solidFill>
                  </a:tcPr>
                </a:tc>
                <a:extLst>
                  <a:ext uri="{0D108BD9-81ED-4DB2-BD59-A6C34878D82A}">
                    <a16:rowId xmlns:a16="http://schemas.microsoft.com/office/drawing/2014/main" val="10002"/>
                  </a:ext>
                </a:extLst>
              </a:tr>
              <a:tr h="274320">
                <a:tc>
                  <a:txBody>
                    <a:bodyPr/>
                    <a:lstStyle/>
                    <a:p>
                      <a:pPr algn="l"/>
                      <a:r>
                        <a:rPr sz="850" b="0">
                          <a:solidFill>
                            <a:srgbClr val="222222"/>
                          </a:solidFill>
                          <a:latin typeface="맑은 고딕"/>
                        </a:rPr>
                        <a:t>고밀도 AI 랙</a:t>
                      </a:r>
                    </a:p>
                  </a:txBody>
                  <a:tcPr marL="45720" marR="36576" marT="18288" marB="18288" anchor="ctr">
                    <a:solidFill>
                      <a:srgbClr val="FFFFFF"/>
                    </a:solidFill>
                  </a:tcPr>
                </a:tc>
                <a:tc>
                  <a:txBody>
                    <a:bodyPr/>
                    <a:lstStyle/>
                    <a:p>
                      <a:pPr algn="ctr"/>
                      <a:r>
                        <a:rPr sz="850" b="0">
                          <a:solidFill>
                            <a:srgbClr val="222222"/>
                          </a:solidFill>
                          <a:latin typeface="맑은 고딕"/>
                        </a:rPr>
                        <a:t>100~300kW</a:t>
                      </a:r>
                    </a:p>
                  </a:txBody>
                  <a:tcPr marL="45720" marR="36576" marT="18288" marB="18288" anchor="ctr">
                    <a:solidFill>
                      <a:srgbClr val="FFFFFF"/>
                    </a:solidFill>
                  </a:tcPr>
                </a:tc>
                <a:tc>
                  <a:txBody>
                    <a:bodyPr/>
                    <a:lstStyle/>
                    <a:p>
                      <a:pPr algn="ctr"/>
                      <a:r>
                        <a:rPr sz="850" b="0" dirty="0">
                          <a:solidFill>
                            <a:srgbClr val="222222"/>
                          </a:solidFill>
                          <a:latin typeface="맑은 고딕"/>
                        </a:rPr>
                        <a:t>8~50kWh</a:t>
                      </a:r>
                    </a:p>
                  </a:txBody>
                  <a:tcPr marL="45720" marR="36576" marT="18288" marB="18288" anchor="ctr">
                    <a:solidFill>
                      <a:srgbClr val="FFFFFF"/>
                    </a:solidFill>
                  </a:tcPr>
                </a:tc>
                <a:tc>
                  <a:txBody>
                    <a:bodyPr/>
                    <a:lstStyle/>
                    <a:p>
                      <a:pPr algn="ctr"/>
                      <a:r>
                        <a:rPr sz="850" b="0" dirty="0" err="1">
                          <a:solidFill>
                            <a:srgbClr val="222222"/>
                          </a:solidFill>
                          <a:latin typeface="맑은 고딕"/>
                        </a:rPr>
                        <a:t>최소</a:t>
                      </a:r>
                      <a:r>
                        <a:rPr sz="850" b="0" dirty="0">
                          <a:solidFill>
                            <a:srgbClr val="222222"/>
                          </a:solidFill>
                          <a:latin typeface="맑은 고딕"/>
                        </a:rPr>
                        <a:t> 10배 +</a:t>
                      </a:r>
                    </a:p>
                  </a:txBody>
                  <a:tcPr marL="45720" marR="36576"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5" name="TextBox 14"/>
          <p:cNvSpPr txBox="1"/>
          <p:nvPr/>
        </p:nvSpPr>
        <p:spPr>
          <a:xfrm>
            <a:off x="457200" y="7726679"/>
            <a:ext cx="5943600" cy="219456"/>
          </a:xfrm>
          <a:prstGeom prst="rect">
            <a:avLst/>
          </a:prstGeom>
          <a:noFill/>
        </p:spPr>
        <p:txBody>
          <a:bodyPr wrap="square" lIns="0" tIns="0" rIns="0" bIns="0" anchor="t">
            <a:spAutoFit/>
          </a:bodyPr>
          <a:lstStyle/>
          <a:p>
            <a:pPr>
              <a:lnSpc>
                <a:spcPct val="118000"/>
              </a:lnSpc>
              <a:spcBef>
                <a:spcPts val="0"/>
              </a:spcBef>
              <a:spcAft>
                <a:spcPts val="400"/>
              </a:spcAft>
            </a:pPr>
            <a:r>
              <a:rPr sz="750" b="0" i="1">
                <a:solidFill>
                  <a:srgbClr val="6B7785"/>
                </a:solidFill>
                <a:latin typeface="맑은 고딕"/>
              </a:rPr>
              <a:t>출처: 업계 자료(데이터센터 전력 인프라), ICOK</a:t>
            </a:r>
          </a:p>
        </p:txBody>
      </p:sp>
      <p:sp>
        <p:nvSpPr>
          <p:cNvPr id="16" name="TextBox 15"/>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201168"/>
          </a:xfrm>
          <a:prstGeom prst="rect">
            <a:avLst/>
          </a:prstGeom>
          <a:noFill/>
        </p:spPr>
        <p:txBody>
          <a:bodyPr wrap="square" lIns="0" tIns="0" rIns="0" bIns="0" anchor="t">
            <a:spAutoFit/>
          </a:bodyPr>
          <a:lstStyle/>
          <a:p>
            <a:pPr>
              <a:lnSpc>
                <a:spcPct val="118000"/>
              </a:lnSpc>
              <a:spcBef>
                <a:spcPts val="0"/>
              </a:spcBef>
              <a:spcAft>
                <a:spcPts val="400"/>
              </a:spcAft>
            </a:pPr>
            <a:r>
              <a:rPr sz="950" b="1" i="0">
                <a:solidFill>
                  <a:srgbClr val="003A75"/>
                </a:solidFill>
                <a:latin typeface="맑은 고딕"/>
              </a:rPr>
              <a:t>산업분석</a:t>
            </a: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8000"/>
              </a:lnSpc>
              <a:spcBef>
                <a:spcPts val="0"/>
              </a:spcBef>
              <a:spcAft>
                <a:spcPts val="400"/>
              </a:spcAft>
            </a:pPr>
            <a:r>
              <a:rPr sz="900" b="0" i="0">
                <a:solidFill>
                  <a:srgbClr val="6B7785"/>
                </a:solidFill>
                <a:latin typeface="맑은 고딕"/>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97435" y="905468"/>
            <a:ext cx="5943600" cy="180627"/>
          </a:xfrm>
          <a:prstGeom prst="rect">
            <a:avLst/>
          </a:prstGeom>
          <a:noFill/>
        </p:spPr>
        <p:txBody>
          <a:bodyPr wrap="square" lIns="0" tIns="0" rIns="0" bIns="0" anchor="t">
            <a:spAutoFit/>
          </a:bodyPr>
          <a:lstStyle/>
          <a:p>
            <a:pPr>
              <a:lnSpc>
                <a:spcPct val="118000"/>
              </a:lnSpc>
              <a:spcBef>
                <a:spcPts val="0"/>
              </a:spcBef>
              <a:spcAft>
                <a:spcPts val="400"/>
              </a:spcAft>
            </a:pPr>
            <a:r>
              <a:rPr sz="1100" b="1" i="0" dirty="0">
                <a:latin typeface="맑은 고딕"/>
              </a:rPr>
              <a:t>1.3  EV </a:t>
            </a:r>
            <a:r>
              <a:rPr sz="1100" b="1" i="0" dirty="0" err="1">
                <a:latin typeface="맑은 고딕"/>
              </a:rPr>
              <a:t>수요</a:t>
            </a:r>
            <a:r>
              <a:rPr sz="1100" b="1" i="0" dirty="0">
                <a:latin typeface="맑은 고딕"/>
              </a:rPr>
              <a:t> </a:t>
            </a:r>
            <a:r>
              <a:rPr sz="1100" b="1" i="0" dirty="0" err="1">
                <a:latin typeface="맑은 고딕"/>
              </a:rPr>
              <a:t>사이클</a:t>
            </a:r>
            <a:r>
              <a:rPr sz="1100" b="1" i="0" dirty="0">
                <a:latin typeface="맑은 고딕"/>
              </a:rPr>
              <a:t> — </a:t>
            </a:r>
            <a:r>
              <a:rPr sz="1100" b="1" i="0" dirty="0" err="1">
                <a:latin typeface="맑은 고딕"/>
              </a:rPr>
              <a:t>권역별</a:t>
            </a:r>
            <a:r>
              <a:rPr sz="1100" b="1" i="0" dirty="0">
                <a:latin typeface="맑은 고딕"/>
              </a:rPr>
              <a:t> </a:t>
            </a:r>
            <a:r>
              <a:rPr sz="1100" b="1" i="0" dirty="0" err="1">
                <a:latin typeface="맑은 고딕"/>
              </a:rPr>
              <a:t>시차</a:t>
            </a:r>
            <a:r>
              <a:rPr sz="1100" b="1" i="0" dirty="0">
                <a:latin typeface="맑은 고딕"/>
              </a:rPr>
              <a:t> </a:t>
            </a:r>
            <a:r>
              <a:rPr sz="1100" b="1" i="0" dirty="0" err="1">
                <a:latin typeface="맑은 고딕"/>
              </a:rPr>
              <a:t>턴어라운드</a:t>
            </a:r>
            <a:r>
              <a:rPr sz="1100" b="1" i="0" dirty="0">
                <a:latin typeface="맑은 고딕"/>
              </a:rPr>
              <a:t> </a:t>
            </a:r>
            <a:r>
              <a:rPr sz="1100" b="1" i="0" dirty="0" err="1">
                <a:latin typeface="맑은 고딕"/>
              </a:rPr>
              <a:t>전망</a:t>
            </a:r>
            <a:endParaRPr sz="1100" b="1" i="0" dirty="0">
              <a:latin typeface="맑은 고딕"/>
            </a:endParaRPr>
          </a:p>
        </p:txBody>
      </p:sp>
      <p:sp>
        <p:nvSpPr>
          <p:cNvPr id="6" name="TextBox 5"/>
          <p:cNvSpPr txBox="1"/>
          <p:nvPr/>
        </p:nvSpPr>
        <p:spPr>
          <a:xfrm>
            <a:off x="1497435" y="1172167"/>
            <a:ext cx="5943600" cy="172420"/>
          </a:xfrm>
          <a:prstGeom prst="rect">
            <a:avLst/>
          </a:prstGeom>
          <a:noFill/>
        </p:spPr>
        <p:txBody>
          <a:bodyPr wrap="square" lIns="0" tIns="0" rIns="0" bIns="0" anchor="t">
            <a:spAutoFit/>
          </a:bodyPr>
          <a:lstStyle/>
          <a:p>
            <a:pPr>
              <a:lnSpc>
                <a:spcPct val="118000"/>
              </a:lnSpc>
              <a:spcBef>
                <a:spcPts val="0"/>
              </a:spcBef>
              <a:spcAft>
                <a:spcPts val="400"/>
              </a:spcAft>
            </a:pPr>
            <a:r>
              <a:rPr sz="1050" b="1">
                <a:latin typeface="맑은 고딕"/>
              </a:rPr>
              <a:t>글로벌 EV는 캐즘 저점 국면 — 유럽 회복·북미 둔화의 '시차 턴어라운드' 전망</a:t>
            </a:r>
          </a:p>
        </p:txBody>
      </p:sp>
      <p:sp>
        <p:nvSpPr>
          <p:cNvPr id="7" name="TextBox 6"/>
          <p:cNvSpPr txBox="1"/>
          <p:nvPr/>
        </p:nvSpPr>
        <p:spPr>
          <a:xfrm>
            <a:off x="1497434" y="1468652"/>
            <a:ext cx="4903365" cy="1698285"/>
          </a:xfrm>
          <a:prstGeom prst="rect">
            <a:avLst/>
          </a:prstGeom>
          <a:noFill/>
        </p:spPr>
        <p:txBody>
          <a:bodyPr wrap="square" lIns="0" tIns="0" rIns="0" bIns="0" anchor="t">
            <a:spAutoFit/>
          </a:bodyPr>
          <a:lstStyle/>
          <a:p>
            <a:pPr algn="just">
              <a:lnSpc>
                <a:spcPct val="125000"/>
              </a:lnSpc>
              <a:spcBef>
                <a:spcPts val="0"/>
              </a:spcBef>
              <a:spcAft>
                <a:spcPts val="700"/>
              </a:spcAft>
            </a:pPr>
            <a:r>
              <a:rPr sz="1000" b="0" i="0" dirty="0" err="1">
                <a:solidFill>
                  <a:srgbClr val="222222"/>
                </a:solidFill>
                <a:latin typeface="맑은 고딕"/>
              </a:rPr>
              <a:t>글로벌</a:t>
            </a:r>
            <a:r>
              <a:rPr sz="1000" b="0" i="0" dirty="0">
                <a:solidFill>
                  <a:srgbClr val="222222"/>
                </a:solidFill>
                <a:latin typeface="맑은 고딕"/>
              </a:rPr>
              <a:t> EV </a:t>
            </a:r>
            <a:r>
              <a:rPr sz="1000" b="0" i="0" dirty="0" err="1">
                <a:solidFill>
                  <a:srgbClr val="222222"/>
                </a:solidFill>
                <a:latin typeface="맑은 고딕"/>
              </a:rPr>
              <a:t>수요는</a:t>
            </a:r>
            <a:r>
              <a:rPr sz="1000" b="0" i="0" dirty="0">
                <a:solidFill>
                  <a:srgbClr val="222222"/>
                </a:solidFill>
                <a:latin typeface="맑은 고딕"/>
              </a:rPr>
              <a:t> </a:t>
            </a:r>
            <a:r>
              <a:rPr sz="1000" b="0" i="0" dirty="0" err="1">
                <a:solidFill>
                  <a:srgbClr val="222222"/>
                </a:solidFill>
                <a:latin typeface="맑은 고딕"/>
              </a:rPr>
              <a:t>단기</a:t>
            </a:r>
            <a:r>
              <a:rPr sz="1000" b="0" i="0" dirty="0">
                <a:solidFill>
                  <a:srgbClr val="222222"/>
                </a:solidFill>
                <a:latin typeface="맑은 고딕"/>
              </a:rPr>
              <a:t> </a:t>
            </a:r>
            <a:r>
              <a:rPr sz="1000" b="0" i="0" dirty="0" err="1">
                <a:solidFill>
                  <a:srgbClr val="222222"/>
                </a:solidFill>
                <a:latin typeface="맑은 고딕"/>
              </a:rPr>
              <a:t>캐즘</a:t>
            </a:r>
            <a:r>
              <a:rPr sz="1000" b="0" i="0" dirty="0">
                <a:solidFill>
                  <a:srgbClr val="222222"/>
                </a:solidFill>
                <a:latin typeface="맑은 고딕"/>
              </a:rPr>
              <a:t>(Chasm)의 </a:t>
            </a:r>
            <a:r>
              <a:rPr sz="1000" b="0" i="0" dirty="0" err="1">
                <a:solidFill>
                  <a:srgbClr val="222222"/>
                </a:solidFill>
                <a:latin typeface="맑은 고딕"/>
              </a:rPr>
              <a:t>저점</a:t>
            </a:r>
            <a:r>
              <a:rPr sz="1000" b="0" i="0" dirty="0">
                <a:solidFill>
                  <a:srgbClr val="222222"/>
                </a:solidFill>
                <a:latin typeface="맑은 고딕"/>
              </a:rPr>
              <a:t> </a:t>
            </a:r>
            <a:r>
              <a:rPr sz="1000" b="0" i="0" dirty="0" err="1">
                <a:solidFill>
                  <a:srgbClr val="222222"/>
                </a:solidFill>
                <a:latin typeface="맑은 고딕"/>
              </a:rPr>
              <a:t>국면을</a:t>
            </a:r>
            <a:r>
              <a:rPr sz="1000" b="0" i="0" dirty="0">
                <a:solidFill>
                  <a:srgbClr val="222222"/>
                </a:solidFill>
                <a:latin typeface="맑은 고딕"/>
              </a:rPr>
              <a:t> </a:t>
            </a:r>
            <a:r>
              <a:rPr sz="1000" b="0" i="0" dirty="0" err="1">
                <a:solidFill>
                  <a:srgbClr val="222222"/>
                </a:solidFill>
                <a:latin typeface="맑은 고딕"/>
              </a:rPr>
              <a:t>통과하고</a:t>
            </a:r>
            <a:r>
              <a:rPr sz="1000" b="0" i="0" dirty="0">
                <a:solidFill>
                  <a:srgbClr val="222222"/>
                </a:solidFill>
                <a:latin typeface="맑은 고딕"/>
              </a:rPr>
              <a:t> </a:t>
            </a:r>
            <a:r>
              <a:rPr sz="1000" b="0" i="0" dirty="0" err="1">
                <a:solidFill>
                  <a:srgbClr val="222222"/>
                </a:solidFill>
                <a:latin typeface="맑은 고딕"/>
              </a:rPr>
              <a:t>있다</a:t>
            </a:r>
            <a:r>
              <a:rPr sz="1000" b="0" i="0" dirty="0">
                <a:solidFill>
                  <a:srgbClr val="222222"/>
                </a:solidFill>
                <a:latin typeface="맑은 고딕"/>
              </a:rPr>
              <a:t>. </a:t>
            </a:r>
            <a:r>
              <a:rPr sz="1000" b="0" i="0" dirty="0" err="1">
                <a:solidFill>
                  <a:srgbClr val="222222"/>
                </a:solidFill>
                <a:latin typeface="맑은 고딕"/>
              </a:rPr>
              <a:t>권역별로</a:t>
            </a:r>
            <a:r>
              <a:rPr sz="1000" b="0" i="0" dirty="0">
                <a:solidFill>
                  <a:srgbClr val="222222"/>
                </a:solidFill>
                <a:latin typeface="맑은 고딕"/>
              </a:rPr>
              <a:t> </a:t>
            </a:r>
            <a:r>
              <a:rPr sz="1000" b="0" i="0" dirty="0" err="1">
                <a:solidFill>
                  <a:srgbClr val="222222"/>
                </a:solidFill>
                <a:latin typeface="맑은 고딕"/>
              </a:rPr>
              <a:t>환경</a:t>
            </a:r>
            <a:r>
              <a:rPr sz="1000" b="0" i="0" dirty="0">
                <a:solidFill>
                  <a:srgbClr val="222222"/>
                </a:solidFill>
                <a:latin typeface="맑은 고딕"/>
              </a:rPr>
              <a:t> </a:t>
            </a:r>
            <a:r>
              <a:rPr sz="1000" b="0" i="0" dirty="0" err="1">
                <a:solidFill>
                  <a:srgbClr val="222222"/>
                </a:solidFill>
                <a:latin typeface="맑은 고딕"/>
              </a:rPr>
              <a:t>규제와</a:t>
            </a:r>
            <a:r>
              <a:rPr sz="1000" b="0" i="0" dirty="0">
                <a:solidFill>
                  <a:srgbClr val="222222"/>
                </a:solidFill>
                <a:latin typeface="맑은 고딕"/>
              </a:rPr>
              <a:t> </a:t>
            </a:r>
            <a:r>
              <a:rPr sz="1000" b="0" i="0" dirty="0" err="1">
                <a:solidFill>
                  <a:srgbClr val="222222"/>
                </a:solidFill>
                <a:latin typeface="맑은 고딕"/>
              </a:rPr>
              <a:t>보조금</a:t>
            </a:r>
            <a:r>
              <a:rPr sz="1000" b="0" i="0" dirty="0">
                <a:solidFill>
                  <a:srgbClr val="222222"/>
                </a:solidFill>
                <a:latin typeface="맑은 고딕"/>
              </a:rPr>
              <a:t> </a:t>
            </a:r>
            <a:r>
              <a:rPr sz="1000" b="0" i="0" dirty="0" err="1">
                <a:solidFill>
                  <a:srgbClr val="222222"/>
                </a:solidFill>
                <a:latin typeface="맑은 고딕"/>
              </a:rPr>
              <a:t>정책에</a:t>
            </a:r>
            <a:r>
              <a:rPr sz="1000" b="0" i="0" dirty="0">
                <a:solidFill>
                  <a:srgbClr val="222222"/>
                </a:solidFill>
                <a:latin typeface="맑은 고딕"/>
              </a:rPr>
              <a:t> </a:t>
            </a:r>
            <a:r>
              <a:rPr sz="1000" b="0" i="0" dirty="0" err="1">
                <a:solidFill>
                  <a:srgbClr val="222222"/>
                </a:solidFill>
                <a:latin typeface="맑은 고딕"/>
              </a:rPr>
              <a:t>따라</a:t>
            </a:r>
            <a:r>
              <a:rPr sz="1000" b="0" i="0" dirty="0">
                <a:solidFill>
                  <a:srgbClr val="222222"/>
                </a:solidFill>
                <a:latin typeface="맑은 고딕"/>
              </a:rPr>
              <a:t> </a:t>
            </a:r>
            <a:r>
              <a:rPr sz="1000" b="0" i="0" dirty="0" err="1">
                <a:solidFill>
                  <a:srgbClr val="222222"/>
                </a:solidFill>
                <a:latin typeface="맑은 고딕"/>
              </a:rPr>
              <a:t>시차를</a:t>
            </a:r>
            <a:r>
              <a:rPr sz="1000" b="0" i="0" dirty="0">
                <a:solidFill>
                  <a:srgbClr val="222222"/>
                </a:solidFill>
                <a:latin typeface="맑은 고딕"/>
              </a:rPr>
              <a:t> </a:t>
            </a:r>
            <a:r>
              <a:rPr sz="1000" b="0" i="0" dirty="0" err="1">
                <a:solidFill>
                  <a:srgbClr val="222222"/>
                </a:solidFill>
                <a:latin typeface="맑은 고딕"/>
              </a:rPr>
              <a:t>두고</a:t>
            </a:r>
            <a:r>
              <a:rPr sz="1000" b="0" i="0" dirty="0">
                <a:solidFill>
                  <a:srgbClr val="222222"/>
                </a:solidFill>
                <a:latin typeface="맑은 고딕"/>
              </a:rPr>
              <a:t> </a:t>
            </a:r>
            <a:r>
              <a:rPr sz="1000" b="0" i="0" dirty="0" err="1">
                <a:solidFill>
                  <a:srgbClr val="222222"/>
                </a:solidFill>
                <a:latin typeface="맑은 고딕"/>
              </a:rPr>
              <a:t>회복하는</a:t>
            </a:r>
            <a:r>
              <a:rPr sz="1000" b="0" i="0" dirty="0">
                <a:solidFill>
                  <a:srgbClr val="222222"/>
                </a:solidFill>
                <a:latin typeface="맑은 고딕"/>
              </a:rPr>
              <a:t> </a:t>
            </a:r>
            <a:r>
              <a:rPr sz="1000" b="0" i="0" dirty="0" err="1">
                <a:solidFill>
                  <a:srgbClr val="222222"/>
                </a:solidFill>
                <a:latin typeface="맑은 고딕"/>
              </a:rPr>
              <a:t>양상이다</a:t>
            </a:r>
            <a:r>
              <a:rPr sz="1000" b="0" i="0" dirty="0">
                <a:solidFill>
                  <a:srgbClr val="222222"/>
                </a:solidFill>
                <a:latin typeface="맑은 고딕"/>
              </a:rPr>
              <a:t>.</a:t>
            </a:r>
          </a:p>
          <a:p>
            <a:pPr algn="just">
              <a:lnSpc>
                <a:spcPct val="125000"/>
              </a:lnSpc>
              <a:spcBef>
                <a:spcPts val="0"/>
              </a:spcBef>
              <a:spcAft>
                <a:spcPts val="700"/>
              </a:spcAft>
            </a:pPr>
            <a:r>
              <a:rPr sz="1000" b="0" i="0" dirty="0" err="1">
                <a:solidFill>
                  <a:srgbClr val="222222"/>
                </a:solidFill>
                <a:latin typeface="맑은 고딕"/>
              </a:rPr>
              <a:t>유럽은</a:t>
            </a:r>
            <a:r>
              <a:rPr sz="1000" b="0" i="0" dirty="0">
                <a:solidFill>
                  <a:srgbClr val="222222"/>
                </a:solidFill>
                <a:latin typeface="맑은 고딕"/>
              </a:rPr>
              <a:t> </a:t>
            </a:r>
            <a:r>
              <a:rPr sz="1000" b="0" i="0" dirty="0" err="1">
                <a:solidFill>
                  <a:srgbClr val="222222"/>
                </a:solidFill>
                <a:latin typeface="맑은 고딕"/>
              </a:rPr>
              <a:t>탄소배출</a:t>
            </a:r>
            <a:r>
              <a:rPr sz="1000" b="0" i="0" dirty="0">
                <a:solidFill>
                  <a:srgbClr val="222222"/>
                </a:solidFill>
                <a:latin typeface="맑은 고딕"/>
              </a:rPr>
              <a:t> </a:t>
            </a:r>
            <a:r>
              <a:rPr sz="1000" b="0" i="0" dirty="0" err="1">
                <a:solidFill>
                  <a:srgbClr val="222222"/>
                </a:solidFill>
                <a:latin typeface="맑은 고딕"/>
              </a:rPr>
              <a:t>규제</a:t>
            </a:r>
            <a:r>
              <a:rPr sz="1000" b="0" i="0" dirty="0">
                <a:solidFill>
                  <a:srgbClr val="222222"/>
                </a:solidFill>
                <a:latin typeface="맑은 고딕"/>
              </a:rPr>
              <a:t> </a:t>
            </a:r>
            <a:r>
              <a:rPr sz="1000" b="0" i="0" dirty="0" err="1">
                <a:solidFill>
                  <a:srgbClr val="222222"/>
                </a:solidFill>
                <a:latin typeface="맑은 고딕"/>
              </a:rPr>
              <a:t>강화</a:t>
            </a:r>
            <a:r>
              <a:rPr sz="1000" b="0" i="0" dirty="0">
                <a:solidFill>
                  <a:srgbClr val="222222"/>
                </a:solidFill>
                <a:latin typeface="맑은 고딕"/>
              </a:rPr>
              <a:t> </a:t>
            </a:r>
            <a:r>
              <a:rPr sz="1000" b="0" i="0" dirty="0" err="1">
                <a:solidFill>
                  <a:srgbClr val="222222"/>
                </a:solidFill>
                <a:latin typeface="맑은 고딕"/>
              </a:rPr>
              <a:t>기조</a:t>
            </a:r>
            <a:r>
              <a:rPr sz="1000" b="0" i="0" dirty="0">
                <a:solidFill>
                  <a:srgbClr val="222222"/>
                </a:solidFill>
                <a:latin typeface="맑은 고딕"/>
              </a:rPr>
              <a:t> </a:t>
            </a:r>
            <a:r>
              <a:rPr sz="1000" b="0" i="0" dirty="0" err="1">
                <a:solidFill>
                  <a:srgbClr val="222222"/>
                </a:solidFill>
                <a:latin typeface="맑은 고딕"/>
              </a:rPr>
              <a:t>속에</a:t>
            </a:r>
            <a:r>
              <a:rPr sz="1000" b="0" i="0" dirty="0">
                <a:solidFill>
                  <a:srgbClr val="222222"/>
                </a:solidFill>
                <a:latin typeface="맑은 고딕"/>
              </a:rPr>
              <a:t> BEV </a:t>
            </a:r>
            <a:r>
              <a:rPr sz="1000" b="0" i="0" dirty="0" err="1">
                <a:solidFill>
                  <a:srgbClr val="222222"/>
                </a:solidFill>
                <a:latin typeface="맑은 고딕"/>
              </a:rPr>
              <a:t>수요가</a:t>
            </a:r>
            <a:r>
              <a:rPr sz="1000" b="0" i="0" dirty="0">
                <a:solidFill>
                  <a:srgbClr val="222222"/>
                </a:solidFill>
                <a:latin typeface="맑은 고딕"/>
              </a:rPr>
              <a:t> </a:t>
            </a:r>
            <a:r>
              <a:rPr sz="1000" b="0" i="0" dirty="0" err="1">
                <a:solidFill>
                  <a:srgbClr val="222222"/>
                </a:solidFill>
                <a:latin typeface="맑은 고딕"/>
              </a:rPr>
              <a:t>견조하게</a:t>
            </a:r>
            <a:r>
              <a:rPr sz="1000" b="0" i="0" dirty="0">
                <a:solidFill>
                  <a:srgbClr val="222222"/>
                </a:solidFill>
                <a:latin typeface="맑은 고딕"/>
              </a:rPr>
              <a:t> </a:t>
            </a:r>
            <a:r>
              <a:rPr sz="1000" b="0" i="0" dirty="0" err="1">
                <a:solidFill>
                  <a:srgbClr val="222222"/>
                </a:solidFill>
                <a:latin typeface="맑은 고딕"/>
              </a:rPr>
              <a:t>회복되는</a:t>
            </a:r>
            <a:r>
              <a:rPr sz="1000" b="0" i="0" dirty="0">
                <a:solidFill>
                  <a:srgbClr val="222222"/>
                </a:solidFill>
                <a:latin typeface="맑은 고딕"/>
              </a:rPr>
              <a:t> </a:t>
            </a:r>
            <a:r>
              <a:rPr sz="1000" b="0" i="0" dirty="0" err="1">
                <a:solidFill>
                  <a:srgbClr val="222222"/>
                </a:solidFill>
                <a:latin typeface="맑은 고딕"/>
              </a:rPr>
              <a:t>흐름으로</a:t>
            </a:r>
            <a:r>
              <a:rPr sz="1000" b="0" i="0" dirty="0">
                <a:solidFill>
                  <a:srgbClr val="222222"/>
                </a:solidFill>
                <a:latin typeface="맑은 고딕"/>
              </a:rPr>
              <a:t>, </a:t>
            </a:r>
            <a:r>
              <a:rPr sz="1000" b="0" i="0" dirty="0" err="1">
                <a:solidFill>
                  <a:srgbClr val="222222"/>
                </a:solidFill>
                <a:latin typeface="맑은 고딕"/>
              </a:rPr>
              <a:t>독일·프랑스</a:t>
            </a:r>
            <a:r>
              <a:rPr sz="1000" b="0" i="0" dirty="0">
                <a:solidFill>
                  <a:srgbClr val="222222"/>
                </a:solidFill>
                <a:latin typeface="맑은 고딕"/>
              </a:rPr>
              <a:t> 등 </a:t>
            </a:r>
            <a:r>
              <a:rPr sz="1000" b="0" i="0" dirty="0" err="1">
                <a:solidFill>
                  <a:srgbClr val="222222"/>
                </a:solidFill>
                <a:latin typeface="맑은 고딕"/>
              </a:rPr>
              <a:t>핵심국이</a:t>
            </a:r>
            <a:r>
              <a:rPr sz="1000" b="0" i="0" dirty="0">
                <a:solidFill>
                  <a:srgbClr val="222222"/>
                </a:solidFill>
                <a:latin typeface="맑은 고딕"/>
              </a:rPr>
              <a:t> </a:t>
            </a:r>
            <a:r>
              <a:rPr sz="1000" b="0" i="0" dirty="0" err="1">
                <a:solidFill>
                  <a:srgbClr val="222222"/>
                </a:solidFill>
                <a:latin typeface="맑은 고딕"/>
              </a:rPr>
              <a:t>회복을</a:t>
            </a:r>
            <a:r>
              <a:rPr sz="1000" b="0" i="0" dirty="0">
                <a:solidFill>
                  <a:srgbClr val="222222"/>
                </a:solidFill>
                <a:latin typeface="맑은 고딕"/>
              </a:rPr>
              <a:t> </a:t>
            </a:r>
            <a:r>
              <a:rPr sz="1000" b="0" i="0" dirty="0" err="1">
                <a:solidFill>
                  <a:srgbClr val="222222"/>
                </a:solidFill>
                <a:latin typeface="맑은 고딕"/>
              </a:rPr>
              <a:t>견인한다</a:t>
            </a:r>
            <a:r>
              <a:rPr sz="1000" b="0" i="0" dirty="0">
                <a:solidFill>
                  <a:srgbClr val="222222"/>
                </a:solidFill>
                <a:latin typeface="맑은 고딕"/>
              </a:rPr>
              <a:t>. </a:t>
            </a:r>
            <a:r>
              <a:rPr sz="1000" b="0" i="0" dirty="0" err="1">
                <a:solidFill>
                  <a:srgbClr val="222222"/>
                </a:solidFill>
                <a:latin typeface="맑은 고딕"/>
              </a:rPr>
              <a:t>반면</a:t>
            </a:r>
            <a:r>
              <a:rPr sz="1000" b="0" i="0" dirty="0">
                <a:solidFill>
                  <a:srgbClr val="222222"/>
                </a:solidFill>
                <a:latin typeface="맑은 고딕"/>
              </a:rPr>
              <a:t> </a:t>
            </a:r>
            <a:r>
              <a:rPr sz="1000" b="0" i="0" dirty="0" err="1">
                <a:solidFill>
                  <a:srgbClr val="222222"/>
                </a:solidFill>
                <a:latin typeface="맑은 고딕"/>
              </a:rPr>
              <a:t>북미는</a:t>
            </a:r>
            <a:r>
              <a:rPr sz="1000" b="0" i="0" dirty="0">
                <a:solidFill>
                  <a:srgbClr val="222222"/>
                </a:solidFill>
                <a:latin typeface="맑은 고딕"/>
              </a:rPr>
              <a:t> EV </a:t>
            </a:r>
            <a:r>
              <a:rPr sz="1000" b="0" i="0" dirty="0" err="1">
                <a:solidFill>
                  <a:srgbClr val="222222"/>
                </a:solidFill>
                <a:latin typeface="맑은 고딕"/>
              </a:rPr>
              <a:t>세액공제</a:t>
            </a:r>
            <a:r>
              <a:rPr sz="1000" b="0" i="0" dirty="0">
                <a:solidFill>
                  <a:srgbClr val="222222"/>
                </a:solidFill>
                <a:latin typeface="맑은 고딕"/>
              </a:rPr>
              <a:t> </a:t>
            </a:r>
            <a:r>
              <a:rPr sz="1000" b="0" i="0" dirty="0" err="1">
                <a:solidFill>
                  <a:srgbClr val="222222"/>
                </a:solidFill>
                <a:latin typeface="맑은 고딕"/>
              </a:rPr>
              <a:t>축소</a:t>
            </a:r>
            <a:r>
              <a:rPr sz="1000" b="0" i="0" dirty="0">
                <a:solidFill>
                  <a:srgbClr val="222222"/>
                </a:solidFill>
                <a:latin typeface="맑은 고딕"/>
              </a:rPr>
              <a:t>(</a:t>
            </a:r>
            <a:r>
              <a:rPr sz="1000" b="0" i="0" dirty="0" err="1">
                <a:solidFill>
                  <a:srgbClr val="222222"/>
                </a:solidFill>
                <a:latin typeface="맑은 고딕"/>
              </a:rPr>
              <a:t>미국</a:t>
            </a:r>
            <a:r>
              <a:rPr sz="1000" b="0" i="0" dirty="0">
                <a:solidFill>
                  <a:srgbClr val="222222"/>
                </a:solidFill>
                <a:latin typeface="맑은 고딕"/>
              </a:rPr>
              <a:t> 9/30 </a:t>
            </a:r>
            <a:r>
              <a:rPr sz="1000" b="0" i="0" dirty="0" err="1">
                <a:solidFill>
                  <a:srgbClr val="222222"/>
                </a:solidFill>
                <a:latin typeface="맑은 고딕"/>
              </a:rPr>
              <a:t>보조금</a:t>
            </a:r>
            <a:r>
              <a:rPr sz="1000" b="0" i="0" dirty="0">
                <a:solidFill>
                  <a:srgbClr val="222222"/>
                </a:solidFill>
                <a:latin typeface="맑은 고딕"/>
              </a:rPr>
              <a:t> </a:t>
            </a:r>
            <a:r>
              <a:rPr sz="1000" b="0" i="0" dirty="0" err="1">
                <a:solidFill>
                  <a:srgbClr val="222222"/>
                </a:solidFill>
                <a:latin typeface="맑은 고딕"/>
              </a:rPr>
              <a:t>종료</a:t>
            </a:r>
            <a:r>
              <a:rPr sz="1000" b="0" i="0" dirty="0">
                <a:solidFill>
                  <a:srgbClr val="222222"/>
                </a:solidFill>
                <a:latin typeface="맑은 고딕"/>
              </a:rPr>
              <a:t>)와 </a:t>
            </a:r>
            <a:r>
              <a:rPr sz="1000" b="0" i="0" dirty="0" err="1">
                <a:solidFill>
                  <a:srgbClr val="222222"/>
                </a:solidFill>
                <a:latin typeface="맑은 고딕"/>
              </a:rPr>
              <a:t>하이브리드</a:t>
            </a:r>
            <a:r>
              <a:rPr sz="1000" b="0" i="0" dirty="0">
                <a:solidFill>
                  <a:srgbClr val="222222"/>
                </a:solidFill>
                <a:latin typeface="맑은 고딕"/>
              </a:rPr>
              <a:t>(HEV) </a:t>
            </a:r>
            <a:r>
              <a:rPr sz="1000" b="0" i="0" dirty="0" err="1">
                <a:solidFill>
                  <a:srgbClr val="222222"/>
                </a:solidFill>
                <a:latin typeface="맑은 고딕"/>
              </a:rPr>
              <a:t>선호</a:t>
            </a:r>
            <a:r>
              <a:rPr sz="1000" b="0" i="0" dirty="0">
                <a:solidFill>
                  <a:srgbClr val="222222"/>
                </a:solidFill>
                <a:latin typeface="맑은 고딕"/>
              </a:rPr>
              <a:t> </a:t>
            </a:r>
            <a:r>
              <a:rPr sz="1000" b="0" i="0" dirty="0" err="1">
                <a:solidFill>
                  <a:srgbClr val="222222"/>
                </a:solidFill>
                <a:latin typeface="맑은 고딕"/>
              </a:rPr>
              <a:t>전환이</a:t>
            </a:r>
            <a:r>
              <a:rPr sz="1000" b="0" i="0" dirty="0">
                <a:solidFill>
                  <a:srgbClr val="222222"/>
                </a:solidFill>
                <a:latin typeface="맑은 고딕"/>
              </a:rPr>
              <a:t> </a:t>
            </a:r>
            <a:r>
              <a:rPr sz="1000" b="0" i="0" dirty="0" err="1">
                <a:solidFill>
                  <a:srgbClr val="222222"/>
                </a:solidFill>
                <a:latin typeface="맑은 고딕"/>
              </a:rPr>
              <a:t>겹치며</a:t>
            </a:r>
            <a:r>
              <a:rPr sz="1000" b="0" i="0" dirty="0">
                <a:solidFill>
                  <a:srgbClr val="222222"/>
                </a:solidFill>
                <a:latin typeface="맑은 고딕"/>
              </a:rPr>
              <a:t> </a:t>
            </a:r>
            <a:r>
              <a:rPr sz="1000" b="0" i="0" dirty="0" err="1">
                <a:solidFill>
                  <a:srgbClr val="222222"/>
                </a:solidFill>
                <a:latin typeface="맑은 고딕"/>
              </a:rPr>
              <a:t>단기</a:t>
            </a:r>
            <a:r>
              <a:rPr sz="1000" b="0" i="0" dirty="0">
                <a:solidFill>
                  <a:srgbClr val="222222"/>
                </a:solidFill>
                <a:latin typeface="맑은 고딕"/>
              </a:rPr>
              <a:t> </a:t>
            </a:r>
            <a:r>
              <a:rPr sz="1000" b="0" i="0" dirty="0" err="1">
                <a:solidFill>
                  <a:srgbClr val="222222"/>
                </a:solidFill>
                <a:latin typeface="맑은 고딕"/>
              </a:rPr>
              <a:t>둔화가</a:t>
            </a:r>
            <a:r>
              <a:rPr sz="1000" b="0" i="0" dirty="0">
                <a:solidFill>
                  <a:srgbClr val="222222"/>
                </a:solidFill>
                <a:latin typeface="맑은 고딕"/>
              </a:rPr>
              <a:t> </a:t>
            </a:r>
            <a:r>
              <a:rPr sz="1000" b="0" i="0" dirty="0" err="1">
                <a:solidFill>
                  <a:srgbClr val="222222"/>
                </a:solidFill>
                <a:latin typeface="맑은 고딕"/>
              </a:rPr>
              <a:t>지속된다</a:t>
            </a:r>
            <a:r>
              <a:rPr sz="1000" b="0" i="0" dirty="0">
                <a:solidFill>
                  <a:srgbClr val="222222"/>
                </a:solidFill>
                <a:latin typeface="맑은 고딕"/>
              </a:rPr>
              <a:t>.</a:t>
            </a:r>
          </a:p>
          <a:p>
            <a:pPr algn="just">
              <a:lnSpc>
                <a:spcPct val="125000"/>
              </a:lnSpc>
              <a:spcBef>
                <a:spcPts val="0"/>
              </a:spcBef>
              <a:spcAft>
                <a:spcPts val="700"/>
              </a:spcAft>
            </a:pPr>
            <a:r>
              <a:rPr sz="1000" b="0" i="0" dirty="0">
                <a:solidFill>
                  <a:srgbClr val="222222"/>
                </a:solidFill>
                <a:latin typeface="맑은 고딕"/>
              </a:rPr>
              <a:t>2026년 </a:t>
            </a:r>
            <a:r>
              <a:rPr sz="1000" b="0" i="0" dirty="0" err="1">
                <a:solidFill>
                  <a:srgbClr val="222222"/>
                </a:solidFill>
                <a:latin typeface="맑은 고딕"/>
              </a:rPr>
              <a:t>상반기는</a:t>
            </a:r>
            <a:r>
              <a:rPr sz="1000" b="0" i="0" dirty="0">
                <a:solidFill>
                  <a:srgbClr val="222222"/>
                </a:solidFill>
                <a:latin typeface="맑은 고딕"/>
              </a:rPr>
              <a:t> 셀 </a:t>
            </a:r>
            <a:r>
              <a:rPr sz="1000" b="0" i="0" dirty="0" err="1">
                <a:solidFill>
                  <a:srgbClr val="222222"/>
                </a:solidFill>
                <a:latin typeface="맑은 고딕"/>
              </a:rPr>
              <a:t>가격</a:t>
            </a:r>
            <a:r>
              <a:rPr sz="1000" b="0" i="0" dirty="0">
                <a:solidFill>
                  <a:srgbClr val="222222"/>
                </a:solidFill>
                <a:latin typeface="맑은 고딕"/>
              </a:rPr>
              <a:t> </a:t>
            </a:r>
            <a:r>
              <a:rPr sz="1000" b="0" i="0" dirty="0" err="1">
                <a:solidFill>
                  <a:srgbClr val="222222"/>
                </a:solidFill>
                <a:latin typeface="맑은 고딕"/>
              </a:rPr>
              <a:t>하락과</a:t>
            </a:r>
            <a:r>
              <a:rPr sz="1000" b="0" i="0" dirty="0">
                <a:solidFill>
                  <a:srgbClr val="222222"/>
                </a:solidFill>
                <a:latin typeface="맑은 고딕"/>
              </a:rPr>
              <a:t> </a:t>
            </a:r>
            <a:r>
              <a:rPr sz="1000" b="0" i="0" dirty="0" err="1">
                <a:solidFill>
                  <a:srgbClr val="222222"/>
                </a:solidFill>
                <a:latin typeface="맑은 고딕"/>
              </a:rPr>
              <a:t>완성차</a:t>
            </a:r>
            <a:r>
              <a:rPr sz="1000" b="0" i="0" dirty="0">
                <a:solidFill>
                  <a:srgbClr val="222222"/>
                </a:solidFill>
                <a:latin typeface="맑은 고딕"/>
              </a:rPr>
              <a:t>(OEM) </a:t>
            </a:r>
            <a:r>
              <a:rPr sz="1000" b="0" i="0" dirty="0" err="1">
                <a:solidFill>
                  <a:srgbClr val="222222"/>
                </a:solidFill>
                <a:latin typeface="맑은 고딕"/>
              </a:rPr>
              <a:t>재고조정이</a:t>
            </a:r>
            <a:r>
              <a:rPr sz="1000" b="0" i="0" dirty="0">
                <a:solidFill>
                  <a:srgbClr val="222222"/>
                </a:solidFill>
                <a:latin typeface="맑은 고딕"/>
              </a:rPr>
              <a:t> </a:t>
            </a:r>
            <a:r>
              <a:rPr sz="1000" b="0" i="0" dirty="0" err="1">
                <a:solidFill>
                  <a:srgbClr val="222222"/>
                </a:solidFill>
                <a:latin typeface="맑은 고딕"/>
              </a:rPr>
              <a:t>맞물린</a:t>
            </a:r>
            <a:r>
              <a:rPr sz="1000" b="0" i="0" dirty="0">
                <a:solidFill>
                  <a:srgbClr val="222222"/>
                </a:solidFill>
                <a:latin typeface="맑은 고딕"/>
              </a:rPr>
              <a:t> </a:t>
            </a:r>
            <a:r>
              <a:rPr sz="1000" b="0" i="0" dirty="0" err="1">
                <a:solidFill>
                  <a:srgbClr val="222222"/>
                </a:solidFill>
                <a:latin typeface="맑은 고딕"/>
              </a:rPr>
              <a:t>수요</a:t>
            </a:r>
            <a:r>
              <a:rPr sz="1000" b="0" i="0" dirty="0">
                <a:solidFill>
                  <a:srgbClr val="222222"/>
                </a:solidFill>
                <a:latin typeface="맑은 고딕"/>
              </a:rPr>
              <a:t> </a:t>
            </a:r>
            <a:r>
              <a:rPr sz="1000" b="0" i="0" dirty="0" err="1">
                <a:solidFill>
                  <a:srgbClr val="222222"/>
                </a:solidFill>
                <a:latin typeface="맑은 고딕"/>
              </a:rPr>
              <a:t>사이클의</a:t>
            </a:r>
            <a:r>
              <a:rPr sz="1000" b="0" i="0" dirty="0">
                <a:solidFill>
                  <a:srgbClr val="222222"/>
                </a:solidFill>
                <a:latin typeface="맑은 고딕"/>
              </a:rPr>
              <a:t> </a:t>
            </a:r>
            <a:r>
              <a:rPr sz="1000" b="0" i="0" dirty="0" err="1">
                <a:solidFill>
                  <a:srgbClr val="222222"/>
                </a:solidFill>
                <a:latin typeface="맑은 고딕"/>
              </a:rPr>
              <a:t>단기</a:t>
            </a:r>
            <a:r>
              <a:rPr sz="1000" b="0" i="0" dirty="0">
                <a:solidFill>
                  <a:srgbClr val="222222"/>
                </a:solidFill>
                <a:latin typeface="맑은 고딕"/>
              </a:rPr>
              <a:t> </a:t>
            </a:r>
            <a:r>
              <a:rPr sz="1000" b="0" i="0" dirty="0" err="1">
                <a:solidFill>
                  <a:srgbClr val="222222"/>
                </a:solidFill>
                <a:latin typeface="맑은 고딕"/>
              </a:rPr>
              <a:t>저점으로</a:t>
            </a:r>
            <a:r>
              <a:rPr sz="1000" b="0" i="0" dirty="0">
                <a:solidFill>
                  <a:srgbClr val="222222"/>
                </a:solidFill>
                <a:latin typeface="맑은 고딕"/>
              </a:rPr>
              <a:t> </a:t>
            </a:r>
            <a:r>
              <a:rPr sz="1000" b="0" i="0" dirty="0" err="1">
                <a:solidFill>
                  <a:srgbClr val="222222"/>
                </a:solidFill>
                <a:latin typeface="맑은 고딕"/>
              </a:rPr>
              <a:t>판단된다</a:t>
            </a:r>
            <a:r>
              <a:rPr sz="1000" b="0" i="0" dirty="0">
                <a:solidFill>
                  <a:srgbClr val="222222"/>
                </a:solidFill>
                <a:latin typeface="맑은 고딕"/>
              </a:rPr>
              <a:t>. </a:t>
            </a:r>
            <a:r>
              <a:rPr sz="1000" b="0" i="0" dirty="0" err="1">
                <a:solidFill>
                  <a:srgbClr val="222222"/>
                </a:solidFill>
                <a:latin typeface="맑은 고딕"/>
              </a:rPr>
              <a:t>하반기</a:t>
            </a:r>
            <a:r>
              <a:rPr sz="1000" b="0" i="0" dirty="0">
                <a:solidFill>
                  <a:srgbClr val="222222"/>
                </a:solidFill>
                <a:latin typeface="맑은 고딕"/>
              </a:rPr>
              <a:t> </a:t>
            </a:r>
            <a:r>
              <a:rPr sz="1000" b="0" i="0" dirty="0" err="1">
                <a:solidFill>
                  <a:srgbClr val="222222"/>
                </a:solidFill>
                <a:latin typeface="맑은 고딕"/>
              </a:rPr>
              <a:t>보급형</a:t>
            </a:r>
            <a:r>
              <a:rPr sz="1000" b="0" i="0" dirty="0">
                <a:solidFill>
                  <a:srgbClr val="222222"/>
                </a:solidFill>
                <a:latin typeface="맑은 고딕"/>
              </a:rPr>
              <a:t> </a:t>
            </a:r>
            <a:r>
              <a:rPr sz="1000" b="0" i="0" dirty="0" err="1">
                <a:solidFill>
                  <a:srgbClr val="222222"/>
                </a:solidFill>
                <a:latin typeface="맑은 고딕"/>
              </a:rPr>
              <a:t>신차</a:t>
            </a:r>
            <a:r>
              <a:rPr sz="1000" b="0" i="0" dirty="0">
                <a:solidFill>
                  <a:srgbClr val="222222"/>
                </a:solidFill>
                <a:latin typeface="맑은 고딕"/>
              </a:rPr>
              <a:t> </a:t>
            </a:r>
            <a:r>
              <a:rPr sz="1000" b="0" i="0" dirty="0" err="1">
                <a:solidFill>
                  <a:srgbClr val="222222"/>
                </a:solidFill>
                <a:latin typeface="맑은 고딕"/>
              </a:rPr>
              <a:t>출시가</a:t>
            </a:r>
            <a:r>
              <a:rPr sz="1000" b="0" i="0" dirty="0">
                <a:solidFill>
                  <a:srgbClr val="222222"/>
                </a:solidFill>
                <a:latin typeface="맑은 고딕"/>
              </a:rPr>
              <a:t> </a:t>
            </a:r>
            <a:r>
              <a:rPr sz="1000" b="0" i="0" dirty="0" err="1">
                <a:solidFill>
                  <a:srgbClr val="222222"/>
                </a:solidFill>
                <a:latin typeface="맑은 고딕"/>
              </a:rPr>
              <a:t>집중되며</a:t>
            </a:r>
            <a:r>
              <a:rPr sz="1000" b="0" i="0" dirty="0">
                <a:solidFill>
                  <a:srgbClr val="222222"/>
                </a:solidFill>
                <a:latin typeface="맑은 고딕"/>
              </a:rPr>
              <a:t> '</a:t>
            </a:r>
            <a:r>
              <a:rPr sz="1000" b="0" i="0" dirty="0" err="1">
                <a:solidFill>
                  <a:srgbClr val="222222"/>
                </a:solidFill>
                <a:latin typeface="맑은 고딕"/>
              </a:rPr>
              <a:t>상저하고</a:t>
            </a:r>
            <a:r>
              <a:rPr sz="1000" b="0" i="0" dirty="0">
                <a:solidFill>
                  <a:srgbClr val="222222"/>
                </a:solidFill>
                <a:latin typeface="맑은 고딕"/>
              </a:rPr>
              <a:t>(</a:t>
            </a:r>
            <a:r>
              <a:rPr sz="1000" b="0" i="0" dirty="0" err="1">
                <a:solidFill>
                  <a:srgbClr val="222222"/>
                </a:solidFill>
                <a:latin typeface="맑은 고딕"/>
              </a:rPr>
              <a:t>上低下高</a:t>
            </a:r>
            <a:r>
              <a:rPr sz="1000" b="0" i="0" dirty="0">
                <a:solidFill>
                  <a:srgbClr val="222222"/>
                </a:solidFill>
                <a:latin typeface="맑은 고딕"/>
              </a:rPr>
              <a:t>)' </a:t>
            </a:r>
            <a:r>
              <a:rPr sz="1000" b="0" i="0" dirty="0" err="1">
                <a:solidFill>
                  <a:srgbClr val="222222"/>
                </a:solidFill>
                <a:latin typeface="맑은 고딕"/>
              </a:rPr>
              <a:t>턴어라운드가</a:t>
            </a:r>
            <a:r>
              <a:rPr sz="1000" b="0" i="0" dirty="0">
                <a:solidFill>
                  <a:srgbClr val="222222"/>
                </a:solidFill>
                <a:latin typeface="맑은 고딕"/>
              </a:rPr>
              <a:t> </a:t>
            </a:r>
            <a:r>
              <a:rPr sz="1000" b="0" i="0" dirty="0" err="1">
                <a:solidFill>
                  <a:srgbClr val="222222"/>
                </a:solidFill>
                <a:latin typeface="맑은 고딕"/>
              </a:rPr>
              <a:t>전망된다</a:t>
            </a:r>
            <a:r>
              <a:rPr sz="1000" b="0" i="0" dirty="0">
                <a:solidFill>
                  <a:srgbClr val="222222"/>
                </a:solidFill>
                <a:latin typeface="맑은 고딕"/>
              </a:rPr>
              <a:t>. </a:t>
            </a:r>
            <a:r>
              <a:rPr sz="1000" b="0" i="0" dirty="0" err="1">
                <a:solidFill>
                  <a:srgbClr val="222222"/>
                </a:solidFill>
                <a:latin typeface="맑은 고딕"/>
              </a:rPr>
              <a:t>핵심</a:t>
            </a:r>
            <a:r>
              <a:rPr sz="1000" b="0" i="0" dirty="0">
                <a:solidFill>
                  <a:srgbClr val="222222"/>
                </a:solidFill>
                <a:latin typeface="맑은 고딕"/>
              </a:rPr>
              <a:t> </a:t>
            </a:r>
            <a:r>
              <a:rPr sz="1000" b="0" i="0" dirty="0" err="1">
                <a:solidFill>
                  <a:srgbClr val="222222"/>
                </a:solidFill>
                <a:latin typeface="맑은 고딕"/>
              </a:rPr>
              <a:t>확인지표는</a:t>
            </a:r>
            <a:r>
              <a:rPr sz="1000" b="0" i="0" dirty="0">
                <a:solidFill>
                  <a:srgbClr val="222222"/>
                </a:solidFill>
                <a:latin typeface="맑은 고딕"/>
              </a:rPr>
              <a:t> </a:t>
            </a:r>
            <a:r>
              <a:rPr sz="1000" b="0" i="0" dirty="0" err="1">
                <a:solidFill>
                  <a:srgbClr val="222222"/>
                </a:solidFill>
                <a:latin typeface="맑은 고딕"/>
              </a:rPr>
              <a:t>유럽·북미</a:t>
            </a:r>
            <a:r>
              <a:rPr sz="1000" b="0" i="0" dirty="0">
                <a:solidFill>
                  <a:srgbClr val="222222"/>
                </a:solidFill>
                <a:latin typeface="맑은 고딕"/>
              </a:rPr>
              <a:t> BEV </a:t>
            </a:r>
            <a:r>
              <a:rPr sz="1000" b="0" i="0" dirty="0" err="1">
                <a:solidFill>
                  <a:srgbClr val="222222"/>
                </a:solidFill>
                <a:latin typeface="맑은 고딕"/>
              </a:rPr>
              <a:t>월별</a:t>
            </a:r>
            <a:r>
              <a:rPr sz="1000" b="0" i="0" dirty="0">
                <a:solidFill>
                  <a:srgbClr val="222222"/>
                </a:solidFill>
                <a:latin typeface="맑은 고딕"/>
              </a:rPr>
              <a:t> </a:t>
            </a:r>
            <a:r>
              <a:rPr sz="1000" b="0" i="0" dirty="0" err="1">
                <a:solidFill>
                  <a:srgbClr val="222222"/>
                </a:solidFill>
                <a:latin typeface="맑은 고딕"/>
              </a:rPr>
              <a:t>등록대수</a:t>
            </a:r>
            <a:r>
              <a:rPr sz="1000" b="0" i="0" dirty="0">
                <a:solidFill>
                  <a:srgbClr val="222222"/>
                </a:solidFill>
                <a:latin typeface="맑은 고딕"/>
              </a:rPr>
              <a:t>(MoM)다.</a:t>
            </a:r>
          </a:p>
        </p:txBody>
      </p:sp>
      <p:sp>
        <p:nvSpPr>
          <p:cNvPr id="8" name="Rectangle 7"/>
          <p:cNvSpPr/>
          <p:nvPr/>
        </p:nvSpPr>
        <p:spPr>
          <a:xfrm>
            <a:off x="457200" y="3977220"/>
            <a:ext cx="5943600" cy="256032"/>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4031369"/>
            <a:ext cx="5797296" cy="147733"/>
          </a:xfrm>
          <a:prstGeom prst="rect">
            <a:avLst/>
          </a:prstGeom>
          <a:solidFill>
            <a:schemeClr val="accent1">
              <a:lumMod val="40000"/>
              <a:lumOff val="60000"/>
            </a:schemeClr>
          </a:solidFill>
        </p:spPr>
        <p:txBody>
          <a:bodyPr wrap="square" lIns="0" tIns="0" rIns="0" bIns="0" anchor="ctr">
            <a:spAutoFit/>
          </a:bodyPr>
          <a:lstStyle/>
          <a:p>
            <a:pPr>
              <a:lnSpc>
                <a:spcPct val="118000"/>
              </a:lnSpc>
              <a:spcBef>
                <a:spcPts val="0"/>
              </a:spcBef>
              <a:spcAft>
                <a:spcPts val="400"/>
              </a:spcAft>
            </a:pPr>
            <a:r>
              <a:rPr sz="900" b="1" i="0" dirty="0">
                <a:solidFill>
                  <a:sysClr val="windowText" lastClr="000000"/>
                </a:solidFill>
                <a:latin typeface="맑은 고딕"/>
              </a:rPr>
              <a:t>[자료4] </a:t>
            </a:r>
            <a:r>
              <a:rPr sz="900" b="1" i="0" dirty="0" err="1">
                <a:solidFill>
                  <a:sysClr val="windowText" lastClr="000000"/>
                </a:solidFill>
                <a:latin typeface="맑은 고딕"/>
              </a:rPr>
              <a:t>권역별</a:t>
            </a:r>
            <a:r>
              <a:rPr sz="900" b="1" i="0" dirty="0">
                <a:solidFill>
                  <a:sysClr val="windowText" lastClr="000000"/>
                </a:solidFill>
                <a:latin typeface="맑은 고딕"/>
              </a:rPr>
              <a:t> EV </a:t>
            </a:r>
            <a:r>
              <a:rPr sz="900" b="1" i="0" dirty="0" err="1">
                <a:solidFill>
                  <a:sysClr val="windowText" lastClr="000000"/>
                </a:solidFill>
                <a:latin typeface="맑은 고딕"/>
              </a:rPr>
              <a:t>수요</a:t>
            </a:r>
            <a:r>
              <a:rPr sz="900" b="1" i="0" dirty="0">
                <a:solidFill>
                  <a:sysClr val="windowText" lastClr="000000"/>
                </a:solidFill>
                <a:latin typeface="맑은 고딕"/>
              </a:rPr>
              <a:t> </a:t>
            </a:r>
            <a:r>
              <a:rPr sz="900" b="1" i="0" dirty="0" err="1">
                <a:solidFill>
                  <a:sysClr val="windowText" lastClr="000000"/>
                </a:solidFill>
                <a:latin typeface="맑은 고딕"/>
              </a:rPr>
              <a:t>사이클</a:t>
            </a:r>
            <a:r>
              <a:rPr sz="900" b="1" i="0" dirty="0">
                <a:solidFill>
                  <a:sysClr val="windowText" lastClr="000000"/>
                </a:solidFill>
                <a:latin typeface="맑은 고딕"/>
              </a:rPr>
              <a:t> </a:t>
            </a:r>
            <a:r>
              <a:rPr sz="900" b="1" i="0" dirty="0" err="1">
                <a:solidFill>
                  <a:sysClr val="windowText" lastClr="000000"/>
                </a:solidFill>
                <a:latin typeface="맑은 고딕"/>
              </a:rPr>
              <a:t>전망</a:t>
            </a:r>
            <a:endParaRPr sz="900" b="1" i="0" dirty="0">
              <a:solidFill>
                <a:sysClr val="windowText" lastClr="000000"/>
              </a:solidFill>
              <a:latin typeface="맑은 고딕"/>
            </a:endParaRPr>
          </a:p>
        </p:txBody>
      </p:sp>
      <p:graphicFrame>
        <p:nvGraphicFramePr>
          <p:cNvPr id="10" name="Table 9"/>
          <p:cNvGraphicFramePr>
            <a:graphicFrameLocks noGrp="1"/>
          </p:cNvGraphicFramePr>
          <p:nvPr>
            <p:extLst>
              <p:ext uri="{D42A27DB-BD31-4B8C-83A1-F6EECF244321}">
                <p14:modId xmlns:p14="http://schemas.microsoft.com/office/powerpoint/2010/main" val="3033230494"/>
              </p:ext>
            </p:extLst>
          </p:nvPr>
        </p:nvGraphicFramePr>
        <p:xfrm>
          <a:off x="457200" y="4306404"/>
          <a:ext cx="5943600" cy="1444752"/>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10896">
                <a:tc>
                  <a:txBody>
                    <a:bodyPr/>
                    <a:lstStyle/>
                    <a:p>
                      <a:pPr algn="ctr"/>
                      <a:r>
                        <a:rPr sz="850" b="1" dirty="0" err="1">
                          <a:solidFill>
                            <a:schemeClr val="tx1"/>
                          </a:solidFill>
                          <a:latin typeface="맑은 고딕"/>
                        </a:rPr>
                        <a:t>권역</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사이클</a:t>
                      </a:r>
                      <a:r>
                        <a:rPr sz="850" b="1" dirty="0">
                          <a:solidFill>
                            <a:schemeClr val="tx1"/>
                          </a:solidFill>
                          <a:latin typeface="맑은 고딕"/>
                        </a:rPr>
                        <a:t> </a:t>
                      </a:r>
                      <a:r>
                        <a:rPr sz="850" b="1" dirty="0" err="1">
                          <a:solidFill>
                            <a:schemeClr val="tx1"/>
                          </a:solidFill>
                          <a:latin typeface="맑은 고딕"/>
                        </a:rPr>
                        <a:t>국면</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tc>
                  <a:txBody>
                    <a:bodyPr/>
                    <a:lstStyle/>
                    <a:p>
                      <a:pPr algn="ctr"/>
                      <a:r>
                        <a:rPr sz="850" b="1" dirty="0" err="1">
                          <a:solidFill>
                            <a:schemeClr val="tx1"/>
                          </a:solidFill>
                          <a:latin typeface="맑은 고딕"/>
                        </a:rPr>
                        <a:t>주요</a:t>
                      </a:r>
                      <a:r>
                        <a:rPr sz="850" b="1" dirty="0">
                          <a:solidFill>
                            <a:schemeClr val="tx1"/>
                          </a:solidFill>
                          <a:latin typeface="맑은 고딕"/>
                        </a:rPr>
                        <a:t> </a:t>
                      </a:r>
                      <a:r>
                        <a:rPr sz="850" b="1" dirty="0" err="1">
                          <a:solidFill>
                            <a:schemeClr val="tx1"/>
                          </a:solidFill>
                          <a:latin typeface="맑은 고딕"/>
                        </a:rPr>
                        <a:t>동인</a:t>
                      </a:r>
                      <a:r>
                        <a:rPr sz="850" b="1" dirty="0">
                          <a:solidFill>
                            <a:schemeClr val="tx1"/>
                          </a:solidFill>
                          <a:latin typeface="맑은 고딕"/>
                        </a:rPr>
                        <a:t> 및 </a:t>
                      </a:r>
                      <a:r>
                        <a:rPr sz="850" b="1" dirty="0" err="1">
                          <a:solidFill>
                            <a:schemeClr val="tx1"/>
                          </a:solidFill>
                          <a:latin typeface="맑은 고딕"/>
                        </a:rPr>
                        <a:t>특징</a:t>
                      </a:r>
                      <a:endParaRPr sz="850" b="1" dirty="0">
                        <a:solidFill>
                          <a:schemeClr val="tx1"/>
                        </a:solidFill>
                        <a:latin typeface="맑은 고딕"/>
                      </a:endParaRPr>
                    </a:p>
                  </a:txBody>
                  <a:tcPr marL="45720" marR="36576" marT="18288" marB="18288" anchor="ctr">
                    <a:solidFill>
                      <a:schemeClr val="accent1">
                        <a:lumMod val="40000"/>
                        <a:lumOff val="60000"/>
                      </a:schemeClr>
                    </a:solidFill>
                  </a:tcPr>
                </a:tc>
                <a:extLst>
                  <a:ext uri="{0D108BD9-81ED-4DB2-BD59-A6C34878D82A}">
                    <a16:rowId xmlns:a16="http://schemas.microsoft.com/office/drawing/2014/main" val="10000"/>
                  </a:ext>
                </a:extLst>
              </a:tr>
              <a:tr h="566928">
                <a:tc>
                  <a:txBody>
                    <a:bodyPr/>
                    <a:lstStyle/>
                    <a:p>
                      <a:pPr algn="l"/>
                      <a:r>
                        <a:rPr sz="850" b="0">
                          <a:solidFill>
                            <a:srgbClr val="222222"/>
                          </a:solidFill>
                          <a:latin typeface="맑은 고딕"/>
                        </a:rPr>
                        <a:t>유럽 (EU+EFTA+UK)</a:t>
                      </a:r>
                    </a:p>
                  </a:txBody>
                  <a:tcPr marL="45720" marR="36576" marT="18288" marB="18288" anchor="ctr">
                    <a:solidFill>
                      <a:srgbClr val="FFFFFF"/>
                    </a:solidFill>
                  </a:tcPr>
                </a:tc>
                <a:tc>
                  <a:txBody>
                    <a:bodyPr/>
                    <a:lstStyle/>
                    <a:p>
                      <a:pPr algn="ctr"/>
                      <a:r>
                        <a:rPr sz="850" b="0">
                          <a:solidFill>
                            <a:srgbClr val="222222"/>
                          </a:solidFill>
                          <a:latin typeface="맑은 고딕"/>
                        </a:rPr>
                        <a:t>회복 기조 (Recovery)</a:t>
                      </a:r>
                    </a:p>
                  </a:txBody>
                  <a:tcPr marL="45720" marR="36576" marT="18288" marB="18288" anchor="ctr">
                    <a:solidFill>
                      <a:srgbClr val="FFFFFF"/>
                    </a:solidFill>
                  </a:tcPr>
                </a:tc>
                <a:tc>
                  <a:txBody>
                    <a:bodyPr/>
                    <a:lstStyle/>
                    <a:p>
                      <a:pPr algn="ctr"/>
                      <a:r>
                        <a:rPr sz="850" b="0">
                          <a:solidFill>
                            <a:srgbClr val="222222"/>
                          </a:solidFill>
                          <a:latin typeface="맑은 고딕"/>
                        </a:rPr>
                        <a:t>탄소배출 규제 강화·보조금 개편, 독일·프랑스 등 핵심국이 회복 견인</a:t>
                      </a:r>
                    </a:p>
                  </a:txBody>
                  <a:tcPr marL="45720" marR="36576" marT="18288" marB="18288" anchor="ctr">
                    <a:solidFill>
                      <a:srgbClr val="FFFFFF"/>
                    </a:solidFill>
                  </a:tcPr>
                </a:tc>
                <a:extLst>
                  <a:ext uri="{0D108BD9-81ED-4DB2-BD59-A6C34878D82A}">
                    <a16:rowId xmlns:a16="http://schemas.microsoft.com/office/drawing/2014/main" val="10001"/>
                  </a:ext>
                </a:extLst>
              </a:tr>
              <a:tr h="566928">
                <a:tc>
                  <a:txBody>
                    <a:bodyPr/>
                    <a:lstStyle/>
                    <a:p>
                      <a:pPr algn="l"/>
                      <a:r>
                        <a:rPr sz="850" b="0">
                          <a:solidFill>
                            <a:srgbClr val="222222"/>
                          </a:solidFill>
                          <a:latin typeface="맑은 고딕"/>
                        </a:rPr>
                        <a:t>북미 (미국+캐나다)</a:t>
                      </a:r>
                    </a:p>
                  </a:txBody>
                  <a:tcPr marL="45720" marR="36576" marT="18288" marB="18288" anchor="ctr">
                    <a:solidFill>
                      <a:srgbClr val="EEF1F6"/>
                    </a:solidFill>
                  </a:tcPr>
                </a:tc>
                <a:tc>
                  <a:txBody>
                    <a:bodyPr/>
                    <a:lstStyle/>
                    <a:p>
                      <a:pPr algn="ctr"/>
                      <a:r>
                        <a:rPr sz="850" b="0" dirty="0" err="1">
                          <a:solidFill>
                            <a:srgbClr val="222222"/>
                          </a:solidFill>
                          <a:latin typeface="맑은 고딕"/>
                        </a:rPr>
                        <a:t>단기</a:t>
                      </a:r>
                      <a:r>
                        <a:rPr sz="850" b="0" dirty="0">
                          <a:solidFill>
                            <a:srgbClr val="222222"/>
                          </a:solidFill>
                          <a:latin typeface="맑은 고딕"/>
                        </a:rPr>
                        <a:t> </a:t>
                      </a:r>
                      <a:r>
                        <a:rPr sz="850" b="0" dirty="0" err="1">
                          <a:solidFill>
                            <a:srgbClr val="222222"/>
                          </a:solidFill>
                          <a:latin typeface="맑은 고딕"/>
                        </a:rPr>
                        <a:t>둔화</a:t>
                      </a:r>
                      <a:r>
                        <a:rPr sz="850" b="0" dirty="0">
                          <a:solidFill>
                            <a:srgbClr val="222222"/>
                          </a:solidFill>
                          <a:latin typeface="맑은 고딕"/>
                        </a:rPr>
                        <a:t> (Slowdown)</a:t>
                      </a:r>
                    </a:p>
                  </a:txBody>
                  <a:tcPr marL="45720" marR="36576" marT="18288" marB="18288" anchor="ctr">
                    <a:solidFill>
                      <a:srgbClr val="EEF1F6"/>
                    </a:solidFill>
                  </a:tcPr>
                </a:tc>
                <a:tc>
                  <a:txBody>
                    <a:bodyPr/>
                    <a:lstStyle/>
                    <a:p>
                      <a:pPr algn="ctr"/>
                      <a:r>
                        <a:rPr sz="850" b="0" dirty="0">
                          <a:solidFill>
                            <a:srgbClr val="222222"/>
                          </a:solidFill>
                          <a:latin typeface="맑은 고딕"/>
                        </a:rPr>
                        <a:t>EV </a:t>
                      </a:r>
                      <a:r>
                        <a:rPr sz="850" b="0" dirty="0" err="1">
                          <a:solidFill>
                            <a:srgbClr val="222222"/>
                          </a:solidFill>
                          <a:latin typeface="맑은 고딕"/>
                        </a:rPr>
                        <a:t>세액공제</a:t>
                      </a:r>
                      <a:r>
                        <a:rPr sz="850" b="0" dirty="0">
                          <a:solidFill>
                            <a:srgbClr val="222222"/>
                          </a:solidFill>
                          <a:latin typeface="맑은 고딕"/>
                        </a:rPr>
                        <a:t> </a:t>
                      </a:r>
                      <a:r>
                        <a:rPr sz="850" b="0" dirty="0" err="1">
                          <a:solidFill>
                            <a:srgbClr val="222222"/>
                          </a:solidFill>
                          <a:latin typeface="맑은 고딕"/>
                        </a:rPr>
                        <a:t>축소</a:t>
                      </a:r>
                      <a:r>
                        <a:rPr sz="850" b="0" dirty="0">
                          <a:solidFill>
                            <a:srgbClr val="222222"/>
                          </a:solidFill>
                          <a:latin typeface="맑은 고딕"/>
                        </a:rPr>
                        <a:t>(9/30 </a:t>
                      </a:r>
                      <a:r>
                        <a:rPr sz="850" b="0" dirty="0" err="1">
                          <a:solidFill>
                            <a:srgbClr val="222222"/>
                          </a:solidFill>
                          <a:latin typeface="맑은 고딕"/>
                        </a:rPr>
                        <a:t>종료</a:t>
                      </a:r>
                      <a:r>
                        <a:rPr sz="850" b="0" dirty="0">
                          <a:solidFill>
                            <a:srgbClr val="222222"/>
                          </a:solidFill>
                          <a:latin typeface="맑은 고딕"/>
                        </a:rPr>
                        <a:t>)·</a:t>
                      </a:r>
                      <a:r>
                        <a:rPr sz="850" b="0" dirty="0" err="1">
                          <a:solidFill>
                            <a:srgbClr val="222222"/>
                          </a:solidFill>
                          <a:latin typeface="맑은 고딕"/>
                        </a:rPr>
                        <a:t>하이브리드</a:t>
                      </a:r>
                      <a:r>
                        <a:rPr sz="850" b="0" dirty="0">
                          <a:solidFill>
                            <a:srgbClr val="222222"/>
                          </a:solidFill>
                          <a:latin typeface="맑은 고딕"/>
                        </a:rPr>
                        <a:t> </a:t>
                      </a:r>
                      <a:r>
                        <a:rPr sz="850" b="0" dirty="0" err="1">
                          <a:solidFill>
                            <a:srgbClr val="222222"/>
                          </a:solidFill>
                          <a:latin typeface="맑은 고딕"/>
                        </a:rPr>
                        <a:t>선호</a:t>
                      </a:r>
                      <a:r>
                        <a:rPr sz="850" b="0" dirty="0">
                          <a:solidFill>
                            <a:srgbClr val="222222"/>
                          </a:solidFill>
                          <a:latin typeface="맑은 고딕"/>
                        </a:rPr>
                        <a:t>, </a:t>
                      </a:r>
                      <a:r>
                        <a:rPr sz="850" b="0" dirty="0" err="1">
                          <a:solidFill>
                            <a:srgbClr val="222222"/>
                          </a:solidFill>
                          <a:latin typeface="맑은 고딕"/>
                        </a:rPr>
                        <a:t>정책</a:t>
                      </a:r>
                      <a:r>
                        <a:rPr sz="850" b="0" dirty="0">
                          <a:solidFill>
                            <a:srgbClr val="222222"/>
                          </a:solidFill>
                          <a:latin typeface="맑은 고딕"/>
                        </a:rPr>
                        <a:t> </a:t>
                      </a:r>
                      <a:r>
                        <a:rPr sz="850" b="0" dirty="0" err="1">
                          <a:solidFill>
                            <a:srgbClr val="222222"/>
                          </a:solidFill>
                          <a:latin typeface="맑은 고딕"/>
                        </a:rPr>
                        <a:t>불확실성</a:t>
                      </a:r>
                      <a:endParaRPr sz="850" b="0" dirty="0">
                        <a:solidFill>
                          <a:srgbClr val="222222"/>
                        </a:solidFill>
                        <a:latin typeface="맑은 고딕"/>
                      </a:endParaRPr>
                    </a:p>
                  </a:txBody>
                  <a:tcPr marL="45720" marR="36576" marT="18288" marB="18288" anchor="ctr">
                    <a:solidFill>
                      <a:srgbClr val="EEF1F6"/>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5760300"/>
            <a:ext cx="5943600" cy="219456"/>
          </a:xfrm>
          <a:prstGeom prst="rect">
            <a:avLst/>
          </a:prstGeom>
          <a:noFill/>
        </p:spPr>
        <p:txBody>
          <a:bodyPr wrap="square" lIns="0" tIns="0" rIns="0" bIns="0" anchor="t">
            <a:spAutoFit/>
          </a:bodyPr>
          <a:lstStyle/>
          <a:p>
            <a:pPr>
              <a:lnSpc>
                <a:spcPct val="118000"/>
              </a:lnSpc>
              <a:spcBef>
                <a:spcPts val="0"/>
              </a:spcBef>
              <a:spcAft>
                <a:spcPts val="400"/>
              </a:spcAft>
            </a:pPr>
            <a:r>
              <a:rPr sz="750" b="0" i="1">
                <a:solidFill>
                  <a:srgbClr val="6B7785"/>
                </a:solidFill>
                <a:latin typeface="맑은 고딕"/>
              </a:rPr>
              <a:t>출처: ACEA·SNE Research·증권사(2026.2월 기준), ICOK</a:t>
            </a:r>
          </a:p>
        </p:txBody>
      </p:sp>
      <p:sp>
        <p:nvSpPr>
          <p:cNvPr id="12" name="TextBox 11"/>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153" y="383924"/>
            <a:ext cx="2011035" cy="146147"/>
          </a:xfrm>
          <a:prstGeom prst="rect">
            <a:avLst/>
          </a:prstGeom>
          <a:noFill/>
        </p:spPr>
        <p:txBody>
          <a:bodyPr wrap="square" lIns="0" tIns="0" rIns="0" bIns="0" anchor="t">
            <a:spAutoFit/>
          </a:bodyPr>
          <a:lstStyle/>
          <a:p>
            <a:pPr algn="l"/>
            <a:r>
              <a:rPr lang="ko-KR" altLang="en-US" sz="950" b="1" dirty="0">
                <a:solidFill>
                  <a:srgbClr val="003A75"/>
                </a:solidFill>
                <a:latin typeface="맑은 고딕"/>
              </a:rPr>
              <a:t>산업분석</a:t>
            </a:r>
            <a:endParaRPr sz="950" b="1" dirty="0">
              <a:solidFill>
                <a:srgbClr val="003A75"/>
              </a:solidFill>
              <a:latin typeface="맑은 고딕"/>
            </a:endParaRPr>
          </a:p>
        </p:txBody>
      </p:sp>
      <p:sp>
        <p:nvSpPr>
          <p:cNvPr id="3" name="TextBox 2"/>
          <p:cNvSpPr txBox="1"/>
          <p:nvPr/>
        </p:nvSpPr>
        <p:spPr>
          <a:xfrm>
            <a:off x="2743420" y="383925"/>
            <a:ext cx="3656428" cy="138455"/>
          </a:xfrm>
          <a:prstGeom prst="rect">
            <a:avLst/>
          </a:prstGeom>
          <a:noFill/>
        </p:spPr>
        <p:txBody>
          <a:bodyPr wrap="square" lIns="0" tIns="0" rIns="0" bIns="0" anchor="t">
            <a:spAutoFit/>
          </a:bodyPr>
          <a:lstStyle/>
          <a:p>
            <a:pPr algn="r"/>
            <a:r>
              <a:rPr sz="900">
                <a:solidFill>
                  <a:srgbClr val="6B7785"/>
                </a:solidFill>
                <a:latin typeface="맑은 고딕"/>
              </a:rPr>
              <a:t>Company Research Report   |   삼성SDI (006400)</a:t>
            </a:r>
          </a:p>
        </p:txBody>
      </p:sp>
      <p:cxnSp>
        <p:nvCxnSpPr>
          <p:cNvPr id="4" name="Connector 3"/>
          <p:cNvCxnSpPr/>
          <p:nvPr/>
        </p:nvCxnSpPr>
        <p:spPr>
          <a:xfrm>
            <a:off x="458153" y="639874"/>
            <a:ext cx="5941695" cy="0"/>
          </a:xfrm>
          <a:prstGeom prst="line">
            <a:avLst/>
          </a:prstGeom>
          <a:ln w="15875">
            <a:solidFill>
              <a:srgbClr val="003A7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06617" y="936752"/>
            <a:ext cx="5393231" cy="169223"/>
          </a:xfrm>
          <a:prstGeom prst="rect">
            <a:avLst/>
          </a:prstGeom>
          <a:noFill/>
        </p:spPr>
        <p:txBody>
          <a:bodyPr wrap="square" lIns="0" tIns="0" rIns="0" bIns="0" anchor="t">
            <a:spAutoFit/>
          </a:bodyPr>
          <a:lstStyle/>
          <a:p>
            <a:pPr algn="l"/>
            <a:r>
              <a:rPr lang="en-US" altLang="ko-KR" sz="1100" b="1" dirty="0">
                <a:solidFill>
                  <a:srgbClr val="000000"/>
                </a:solidFill>
                <a:latin typeface="맑은 고딕"/>
              </a:rPr>
              <a:t>1.4 </a:t>
            </a:r>
            <a:r>
              <a:rPr lang="ko-KR" altLang="en-US" sz="1100" b="1" dirty="0" err="1">
                <a:solidFill>
                  <a:srgbClr val="000000"/>
                </a:solidFill>
                <a:latin typeface="맑은 고딕"/>
              </a:rPr>
              <a:t>탈중국</a:t>
            </a:r>
            <a:r>
              <a:rPr lang="ko-KR" altLang="en-US" sz="1100" b="1" dirty="0">
                <a:solidFill>
                  <a:srgbClr val="000000"/>
                </a:solidFill>
                <a:latin typeface="맑은 고딕"/>
              </a:rPr>
              <a:t> 공급망</a:t>
            </a:r>
            <a:r>
              <a:rPr lang="en-US" altLang="ko-KR" sz="1100" b="1" dirty="0">
                <a:solidFill>
                  <a:srgbClr val="000000"/>
                </a:solidFill>
                <a:latin typeface="맑은 고딕"/>
              </a:rPr>
              <a:t>·</a:t>
            </a:r>
            <a:r>
              <a:rPr lang="en-US" sz="1100" b="1" dirty="0">
                <a:solidFill>
                  <a:srgbClr val="000000"/>
                </a:solidFill>
                <a:latin typeface="맑은 고딕"/>
              </a:rPr>
              <a:t>IRA</a:t>
            </a:r>
            <a:endParaRPr sz="1100" b="1" dirty="0">
              <a:solidFill>
                <a:srgbClr val="000000"/>
              </a:solidFill>
              <a:latin typeface="맑은 고딕"/>
            </a:endParaRPr>
          </a:p>
        </p:txBody>
      </p:sp>
      <p:sp>
        <p:nvSpPr>
          <p:cNvPr id="8" name="TextBox 7"/>
          <p:cNvSpPr txBox="1"/>
          <p:nvPr/>
        </p:nvSpPr>
        <p:spPr>
          <a:xfrm>
            <a:off x="1006617" y="1219958"/>
            <a:ext cx="5393231" cy="161531"/>
          </a:xfrm>
          <a:prstGeom prst="rect">
            <a:avLst/>
          </a:prstGeom>
          <a:noFill/>
        </p:spPr>
        <p:txBody>
          <a:bodyPr wrap="square" lIns="0" tIns="0" rIns="0" bIns="0" anchor="t">
            <a:spAutoFit/>
          </a:bodyPr>
          <a:lstStyle/>
          <a:p>
            <a:pPr algn="l"/>
            <a:r>
              <a:rPr lang="ko-KR" altLang="en-US" sz="1050" b="1" dirty="0">
                <a:solidFill>
                  <a:srgbClr val="000000"/>
                </a:solidFill>
                <a:latin typeface="맑은 고딕"/>
              </a:rPr>
              <a:t>중국산 </a:t>
            </a:r>
            <a:r>
              <a:rPr lang="en-US" sz="1050" b="1" dirty="0">
                <a:solidFill>
                  <a:srgbClr val="000000"/>
                </a:solidFill>
                <a:latin typeface="맑은 고딕"/>
              </a:rPr>
              <a:t>ESS </a:t>
            </a:r>
            <a:r>
              <a:rPr lang="ko-KR" altLang="en-US" sz="1050" b="1" dirty="0">
                <a:solidFill>
                  <a:srgbClr val="000000"/>
                </a:solidFill>
                <a:latin typeface="맑은 고딕"/>
              </a:rPr>
              <a:t>배터리에 대한 규제 고조와 대중</a:t>
            </a:r>
            <a:r>
              <a:rPr lang="en-US" altLang="ko-KR" sz="1050" b="1" dirty="0">
                <a:solidFill>
                  <a:srgbClr val="000000"/>
                </a:solidFill>
                <a:latin typeface="맑은 고딕"/>
              </a:rPr>
              <a:t>(</a:t>
            </a:r>
            <a:r>
              <a:rPr lang="ko-KR" altLang="en-US" sz="1050" b="1" dirty="0" err="1">
                <a:solidFill>
                  <a:srgbClr val="000000"/>
                </a:solidFill>
                <a:latin typeface="맑은 고딕"/>
              </a:rPr>
              <a:t>對中</a:t>
            </a:r>
            <a:r>
              <a:rPr lang="en-US" altLang="ko-KR" sz="1050" b="1" dirty="0">
                <a:solidFill>
                  <a:srgbClr val="000000"/>
                </a:solidFill>
                <a:latin typeface="맑은 고딕"/>
              </a:rPr>
              <a:t>) </a:t>
            </a:r>
            <a:r>
              <a:rPr lang="ko-KR" altLang="en-US" sz="1050" b="1" dirty="0">
                <a:solidFill>
                  <a:srgbClr val="000000"/>
                </a:solidFill>
                <a:latin typeface="맑은 고딕"/>
              </a:rPr>
              <a:t>무역 장벽의 본격화</a:t>
            </a:r>
            <a:endParaRPr sz="1050" b="1" dirty="0">
              <a:solidFill>
                <a:srgbClr val="000000"/>
              </a:solidFill>
              <a:latin typeface="맑은 고딕"/>
            </a:endParaRPr>
          </a:p>
        </p:txBody>
      </p:sp>
      <p:sp>
        <p:nvSpPr>
          <p:cNvPr id="9" name="TextBox 8"/>
          <p:cNvSpPr txBox="1"/>
          <p:nvPr/>
        </p:nvSpPr>
        <p:spPr>
          <a:xfrm>
            <a:off x="1006617" y="1474844"/>
            <a:ext cx="5393231" cy="3253951"/>
          </a:xfrm>
          <a:prstGeom prst="rect">
            <a:avLst/>
          </a:prstGeom>
          <a:noFill/>
        </p:spPr>
        <p:txBody>
          <a:bodyPr wrap="square" lIns="0" tIns="0" rIns="0" bIns="0">
            <a:spAutoFit/>
          </a:bodyPr>
          <a:lstStyle/>
          <a:p>
            <a:pPr algn="justLow">
              <a:lnSpc>
                <a:spcPct val="132000"/>
              </a:lnSpc>
              <a:spcAft>
                <a:spcPts val="900"/>
              </a:spcAft>
            </a:pPr>
            <a:r>
              <a:rPr lang="ko-KR" altLang="en-US" sz="1000" dirty="0">
                <a:latin typeface="맑은 고딕"/>
              </a:rPr>
              <a:t>미국 무역대표부(USTR)의 무역법 301조 개정안에 따라, 2026년부터 중국산 ESS 배터리에 부과되는 관세율이 기존 7.5%에서 25%로 인상된다. 특히 반덤핑·상계관세(AD/CVD)가 더해질 경우 실효 관세율은 100%를 크게 상회한다. 여기에 해외우려집단(FEOC) 규제 가이드라인이 명확해짐에 따라 북미 유틸리티 및 전력망 시장에서 중국산 배터리의 진입은 원천적으로 제한되는 국면이다. 글로벌 ESS 시장은 AI 데이터센터발 전력 수요 폭증으로 인해 2024년 399GWh에서 2035년 1,232GWh로 3배 이상 성장하는 구조적 고성장기에 진입했으나, 미국 내 현지 생산 캐파(Capacities)는 전체 수요의 약 30% 수준에 불과하다. 이처럼 공급 부족이 심화되는 상황에서 탈중국 공급망을 완비한 비중국계 제조사의 가치는 가격 조정을 넘어선 독점적 수주 창구로 기능하게 된다.</a:t>
            </a:r>
          </a:p>
          <a:p>
            <a:pPr algn="justLow">
              <a:lnSpc>
                <a:spcPct val="132000"/>
              </a:lnSpc>
              <a:spcAft>
                <a:spcPts val="900"/>
              </a:spcAft>
            </a:pPr>
            <a:r>
              <a:rPr lang="ko-KR" altLang="en-US" sz="1000" dirty="0">
                <a:latin typeface="맑은 고딕"/>
              </a:rPr>
              <a:t>삼성</a:t>
            </a:r>
            <a:r>
              <a:rPr lang="en-US" sz="1000" dirty="0">
                <a:latin typeface="맑은 고딕"/>
              </a:rPr>
              <a:t>SDI</a:t>
            </a:r>
            <a:r>
              <a:rPr lang="ko-KR" altLang="en-US" sz="1000" dirty="0">
                <a:latin typeface="맑은 고딕"/>
              </a:rPr>
              <a:t>는 미국 현지 생산을 통해 관세 리스크를 완전히 상쇄하는 동시에</a:t>
            </a:r>
            <a:r>
              <a:rPr lang="en-US" altLang="ko-KR" sz="1000" dirty="0">
                <a:latin typeface="맑은 고딕"/>
              </a:rPr>
              <a:t>, </a:t>
            </a:r>
            <a:r>
              <a:rPr lang="en-US" sz="1000" dirty="0">
                <a:latin typeface="맑은 고딕"/>
              </a:rPr>
              <a:t>IRA </a:t>
            </a:r>
            <a:r>
              <a:rPr lang="ko-KR" altLang="en-US" sz="1000" dirty="0">
                <a:latin typeface="맑은 고딕"/>
              </a:rPr>
              <a:t>첨단제조생산세액공제</a:t>
            </a:r>
            <a:r>
              <a:rPr lang="en-US" altLang="ko-KR" sz="1000" dirty="0">
                <a:latin typeface="맑은 고딕"/>
              </a:rPr>
              <a:t>(</a:t>
            </a:r>
            <a:r>
              <a:rPr lang="en-US" sz="1000" dirty="0">
                <a:latin typeface="맑은 고딕"/>
              </a:rPr>
              <a:t>AMPC) </a:t>
            </a:r>
            <a:r>
              <a:rPr lang="ko-KR" altLang="en-US" sz="1000" dirty="0">
                <a:latin typeface="맑은 고딕"/>
              </a:rPr>
              <a:t>보조금을 온전히 </a:t>
            </a:r>
            <a:r>
              <a:rPr lang="ko-KR" altLang="en-US" sz="1000" dirty="0" err="1">
                <a:latin typeface="맑은 고딕"/>
              </a:rPr>
              <a:t>내재화한다</a:t>
            </a:r>
            <a:r>
              <a:rPr lang="en-US" altLang="ko-KR" sz="1000" dirty="0">
                <a:latin typeface="맑은 고딕"/>
              </a:rPr>
              <a:t>. 2026</a:t>
            </a:r>
            <a:r>
              <a:rPr lang="ko-KR" altLang="en-US" sz="1000" dirty="0">
                <a:latin typeface="맑은 고딕"/>
              </a:rPr>
              <a:t>년 기준 셀</a:t>
            </a:r>
            <a:r>
              <a:rPr lang="en-US" altLang="ko-KR" sz="1000" dirty="0">
                <a:latin typeface="맑은 고딕"/>
              </a:rPr>
              <a:t>($35/</a:t>
            </a:r>
            <a:r>
              <a:rPr lang="en-US" sz="1000" dirty="0">
                <a:latin typeface="맑은 고딕"/>
              </a:rPr>
              <a:t>kWh)</a:t>
            </a:r>
            <a:r>
              <a:rPr lang="ko-KR" altLang="en-US" sz="1000" dirty="0">
                <a:latin typeface="맑은 고딕"/>
              </a:rPr>
              <a:t>과 모듈</a:t>
            </a:r>
            <a:r>
              <a:rPr lang="en-US" altLang="ko-KR" sz="1000" dirty="0">
                <a:latin typeface="맑은 고딕"/>
              </a:rPr>
              <a:t>($10/</a:t>
            </a:r>
            <a:r>
              <a:rPr lang="en-US" sz="1000" dirty="0">
                <a:latin typeface="맑은 고딕"/>
              </a:rPr>
              <a:t>kWh) </a:t>
            </a:r>
            <a:r>
              <a:rPr lang="ko-KR" altLang="en-US" sz="1000" dirty="0">
                <a:latin typeface="맑은 고딕"/>
              </a:rPr>
              <a:t>합산 총 </a:t>
            </a:r>
            <a:r>
              <a:rPr lang="en-US" altLang="ko-KR" sz="1000" dirty="0">
                <a:latin typeface="맑은 고딕"/>
              </a:rPr>
              <a:t>$45/</a:t>
            </a:r>
            <a:r>
              <a:rPr lang="en-US" sz="1000" dirty="0">
                <a:latin typeface="맑은 고딕"/>
              </a:rPr>
              <a:t>kWh</a:t>
            </a:r>
            <a:r>
              <a:rPr lang="ko-KR" altLang="en-US" sz="1000" dirty="0">
                <a:latin typeface="맑은 고딕"/>
              </a:rPr>
              <a:t>의 세액공제를 수취하게 되며</a:t>
            </a:r>
            <a:r>
              <a:rPr lang="en-US" altLang="ko-KR" sz="1000" dirty="0">
                <a:latin typeface="맑은 고딕"/>
              </a:rPr>
              <a:t>, </a:t>
            </a:r>
            <a:r>
              <a:rPr lang="ko-KR" altLang="en-US" sz="1000" dirty="0">
                <a:latin typeface="맑은 고딕"/>
              </a:rPr>
              <a:t>이는 중국 배터리사들이 마주해야 하는 </a:t>
            </a:r>
            <a:r>
              <a:rPr lang="en-US" altLang="ko-KR" sz="1000" dirty="0">
                <a:latin typeface="맑은 고딕"/>
              </a:rPr>
              <a:t>25%</a:t>
            </a:r>
            <a:r>
              <a:rPr lang="ko-KR" altLang="en-US" sz="1000" dirty="0">
                <a:latin typeface="맑은 고딕"/>
              </a:rPr>
              <a:t>의 관세 페널티와 대조되어 가혹한 원가 격차를 만들어낸다</a:t>
            </a:r>
            <a:r>
              <a:rPr lang="en-US" altLang="ko-KR" sz="1000" dirty="0">
                <a:latin typeface="맑은 고딕"/>
              </a:rPr>
              <a:t>. </a:t>
            </a:r>
            <a:r>
              <a:rPr lang="ko-KR" altLang="en-US" sz="1000" dirty="0">
                <a:latin typeface="맑은 고딕"/>
              </a:rPr>
              <a:t>결과적으로 보조금 수혜를 기반으로 한 가격 경쟁력과 안정적인 공급 능력이 결합되어 북미 대형 </a:t>
            </a:r>
            <a:r>
              <a:rPr lang="ko-KR" altLang="en-US" sz="1000" dirty="0" err="1">
                <a:latin typeface="맑은 고딕"/>
              </a:rPr>
              <a:t>디벨로퍼들을</a:t>
            </a:r>
            <a:r>
              <a:rPr lang="ko-KR" altLang="en-US" sz="1000" dirty="0">
                <a:latin typeface="맑은 고딕"/>
              </a:rPr>
              <a:t> 유인하는 핵심 해자</a:t>
            </a:r>
            <a:r>
              <a:rPr lang="en-US" altLang="ko-KR" sz="1000" dirty="0">
                <a:latin typeface="맑은 고딕"/>
              </a:rPr>
              <a:t>(</a:t>
            </a:r>
            <a:r>
              <a:rPr lang="en-US" sz="1000" dirty="0">
                <a:latin typeface="맑은 고딕"/>
              </a:rPr>
              <a:t>Moat)</a:t>
            </a:r>
            <a:r>
              <a:rPr lang="ko-KR" altLang="en-US" sz="1000" dirty="0">
                <a:latin typeface="맑은 고딕"/>
              </a:rPr>
              <a:t>로 작용할 전망이다</a:t>
            </a:r>
            <a:r>
              <a:rPr lang="en-US" altLang="ko-KR" sz="1000" dirty="0">
                <a:latin typeface="맑은 고딕"/>
              </a:rPr>
              <a:t>.</a:t>
            </a:r>
            <a:endParaRPr lang="en-US" sz="1000" dirty="0">
              <a:latin typeface="맑은 고딕"/>
            </a:endParaRPr>
          </a:p>
          <a:p>
            <a:pPr algn="justLow">
              <a:lnSpc>
                <a:spcPct val="132000"/>
              </a:lnSpc>
              <a:spcAft>
                <a:spcPts val="900"/>
              </a:spcAft>
            </a:pPr>
            <a:endParaRPr lang="en-KR" sz="1000" dirty="0">
              <a:latin typeface="맑은 고딕"/>
            </a:endParaRPr>
          </a:p>
        </p:txBody>
      </p:sp>
      <p:graphicFrame>
        <p:nvGraphicFramePr>
          <p:cNvPr id="32" name="표 31">
            <a:extLst>
              <a:ext uri="{FF2B5EF4-FFF2-40B4-BE49-F238E27FC236}">
                <a16:creationId xmlns:a16="http://schemas.microsoft.com/office/drawing/2014/main" id="{C8AE31C8-994F-F054-1A0C-CC10B8B628D4}"/>
              </a:ext>
            </a:extLst>
          </p:cNvPr>
          <p:cNvGraphicFramePr>
            <a:graphicFrameLocks noGrp="1"/>
          </p:cNvGraphicFramePr>
          <p:nvPr>
            <p:extLst>
              <p:ext uri="{D42A27DB-BD31-4B8C-83A1-F6EECF244321}">
                <p14:modId xmlns:p14="http://schemas.microsoft.com/office/powerpoint/2010/main" val="1624196243"/>
              </p:ext>
            </p:extLst>
          </p:nvPr>
        </p:nvGraphicFramePr>
        <p:xfrm>
          <a:off x="1099" y="4912569"/>
          <a:ext cx="6855802" cy="2501081"/>
        </p:xfrm>
        <a:graphic>
          <a:graphicData uri="http://schemas.openxmlformats.org/drawingml/2006/table">
            <a:tbl>
              <a:tblPr firstRow="1" firstCol="1" bandRow="1">
                <a:tableStyleId>{5C22544A-7EE6-4342-B048-85BDC9FD1C3A}</a:tableStyleId>
              </a:tblPr>
              <a:tblGrid>
                <a:gridCol w="3419676">
                  <a:extLst>
                    <a:ext uri="{9D8B030D-6E8A-4147-A177-3AD203B41FA5}">
                      <a16:colId xmlns:a16="http://schemas.microsoft.com/office/drawing/2014/main" val="3875042380"/>
                    </a:ext>
                  </a:extLst>
                </a:gridCol>
                <a:gridCol w="3436126">
                  <a:extLst>
                    <a:ext uri="{9D8B030D-6E8A-4147-A177-3AD203B41FA5}">
                      <a16:colId xmlns:a16="http://schemas.microsoft.com/office/drawing/2014/main" val="1501584599"/>
                    </a:ext>
                  </a:extLst>
                </a:gridCol>
              </a:tblGrid>
              <a:tr h="258728">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mj-ea"/>
                          <a:ea typeface="+mj-ea"/>
                          <a:cs typeface="Pretendard" panose="02000503000000020004" pitchFamily="2" charset="-127"/>
                        </a:rPr>
                        <a:t>자료 </a:t>
                      </a:r>
                      <a:r>
                        <a:rPr lang="en-US" altLang="ko-KR" sz="1000" b="1" kern="100" dirty="0">
                          <a:solidFill>
                            <a:schemeClr val="tx1"/>
                          </a:solidFill>
                          <a:effectLst/>
                          <a:latin typeface="+mj-ea"/>
                          <a:ea typeface="+mj-ea"/>
                          <a:cs typeface="Pretendard" panose="02000503000000020004" pitchFamily="2" charset="-127"/>
                        </a:rPr>
                        <a:t>5. FEOC · </a:t>
                      </a:r>
                      <a:r>
                        <a:rPr lang="ko-KR" altLang="en-US" sz="1000" b="1" kern="100" dirty="0">
                          <a:solidFill>
                            <a:schemeClr val="tx1"/>
                          </a:solidFill>
                          <a:effectLst/>
                          <a:latin typeface="+mj-ea"/>
                          <a:ea typeface="+mj-ea"/>
                          <a:cs typeface="Pretendard" panose="02000503000000020004" pitchFamily="2" charset="-127"/>
                        </a:rPr>
                        <a:t>관세 현황 </a:t>
                      </a:r>
                      <a:r>
                        <a:rPr lang="en-US" altLang="ko-KR" sz="1000" b="1" kern="100" dirty="0">
                          <a:solidFill>
                            <a:schemeClr val="tx1"/>
                          </a:solidFill>
                          <a:effectLst/>
                          <a:latin typeface="+mj-ea"/>
                          <a:ea typeface="+mj-ea"/>
                          <a:cs typeface="Pretendard" panose="02000503000000020004" pitchFamily="2" charset="-127"/>
                        </a:rPr>
                        <a:t>(</a:t>
                      </a:r>
                      <a:r>
                        <a:rPr lang="ko-KR" altLang="en-US" sz="1000" b="1" kern="100" dirty="0">
                          <a:solidFill>
                            <a:schemeClr val="tx1"/>
                          </a:solidFill>
                          <a:effectLst/>
                          <a:latin typeface="+mj-ea"/>
                          <a:ea typeface="+mj-ea"/>
                          <a:cs typeface="Pretendard" panose="02000503000000020004" pitchFamily="2" charset="-127"/>
                        </a:rPr>
                        <a:t>대미 수출 기준</a:t>
                      </a:r>
                      <a:r>
                        <a:rPr lang="en-US" altLang="ko-KR" sz="1000" b="1" kern="100" dirty="0">
                          <a:solidFill>
                            <a:schemeClr val="tx1"/>
                          </a:solidFill>
                          <a:effectLst/>
                          <a:latin typeface="+mj-ea"/>
                          <a:ea typeface="+mj-ea"/>
                          <a:cs typeface="Pretendard" panose="02000503000000020004" pitchFamily="2" charset="-127"/>
                        </a:rPr>
                        <a:t>)</a:t>
                      </a:r>
                    </a:p>
                  </a:txBody>
                  <a:tcPr marL="36727" marR="36727"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mj-ea"/>
                          <a:ea typeface="+mj-ea"/>
                          <a:cs typeface="Pretendard" panose="02000503000000020004" pitchFamily="2" charset="-127"/>
                        </a:rPr>
                        <a:t>자료 </a:t>
                      </a:r>
                      <a:r>
                        <a:rPr lang="en-US" altLang="ko-KR" sz="1000" b="1" kern="100" dirty="0">
                          <a:solidFill>
                            <a:schemeClr val="tx1"/>
                          </a:solidFill>
                          <a:effectLst/>
                          <a:latin typeface="+mj-ea"/>
                          <a:ea typeface="+mj-ea"/>
                          <a:cs typeface="Pretendard" panose="02000503000000020004" pitchFamily="2" charset="-127"/>
                        </a:rPr>
                        <a:t>6. AMPC </a:t>
                      </a:r>
                      <a:r>
                        <a:rPr lang="ko-KR" altLang="en-US" sz="1000" b="1" kern="100" dirty="0">
                          <a:solidFill>
                            <a:schemeClr val="tx1"/>
                          </a:solidFill>
                          <a:effectLst/>
                          <a:latin typeface="+mj-ea"/>
                          <a:ea typeface="+mj-ea"/>
                          <a:cs typeface="Pretendard" panose="02000503000000020004" pitchFamily="2" charset="-127"/>
                        </a:rPr>
                        <a:t>수취 현황 </a:t>
                      </a:r>
                      <a:r>
                        <a:rPr lang="en-US" altLang="ko-KR" sz="1000" b="1" kern="100" dirty="0">
                          <a:solidFill>
                            <a:schemeClr val="tx1"/>
                          </a:solidFill>
                          <a:effectLst/>
                          <a:latin typeface="+mj-ea"/>
                          <a:ea typeface="+mj-ea"/>
                          <a:cs typeface="Pretendard" panose="02000503000000020004" pitchFamily="2" charset="-127"/>
                        </a:rPr>
                        <a:t>(IRA §45X)</a:t>
                      </a:r>
                    </a:p>
                  </a:txBody>
                  <a:tcPr marL="36727" marR="36727"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8629">
                <a:tc>
                  <a:txBody>
                    <a:bodyPr/>
                    <a:lstStyle/>
                    <a:p>
                      <a:pPr algn="just" latinLnBrk="1">
                        <a:lnSpc>
                          <a:spcPct val="107000"/>
                        </a:lnSpc>
                        <a:spcAft>
                          <a:spcPts val="800"/>
                        </a:spcAft>
                        <a:tabLst>
                          <a:tab pos="2278380" algn="l"/>
                        </a:tabLst>
                      </a:pPr>
                      <a:endParaRPr lang="ko-KR" sz="1000" b="0" kern="100" dirty="0">
                        <a:solidFill>
                          <a:schemeClr val="tx1"/>
                        </a:solidFill>
                        <a:effectLst/>
                        <a:latin typeface="+mn-ea"/>
                        <a:ea typeface="+mn-ea"/>
                        <a:cs typeface="Pretendard" panose="02000503000000020004" pitchFamily="2" charset="-127"/>
                      </a:endParaRPr>
                    </a:p>
                  </a:txBody>
                  <a:tcPr marL="33667" marR="336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67" marR="336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24">
                <a:tc>
                  <a:txBody>
                    <a:bodyPr/>
                    <a:lstStyle/>
                    <a:p>
                      <a:pPr marL="0" marR="0" lvl="0" indent="0" algn="just" defTabSz="1662562" rtl="0" eaLnBrk="1" fontAlgn="auto" latinLnBrk="0" hangingPunct="1">
                        <a:lnSpc>
                          <a:spcPct val="100000"/>
                        </a:lnSpc>
                        <a:spcBef>
                          <a:spcPts val="0"/>
                        </a:spcBef>
                        <a:spcAft>
                          <a:spcPts val="1200"/>
                        </a:spcAft>
                        <a:buClrTx/>
                        <a:buSzTx/>
                        <a:buFontTx/>
                        <a:buNone/>
                        <a:tabLst/>
                        <a:defRPr/>
                      </a:pP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 </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USTR, IRA §30D, ICOK</a:t>
                      </a:r>
                    </a:p>
                  </a:txBody>
                  <a:tcPr marL="36727" marR="3672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marL="0" marR="0" indent="0" algn="just" defTabSz="1662562" rtl="0" eaLnBrk="1" fontAlgn="auto" latinLnBrk="0" hangingPunct="1">
                        <a:lnSpc>
                          <a:spcPct val="100000"/>
                        </a:lnSpc>
                        <a:spcBef>
                          <a:spcPts val="0"/>
                        </a:spcBef>
                        <a:spcAft>
                          <a:spcPts val="1200"/>
                        </a:spcAft>
                        <a:buClrTx/>
                        <a:buSzTx/>
                        <a:buFontTx/>
                        <a:buNone/>
                        <a:tabLst/>
                        <a:defRPr/>
                      </a:pP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 IRA §45X, </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삼성</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SDI IR, ICOK</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27" marR="3672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33" name="TextBox 32">
            <a:extLst>
              <a:ext uri="{FF2B5EF4-FFF2-40B4-BE49-F238E27FC236}">
                <a16:creationId xmlns:a16="http://schemas.microsoft.com/office/drawing/2014/main" id="{28F62F54-7C55-1521-0EAC-83628D3B34CF}"/>
              </a:ext>
            </a:extLst>
          </p:cNvPr>
          <p:cNvSpPr txBox="1"/>
          <p:nvPr/>
        </p:nvSpPr>
        <p:spPr>
          <a:xfrm>
            <a:off x="5606317" y="7190554"/>
            <a:ext cx="1255167" cy="246142"/>
          </a:xfrm>
          <a:prstGeom prst="rect">
            <a:avLst/>
          </a:prstGeom>
          <a:noFill/>
        </p:spPr>
        <p:txBody>
          <a:bodyPr wrap="square" rtlCol="0">
            <a:spAutoFit/>
          </a:bodyPr>
          <a:lstStyle/>
          <a:p>
            <a:pPr algn="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단위</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 $/kWh</a:t>
            </a:r>
          </a:p>
        </p:txBody>
      </p:sp>
      <p:sp>
        <p:nvSpPr>
          <p:cNvPr id="34" name="TextBox 33">
            <a:extLst>
              <a:ext uri="{FF2B5EF4-FFF2-40B4-BE49-F238E27FC236}">
                <a16:creationId xmlns:a16="http://schemas.microsoft.com/office/drawing/2014/main" id="{3EA44677-3851-277A-A15B-8863067985D3}"/>
              </a:ext>
            </a:extLst>
          </p:cNvPr>
          <p:cNvSpPr txBox="1"/>
          <p:nvPr/>
        </p:nvSpPr>
        <p:spPr>
          <a:xfrm>
            <a:off x="2176125" y="7190554"/>
            <a:ext cx="1255167" cy="246142"/>
          </a:xfrm>
          <a:prstGeom prst="rect">
            <a:avLst/>
          </a:prstGeom>
          <a:noFill/>
        </p:spPr>
        <p:txBody>
          <a:bodyPr wrap="square" rtlCol="0">
            <a:spAutoFit/>
          </a:bodyPr>
          <a:lstStyle/>
          <a:p>
            <a:pPr algn="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*협상 진행 중</a:t>
            </a:r>
          </a:p>
        </p:txBody>
      </p:sp>
      <p:pic>
        <p:nvPicPr>
          <p:cNvPr id="40" name="그림 39">
            <a:extLst>
              <a:ext uri="{FF2B5EF4-FFF2-40B4-BE49-F238E27FC236}">
                <a16:creationId xmlns:a16="http://schemas.microsoft.com/office/drawing/2014/main" id="{AE7D662A-6A31-8AA2-D4B4-9CA7C56D1AD8}"/>
              </a:ext>
            </a:extLst>
          </p:cNvPr>
          <p:cNvPicPr>
            <a:picLocks noChangeAspect="1"/>
          </p:cNvPicPr>
          <p:nvPr/>
        </p:nvPicPr>
        <p:blipFill>
          <a:blip r:embed="rId3"/>
          <a:stretch>
            <a:fillRect/>
          </a:stretch>
        </p:blipFill>
        <p:spPr>
          <a:xfrm>
            <a:off x="1099" y="5259069"/>
            <a:ext cx="6855802" cy="1808079"/>
          </a:xfrm>
          <a:prstGeom prst="rect">
            <a:avLst/>
          </a:prstGeom>
        </p:spPr>
      </p:pic>
      <p:sp>
        <p:nvSpPr>
          <p:cNvPr id="41" name="TextBox 40"/>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153" y="383924"/>
            <a:ext cx="2011035" cy="146147"/>
          </a:xfrm>
          <a:prstGeom prst="rect">
            <a:avLst/>
          </a:prstGeom>
          <a:noFill/>
        </p:spPr>
        <p:txBody>
          <a:bodyPr wrap="square" lIns="0" tIns="0" rIns="0" bIns="0" anchor="t">
            <a:spAutoFit/>
          </a:bodyPr>
          <a:lstStyle/>
          <a:p>
            <a:pPr algn="l"/>
            <a:r>
              <a:rPr lang="ko-KR" altLang="en-US" sz="950" b="1" dirty="0">
                <a:solidFill>
                  <a:srgbClr val="003A75"/>
                </a:solidFill>
                <a:latin typeface="맑은 고딕"/>
              </a:rPr>
              <a:t>산업분석</a:t>
            </a:r>
            <a:endParaRPr sz="950" b="1" dirty="0">
              <a:solidFill>
                <a:srgbClr val="003A75"/>
              </a:solidFill>
              <a:latin typeface="맑은 고딕"/>
            </a:endParaRPr>
          </a:p>
        </p:txBody>
      </p:sp>
      <p:sp>
        <p:nvSpPr>
          <p:cNvPr id="3" name="TextBox 2"/>
          <p:cNvSpPr txBox="1"/>
          <p:nvPr/>
        </p:nvSpPr>
        <p:spPr>
          <a:xfrm>
            <a:off x="2743420" y="383925"/>
            <a:ext cx="3656428" cy="138455"/>
          </a:xfrm>
          <a:prstGeom prst="rect">
            <a:avLst/>
          </a:prstGeom>
          <a:noFill/>
        </p:spPr>
        <p:txBody>
          <a:bodyPr wrap="square" lIns="0" tIns="0" rIns="0" bIns="0" anchor="t">
            <a:spAutoFit/>
          </a:bodyPr>
          <a:lstStyle/>
          <a:p>
            <a:pPr algn="r"/>
            <a:r>
              <a:rPr sz="900">
                <a:solidFill>
                  <a:srgbClr val="6B7785"/>
                </a:solidFill>
                <a:latin typeface="맑은 고딕"/>
              </a:rPr>
              <a:t>Company Research Report   |   삼성SDI (006400)</a:t>
            </a:r>
          </a:p>
        </p:txBody>
      </p:sp>
      <p:cxnSp>
        <p:nvCxnSpPr>
          <p:cNvPr id="4" name="Connector 3"/>
          <p:cNvCxnSpPr/>
          <p:nvPr/>
        </p:nvCxnSpPr>
        <p:spPr>
          <a:xfrm>
            <a:off x="458153" y="639874"/>
            <a:ext cx="5941695" cy="0"/>
          </a:xfrm>
          <a:prstGeom prst="line">
            <a:avLst/>
          </a:prstGeom>
          <a:ln w="15875">
            <a:solidFill>
              <a:srgbClr val="003A7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06617" y="883034"/>
            <a:ext cx="5393231" cy="169223"/>
          </a:xfrm>
          <a:prstGeom prst="rect">
            <a:avLst/>
          </a:prstGeom>
          <a:noFill/>
        </p:spPr>
        <p:txBody>
          <a:bodyPr wrap="square" lIns="0" tIns="0" rIns="0" bIns="0" anchor="t">
            <a:spAutoFit/>
          </a:bodyPr>
          <a:lstStyle/>
          <a:p>
            <a:pPr algn="l"/>
            <a:r>
              <a:rPr lang="en-US" altLang="ko-KR" sz="1100" b="1" dirty="0">
                <a:solidFill>
                  <a:srgbClr val="000000"/>
                </a:solidFill>
                <a:latin typeface="맑은 고딕"/>
              </a:rPr>
              <a:t>1.5 </a:t>
            </a:r>
            <a:r>
              <a:rPr lang="ko-KR" altLang="en-US" sz="1100" b="1" dirty="0">
                <a:solidFill>
                  <a:srgbClr val="000000"/>
                </a:solidFill>
                <a:latin typeface="맑은 고딕"/>
              </a:rPr>
              <a:t>삼성</a:t>
            </a:r>
            <a:r>
              <a:rPr lang="en-US" sz="1100" b="1" dirty="0">
                <a:solidFill>
                  <a:srgbClr val="000000"/>
                </a:solidFill>
                <a:latin typeface="맑은 고딕"/>
              </a:rPr>
              <a:t>SDI</a:t>
            </a:r>
            <a:r>
              <a:rPr lang="ko-KR" altLang="en-US" sz="1100" b="1" dirty="0">
                <a:solidFill>
                  <a:srgbClr val="000000"/>
                </a:solidFill>
                <a:latin typeface="맑은 고딕"/>
              </a:rPr>
              <a:t>의 기회</a:t>
            </a:r>
            <a:endParaRPr sz="1100" b="1" dirty="0">
              <a:solidFill>
                <a:srgbClr val="000000"/>
              </a:solidFill>
              <a:latin typeface="맑은 고딕"/>
            </a:endParaRPr>
          </a:p>
        </p:txBody>
      </p:sp>
      <p:sp>
        <p:nvSpPr>
          <p:cNvPr id="8" name="TextBox 7"/>
          <p:cNvSpPr txBox="1"/>
          <p:nvPr/>
        </p:nvSpPr>
        <p:spPr>
          <a:xfrm>
            <a:off x="1006617" y="1163932"/>
            <a:ext cx="5393231" cy="161531"/>
          </a:xfrm>
          <a:prstGeom prst="rect">
            <a:avLst/>
          </a:prstGeom>
          <a:noFill/>
        </p:spPr>
        <p:txBody>
          <a:bodyPr wrap="square" lIns="0" tIns="0" rIns="0" bIns="0" anchor="t">
            <a:spAutoFit/>
          </a:bodyPr>
          <a:lstStyle/>
          <a:p>
            <a:pPr algn="l"/>
            <a:r>
              <a:rPr lang="ko-KR" altLang="en-US" sz="1050" b="1" dirty="0">
                <a:solidFill>
                  <a:srgbClr val="000000"/>
                </a:solidFill>
                <a:latin typeface="맑은 고딕"/>
              </a:rPr>
              <a:t>북미 </a:t>
            </a:r>
            <a:r>
              <a:rPr lang="en-US" sz="1050" b="1" dirty="0">
                <a:solidFill>
                  <a:srgbClr val="000000"/>
                </a:solidFill>
                <a:latin typeface="맑은 고딕"/>
              </a:rPr>
              <a:t>LFP·</a:t>
            </a:r>
            <a:r>
              <a:rPr lang="ko-KR" altLang="en-US" sz="1050" b="1" dirty="0">
                <a:solidFill>
                  <a:srgbClr val="000000"/>
                </a:solidFill>
                <a:latin typeface="맑은 고딕"/>
              </a:rPr>
              <a:t>각형 시장의 독점적 지위 확보 및 </a:t>
            </a:r>
            <a:r>
              <a:rPr lang="en-US" sz="1050" b="1" dirty="0">
                <a:solidFill>
                  <a:srgbClr val="000000"/>
                </a:solidFill>
                <a:latin typeface="맑은 고딕"/>
              </a:rPr>
              <a:t>SBB 2.0 </a:t>
            </a:r>
            <a:r>
              <a:rPr lang="ko-KR" altLang="en-US" sz="1050" b="1" dirty="0">
                <a:solidFill>
                  <a:srgbClr val="000000"/>
                </a:solidFill>
                <a:latin typeface="맑은 고딕"/>
              </a:rPr>
              <a:t>양산 본격화</a:t>
            </a:r>
            <a:endParaRPr sz="1050" b="1" dirty="0">
              <a:solidFill>
                <a:srgbClr val="000000"/>
              </a:solidFill>
              <a:latin typeface="맑은 고딕"/>
            </a:endParaRPr>
          </a:p>
        </p:txBody>
      </p:sp>
      <p:sp>
        <p:nvSpPr>
          <p:cNvPr id="9" name="TextBox 8"/>
          <p:cNvSpPr txBox="1"/>
          <p:nvPr/>
        </p:nvSpPr>
        <p:spPr>
          <a:xfrm>
            <a:off x="1006617" y="1437138"/>
            <a:ext cx="5393231" cy="4675422"/>
          </a:xfrm>
          <a:prstGeom prst="rect">
            <a:avLst/>
          </a:prstGeom>
          <a:noFill/>
        </p:spPr>
        <p:txBody>
          <a:bodyPr wrap="square" lIns="0" tIns="0" rIns="0" bIns="0">
            <a:spAutoFit/>
          </a:bodyPr>
          <a:lstStyle/>
          <a:p>
            <a:pPr algn="justLow">
              <a:lnSpc>
                <a:spcPct val="132000"/>
              </a:lnSpc>
              <a:spcAft>
                <a:spcPts val="900"/>
              </a:spcAft>
            </a:pPr>
            <a:r>
              <a:rPr lang="ko-KR" altLang="en-US" sz="1000" dirty="0">
                <a:latin typeface="맑은 고딕"/>
              </a:rPr>
              <a:t>북미 </a:t>
            </a:r>
            <a:r>
              <a:rPr lang="en-US" sz="1000" dirty="0">
                <a:latin typeface="맑은 고딕"/>
              </a:rPr>
              <a:t>ESS </a:t>
            </a:r>
            <a:r>
              <a:rPr lang="ko-KR" altLang="en-US" sz="1000" dirty="0">
                <a:latin typeface="맑은 고딕"/>
              </a:rPr>
              <a:t>시장의 </a:t>
            </a:r>
            <a:r>
              <a:rPr lang="en-US" altLang="ko-KR" sz="1000" dirty="0">
                <a:latin typeface="맑은 고딕"/>
              </a:rPr>
              <a:t>80% </a:t>
            </a:r>
            <a:r>
              <a:rPr lang="ko-KR" altLang="en-US" sz="1000" dirty="0">
                <a:latin typeface="맑은 고딕"/>
              </a:rPr>
              <a:t>이상이 </a:t>
            </a:r>
            <a:r>
              <a:rPr lang="en-US" sz="1000" dirty="0">
                <a:latin typeface="맑은 고딕"/>
              </a:rPr>
              <a:t>LFP(</a:t>
            </a:r>
            <a:r>
              <a:rPr lang="ko-KR" altLang="en-US" sz="1000" dirty="0">
                <a:latin typeface="맑은 고딕"/>
              </a:rPr>
              <a:t>리튬</a:t>
            </a:r>
            <a:r>
              <a:rPr lang="en-US" altLang="ko-KR" sz="1000" dirty="0">
                <a:latin typeface="맑은 고딕"/>
              </a:rPr>
              <a:t>·</a:t>
            </a:r>
            <a:r>
              <a:rPr lang="ko-KR" altLang="en-US" sz="1000" dirty="0">
                <a:latin typeface="맑은 고딕"/>
              </a:rPr>
              <a:t>인산</a:t>
            </a:r>
            <a:r>
              <a:rPr lang="en-US" altLang="ko-KR" sz="1000" dirty="0">
                <a:latin typeface="맑은 고딕"/>
              </a:rPr>
              <a:t>·</a:t>
            </a:r>
            <a:r>
              <a:rPr lang="ko-KR" altLang="en-US" sz="1000" dirty="0">
                <a:latin typeface="맑은 고딕"/>
              </a:rPr>
              <a:t>철</a:t>
            </a:r>
            <a:r>
              <a:rPr lang="en-US" altLang="ko-KR" sz="1000" dirty="0">
                <a:latin typeface="맑은 고딕"/>
              </a:rPr>
              <a:t>) </a:t>
            </a:r>
            <a:r>
              <a:rPr lang="ko-KR" altLang="en-US" sz="1000" dirty="0">
                <a:latin typeface="맑은 고딕"/>
              </a:rPr>
              <a:t>배터리를 채택하고 있음에도 불구하고</a:t>
            </a:r>
            <a:r>
              <a:rPr lang="en-US" altLang="ko-KR" sz="1000" dirty="0">
                <a:latin typeface="맑은 고딕"/>
              </a:rPr>
              <a:t>, </a:t>
            </a:r>
            <a:r>
              <a:rPr lang="ko-KR" altLang="en-US" sz="1000" dirty="0" err="1">
                <a:latin typeface="맑은 고딕"/>
              </a:rPr>
              <a:t>비중국계</a:t>
            </a:r>
            <a:r>
              <a:rPr lang="ko-KR" altLang="en-US" sz="1000" dirty="0">
                <a:latin typeface="맑은 고딕"/>
              </a:rPr>
              <a:t> 제조사 중 미국 내에서 각형 </a:t>
            </a:r>
            <a:r>
              <a:rPr lang="en-US" sz="1000" dirty="0">
                <a:latin typeface="맑은 고딕"/>
              </a:rPr>
              <a:t>LFP</a:t>
            </a:r>
            <a:r>
              <a:rPr lang="ko-KR" altLang="en-US" sz="1000" dirty="0" err="1">
                <a:latin typeface="맑은 고딕"/>
              </a:rPr>
              <a:t>를</a:t>
            </a:r>
            <a:r>
              <a:rPr lang="ko-KR" altLang="en-US" sz="1000" dirty="0">
                <a:latin typeface="맑은 고딕"/>
              </a:rPr>
              <a:t> 양산할 수 있는 인프라를 갖춘 곳은 삼성</a:t>
            </a:r>
            <a:r>
              <a:rPr lang="en-US" sz="1000" dirty="0">
                <a:latin typeface="맑은 고딕"/>
              </a:rPr>
              <a:t>SDI</a:t>
            </a:r>
            <a:r>
              <a:rPr lang="ko-KR" altLang="en-US" sz="1000" dirty="0">
                <a:latin typeface="맑은 고딕"/>
              </a:rPr>
              <a:t>가 유일하다</a:t>
            </a:r>
            <a:r>
              <a:rPr lang="en-US" altLang="ko-KR" sz="1000" dirty="0">
                <a:latin typeface="맑은 고딕"/>
              </a:rPr>
              <a:t>. </a:t>
            </a:r>
            <a:r>
              <a:rPr lang="ko-KR" altLang="en-US" sz="1000" dirty="0">
                <a:latin typeface="맑은 고딕"/>
              </a:rPr>
              <a:t>삼성</a:t>
            </a:r>
            <a:r>
              <a:rPr lang="en-US" sz="1000" dirty="0">
                <a:latin typeface="맑은 고딕"/>
              </a:rPr>
              <a:t>SDI</a:t>
            </a:r>
            <a:r>
              <a:rPr lang="ko-KR" altLang="en-US" sz="1000" dirty="0">
                <a:latin typeface="맑은 고딕"/>
              </a:rPr>
              <a:t>는 </a:t>
            </a:r>
            <a:r>
              <a:rPr lang="en-US" sz="1000" dirty="0">
                <a:latin typeface="맑은 고딕"/>
              </a:rPr>
              <a:t>NCA </a:t>
            </a:r>
            <a:r>
              <a:rPr lang="ko-KR" altLang="en-US" sz="1000" dirty="0">
                <a:latin typeface="맑은 고딕"/>
              </a:rPr>
              <a:t>기반의 </a:t>
            </a:r>
            <a:r>
              <a:rPr lang="en-US" sz="1000" dirty="0">
                <a:latin typeface="맑은 고딕"/>
              </a:rPr>
              <a:t>SBB 1.7(6.14MWh, </a:t>
            </a:r>
            <a:r>
              <a:rPr lang="ko-KR" altLang="en-US" sz="1000" dirty="0">
                <a:latin typeface="맑은 고딕"/>
              </a:rPr>
              <a:t>미국 생산</a:t>
            </a:r>
            <a:r>
              <a:rPr lang="en-US" altLang="ko-KR" sz="1000" dirty="0">
                <a:latin typeface="맑은 고딕"/>
              </a:rPr>
              <a:t>)</a:t>
            </a:r>
            <a:r>
              <a:rPr lang="ko-KR" altLang="en-US" sz="1000" dirty="0">
                <a:latin typeface="맑은 고딕"/>
              </a:rPr>
              <a:t>을 안정적으로 공급한 데 이어</a:t>
            </a:r>
            <a:r>
              <a:rPr lang="en-US" altLang="ko-KR" sz="1000" dirty="0">
                <a:latin typeface="맑은 고딕"/>
              </a:rPr>
              <a:t>, 2026</a:t>
            </a:r>
            <a:r>
              <a:rPr lang="ko-KR" altLang="en-US" sz="1000" dirty="0">
                <a:latin typeface="맑은 고딕"/>
              </a:rPr>
              <a:t>년 </a:t>
            </a:r>
            <a:r>
              <a:rPr lang="en-US" altLang="ko-KR" sz="1000" dirty="0">
                <a:latin typeface="맑은 고딕"/>
              </a:rPr>
              <a:t>4</a:t>
            </a:r>
            <a:r>
              <a:rPr lang="ko-KR" altLang="en-US" sz="1000" dirty="0">
                <a:latin typeface="맑은 고딕"/>
              </a:rPr>
              <a:t>분기부터는 </a:t>
            </a:r>
            <a:r>
              <a:rPr lang="en-US" sz="1000" dirty="0">
                <a:latin typeface="맑은 고딕"/>
              </a:rPr>
              <a:t>LFP </a:t>
            </a:r>
            <a:r>
              <a:rPr lang="ko-KR" altLang="en-US" sz="1000" dirty="0">
                <a:latin typeface="맑은 고딕"/>
              </a:rPr>
              <a:t>기반의 </a:t>
            </a:r>
            <a:r>
              <a:rPr lang="en-US" sz="1000" dirty="0">
                <a:latin typeface="맑은 고딕"/>
              </a:rPr>
              <a:t>SBB 2.0(5.0MWh, </a:t>
            </a:r>
            <a:r>
              <a:rPr lang="ko-KR" altLang="en-US" sz="1000" dirty="0">
                <a:latin typeface="맑은 고딕"/>
              </a:rPr>
              <a:t>미국 생산</a:t>
            </a:r>
            <a:r>
              <a:rPr lang="en-US" altLang="ko-KR" sz="1000" dirty="0">
                <a:latin typeface="맑은 고딕"/>
              </a:rPr>
              <a:t>)</a:t>
            </a:r>
            <a:r>
              <a:rPr lang="ko-KR" altLang="en-US" sz="1000" dirty="0">
                <a:latin typeface="맑은 고딕"/>
              </a:rPr>
              <a:t>을 본격적으로 양산할 예정이다</a:t>
            </a:r>
            <a:r>
              <a:rPr lang="en-US" altLang="ko-KR" sz="1000" dirty="0">
                <a:latin typeface="맑은 고딕"/>
              </a:rPr>
              <a:t>. </a:t>
            </a:r>
            <a:r>
              <a:rPr lang="ko-KR" altLang="en-US" sz="1000" dirty="0">
                <a:latin typeface="맑은 고딕"/>
              </a:rPr>
              <a:t>미국 최대급 </a:t>
            </a:r>
            <a:r>
              <a:rPr lang="en-US" sz="1000" dirty="0">
                <a:latin typeface="맑은 고딕"/>
              </a:rPr>
              <a:t>ESS </a:t>
            </a:r>
            <a:r>
              <a:rPr lang="ko-KR" altLang="en-US" sz="1000" dirty="0" err="1">
                <a:latin typeface="맑은 고딕"/>
              </a:rPr>
              <a:t>디벨로퍼인</a:t>
            </a:r>
            <a:r>
              <a:rPr lang="ko-KR" altLang="en-US" sz="1000" dirty="0">
                <a:latin typeface="맑은 고딕"/>
              </a:rPr>
              <a:t> </a:t>
            </a:r>
            <a:r>
              <a:rPr lang="en-US" sz="1000" dirty="0">
                <a:latin typeface="맑은 고딕"/>
              </a:rPr>
              <a:t>AES </a:t>
            </a:r>
            <a:r>
              <a:rPr lang="ko-KR" altLang="en-US" sz="1000" dirty="0">
                <a:latin typeface="맑은 고딕"/>
              </a:rPr>
              <a:t>등을 핵심 고객사로 확보함에 따라 북미 </a:t>
            </a:r>
            <a:r>
              <a:rPr lang="en-US" sz="1000" dirty="0">
                <a:latin typeface="맑은 고딕"/>
              </a:rPr>
              <a:t>ESS </a:t>
            </a:r>
            <a:r>
              <a:rPr lang="ko-KR" altLang="en-US" sz="1000" dirty="0">
                <a:latin typeface="맑은 고딕"/>
              </a:rPr>
              <a:t>매출의 양적</a:t>
            </a:r>
            <a:r>
              <a:rPr lang="en-US" altLang="ko-KR" sz="1000" dirty="0">
                <a:latin typeface="맑은 고딕"/>
              </a:rPr>
              <a:t>·</a:t>
            </a:r>
            <a:r>
              <a:rPr lang="ko-KR" altLang="en-US" sz="1000" dirty="0">
                <a:latin typeface="맑은 고딕"/>
              </a:rPr>
              <a:t>질적 성장이 동시에 가속화될 궤도에 올랐다</a:t>
            </a:r>
            <a:r>
              <a:rPr lang="en-US" altLang="ko-KR" sz="1000" dirty="0">
                <a:latin typeface="맑은 고딕"/>
              </a:rPr>
              <a:t>. </a:t>
            </a:r>
            <a:r>
              <a:rPr lang="ko-KR" altLang="en-US" sz="1000" dirty="0">
                <a:latin typeface="맑은 고딕"/>
              </a:rPr>
              <a:t>특히 화재 위험에 민감한 대규모 데이터센터 및 유틸리티 환경에서</a:t>
            </a:r>
            <a:r>
              <a:rPr lang="en-US" altLang="ko-KR" sz="1000" dirty="0">
                <a:latin typeface="맑은 고딕"/>
              </a:rPr>
              <a:t>, </a:t>
            </a:r>
            <a:r>
              <a:rPr lang="ko-KR" altLang="en-US" sz="1000" dirty="0">
                <a:latin typeface="맑은 고딕"/>
              </a:rPr>
              <a:t>열 관리에 구조적 강점이 있는 각형 </a:t>
            </a:r>
            <a:r>
              <a:rPr lang="en-US" sz="1000" dirty="0">
                <a:latin typeface="맑은 고딕"/>
              </a:rPr>
              <a:t>LFP </a:t>
            </a:r>
            <a:r>
              <a:rPr lang="ko-KR" altLang="en-US" sz="1000" dirty="0" err="1">
                <a:latin typeface="맑은 고딕"/>
              </a:rPr>
              <a:t>폼팩터는</a:t>
            </a:r>
            <a:r>
              <a:rPr lang="ko-KR" altLang="en-US" sz="1000" dirty="0">
                <a:latin typeface="맑은 고딕"/>
              </a:rPr>
              <a:t> 안전성 측면의 프리미엄을 인정받아 수주 경쟁에서 절대 우위를 점할 것으로 분석된다</a:t>
            </a:r>
            <a:r>
              <a:rPr lang="en-US" altLang="ko-KR" sz="1000" dirty="0">
                <a:latin typeface="맑은 고딕"/>
              </a:rPr>
              <a:t>.</a:t>
            </a:r>
          </a:p>
          <a:p>
            <a:pPr algn="justLow">
              <a:lnSpc>
                <a:spcPct val="132000"/>
              </a:lnSpc>
              <a:spcAft>
                <a:spcPts val="900"/>
              </a:spcAft>
            </a:pPr>
            <a:r>
              <a:rPr lang="ko-KR" altLang="en-US" sz="1000" dirty="0">
                <a:latin typeface="+mj-ea"/>
                <a:ea typeface="+mj-ea"/>
              </a:rPr>
              <a:t>미국 </a:t>
            </a:r>
            <a:r>
              <a:rPr lang="en-US" altLang="ko-KR" sz="1000" dirty="0">
                <a:latin typeface="+mj-ea"/>
                <a:ea typeface="+mj-ea"/>
              </a:rPr>
              <a:t>ESS </a:t>
            </a:r>
            <a:r>
              <a:rPr lang="ko-KR" altLang="en-US" sz="1000" dirty="0">
                <a:latin typeface="+mj-ea"/>
                <a:ea typeface="+mj-ea"/>
              </a:rPr>
              <a:t>시장은 </a:t>
            </a:r>
            <a:r>
              <a:rPr lang="en-US" altLang="ko-KR" sz="1000" dirty="0">
                <a:latin typeface="+mj-ea"/>
                <a:ea typeface="+mj-ea"/>
              </a:rPr>
              <a:t>AI </a:t>
            </a:r>
            <a:r>
              <a:rPr lang="ko-KR" altLang="en-US" sz="1000" dirty="0">
                <a:latin typeface="+mj-ea"/>
                <a:ea typeface="+mj-ea"/>
              </a:rPr>
              <a:t>데이터센터발 전력 수요 폭증과 맞물려</a:t>
            </a:r>
            <a:r>
              <a:rPr lang="en-US" altLang="ko-KR" sz="1000" dirty="0">
                <a:latin typeface="+mj-ea"/>
                <a:ea typeface="+mj-ea"/>
              </a:rPr>
              <a:t>, 2024</a:t>
            </a:r>
            <a:r>
              <a:rPr lang="ko-KR" altLang="en-US" sz="1000" dirty="0">
                <a:latin typeface="+mj-ea"/>
                <a:ea typeface="+mj-ea"/>
              </a:rPr>
              <a:t>년 </a:t>
            </a:r>
            <a:r>
              <a:rPr lang="en-US" altLang="ko-KR" sz="1000" dirty="0">
                <a:latin typeface="+mj-ea"/>
                <a:ea typeface="+mj-ea"/>
              </a:rPr>
              <a:t>49.5GWh </a:t>
            </a:r>
            <a:r>
              <a:rPr lang="ko-KR" altLang="en-US" sz="1000" dirty="0">
                <a:latin typeface="+mj-ea"/>
                <a:ea typeface="+mj-ea"/>
              </a:rPr>
              <a:t>수준에서 </a:t>
            </a:r>
            <a:r>
              <a:rPr lang="en-US" altLang="ko-KR" sz="1000" dirty="0">
                <a:latin typeface="+mj-ea"/>
                <a:ea typeface="+mj-ea"/>
              </a:rPr>
              <a:t>2030</a:t>
            </a:r>
            <a:r>
              <a:rPr lang="ko-KR" altLang="en-US" sz="1000" dirty="0">
                <a:latin typeface="+mj-ea"/>
                <a:ea typeface="+mj-ea"/>
              </a:rPr>
              <a:t>년 </a:t>
            </a:r>
            <a:r>
              <a:rPr lang="en-US" altLang="ko-KR" sz="1000" dirty="0">
                <a:latin typeface="+mj-ea"/>
                <a:ea typeface="+mj-ea"/>
              </a:rPr>
              <a:t>131.75GWh </a:t>
            </a:r>
            <a:r>
              <a:rPr lang="ko-KR" altLang="en-US" sz="1000" dirty="0">
                <a:latin typeface="+mj-ea"/>
                <a:ea typeface="+mj-ea"/>
              </a:rPr>
              <a:t>규모로 폭발적인 고성장이 전망된다</a:t>
            </a:r>
            <a:r>
              <a:rPr lang="en-US" altLang="ko-KR" sz="1000" dirty="0">
                <a:latin typeface="+mj-ea"/>
                <a:ea typeface="+mj-ea"/>
              </a:rPr>
              <a:t>. </a:t>
            </a:r>
            <a:r>
              <a:rPr lang="ko-KR" altLang="en-US" sz="1000" dirty="0">
                <a:latin typeface="+mj-ea"/>
                <a:ea typeface="+mj-ea"/>
              </a:rPr>
              <a:t>특히 화재 안전성과 원가 경쟁력이 부각되면서 현재 북미 </a:t>
            </a:r>
            <a:r>
              <a:rPr lang="en-US" altLang="ko-KR" sz="1000" dirty="0">
                <a:latin typeface="+mj-ea"/>
                <a:ea typeface="+mj-ea"/>
              </a:rPr>
              <a:t>ESS </a:t>
            </a:r>
            <a:r>
              <a:rPr lang="ko-KR" altLang="en-US" sz="1000" dirty="0">
                <a:latin typeface="+mj-ea"/>
                <a:ea typeface="+mj-ea"/>
              </a:rPr>
              <a:t>프로젝트의 </a:t>
            </a:r>
            <a:r>
              <a:rPr lang="en-US" altLang="ko-KR" sz="1000" dirty="0">
                <a:latin typeface="+mj-ea"/>
                <a:ea typeface="+mj-ea"/>
              </a:rPr>
              <a:t>80% </a:t>
            </a:r>
            <a:r>
              <a:rPr lang="ko-KR" altLang="en-US" sz="1000" dirty="0">
                <a:latin typeface="+mj-ea"/>
                <a:ea typeface="+mj-ea"/>
              </a:rPr>
              <a:t>이상이 </a:t>
            </a:r>
            <a:r>
              <a:rPr lang="en-US" altLang="ko-KR" sz="1000" dirty="0">
                <a:latin typeface="+mj-ea"/>
                <a:ea typeface="+mj-ea"/>
              </a:rPr>
              <a:t>LFP(</a:t>
            </a:r>
            <a:r>
              <a:rPr lang="ko-KR" altLang="en-US" sz="1000" dirty="0">
                <a:latin typeface="+mj-ea"/>
                <a:ea typeface="+mj-ea"/>
              </a:rPr>
              <a:t>리튬</a:t>
            </a:r>
            <a:r>
              <a:rPr lang="en-US" altLang="ko-KR" sz="1000" dirty="0">
                <a:latin typeface="+mj-ea"/>
                <a:ea typeface="+mj-ea"/>
              </a:rPr>
              <a:t>·</a:t>
            </a:r>
            <a:r>
              <a:rPr lang="ko-KR" altLang="en-US" sz="1000" dirty="0">
                <a:latin typeface="+mj-ea"/>
                <a:ea typeface="+mj-ea"/>
              </a:rPr>
              <a:t>인산</a:t>
            </a:r>
            <a:r>
              <a:rPr lang="en-US" altLang="ko-KR" sz="1000" dirty="0">
                <a:latin typeface="+mj-ea"/>
                <a:ea typeface="+mj-ea"/>
              </a:rPr>
              <a:t>·</a:t>
            </a:r>
            <a:r>
              <a:rPr lang="ko-KR" altLang="en-US" sz="1000" dirty="0">
                <a:latin typeface="+mj-ea"/>
                <a:ea typeface="+mj-ea"/>
              </a:rPr>
              <a:t>철</a:t>
            </a:r>
            <a:r>
              <a:rPr lang="en-US" altLang="ko-KR" sz="1000" dirty="0">
                <a:latin typeface="+mj-ea"/>
                <a:ea typeface="+mj-ea"/>
              </a:rPr>
              <a:t>) </a:t>
            </a:r>
            <a:r>
              <a:rPr lang="ko-KR" altLang="en-US" sz="1000" dirty="0">
                <a:latin typeface="+mj-ea"/>
                <a:ea typeface="+mj-ea"/>
              </a:rPr>
              <a:t>배터리를 채택하고 있다</a:t>
            </a:r>
            <a:r>
              <a:rPr lang="en-US" altLang="ko-KR" sz="1000" dirty="0">
                <a:latin typeface="+mj-ea"/>
                <a:ea typeface="+mj-ea"/>
              </a:rPr>
              <a:t>. </a:t>
            </a:r>
            <a:r>
              <a:rPr lang="ko-KR" altLang="en-US" sz="1000" dirty="0">
                <a:latin typeface="+mj-ea"/>
                <a:ea typeface="+mj-ea"/>
              </a:rPr>
              <a:t>그러나 이 거대한 수요의 이면에는</a:t>
            </a:r>
            <a:r>
              <a:rPr lang="en-US" altLang="ko-KR" sz="1000" dirty="0">
                <a:latin typeface="+mj-ea"/>
                <a:ea typeface="+mj-ea"/>
              </a:rPr>
              <a:t>, </a:t>
            </a:r>
            <a:r>
              <a:rPr lang="ko-KR" altLang="en-US" sz="1000" dirty="0">
                <a:latin typeface="+mj-ea"/>
                <a:ea typeface="+mj-ea"/>
              </a:rPr>
              <a:t>중국계 기업</a:t>
            </a:r>
            <a:r>
              <a:rPr lang="en-US" altLang="ko-KR" sz="1000" dirty="0">
                <a:latin typeface="+mj-ea"/>
                <a:ea typeface="+mj-ea"/>
              </a:rPr>
              <a:t>(CATL, BYD </a:t>
            </a:r>
            <a:r>
              <a:rPr lang="ko-KR" altLang="en-US" sz="1000" dirty="0">
                <a:latin typeface="+mj-ea"/>
                <a:ea typeface="+mj-ea"/>
              </a:rPr>
              <a:t>등</a:t>
            </a:r>
            <a:r>
              <a:rPr lang="en-US" altLang="ko-KR" sz="1000" dirty="0">
                <a:latin typeface="+mj-ea"/>
                <a:ea typeface="+mj-ea"/>
              </a:rPr>
              <a:t>)</a:t>
            </a:r>
            <a:r>
              <a:rPr lang="ko-KR" altLang="en-US" sz="1000" dirty="0">
                <a:latin typeface="+mj-ea"/>
                <a:ea typeface="+mj-ea"/>
              </a:rPr>
              <a:t>이 </a:t>
            </a:r>
            <a:r>
              <a:rPr lang="en-US" altLang="ko-KR" sz="1000" dirty="0">
                <a:latin typeface="+mj-ea"/>
                <a:ea typeface="+mj-ea"/>
              </a:rPr>
              <a:t>80~90% </a:t>
            </a:r>
            <a:r>
              <a:rPr lang="ko-KR" altLang="en-US" sz="1000" dirty="0">
                <a:latin typeface="+mj-ea"/>
                <a:ea typeface="+mj-ea"/>
              </a:rPr>
              <a:t>이상을 점유하며 사실상 시장을 독점해 온 리스크가 존재한다</a:t>
            </a:r>
            <a:r>
              <a:rPr lang="en-US" altLang="ko-KR" sz="1000" dirty="0">
                <a:latin typeface="+mj-ea"/>
                <a:ea typeface="+mj-ea"/>
              </a:rPr>
              <a:t>.</a:t>
            </a:r>
            <a:r>
              <a:rPr lang="ko-KR" altLang="en-US" sz="1000" dirty="0">
                <a:latin typeface="+mj-ea"/>
                <a:ea typeface="+mj-ea"/>
              </a:rPr>
              <a:t> 미국 정부는 </a:t>
            </a:r>
            <a:r>
              <a:rPr lang="ko-KR" altLang="en-US" sz="1000" dirty="0" err="1">
                <a:latin typeface="+mj-ea"/>
                <a:ea typeface="+mj-ea"/>
              </a:rPr>
              <a:t>무역법</a:t>
            </a:r>
            <a:r>
              <a:rPr lang="ko-KR" altLang="en-US" sz="1000" dirty="0">
                <a:latin typeface="+mj-ea"/>
                <a:ea typeface="+mj-ea"/>
              </a:rPr>
              <a:t> </a:t>
            </a:r>
            <a:r>
              <a:rPr lang="en-US" altLang="ko-KR" sz="1000" dirty="0">
                <a:latin typeface="+mj-ea"/>
                <a:ea typeface="+mj-ea"/>
              </a:rPr>
              <a:t>301</a:t>
            </a:r>
            <a:r>
              <a:rPr lang="ko-KR" altLang="en-US" sz="1000" dirty="0">
                <a:latin typeface="+mj-ea"/>
                <a:ea typeface="+mj-ea"/>
              </a:rPr>
              <a:t>조에 따른 관세 </a:t>
            </a:r>
            <a:r>
              <a:rPr lang="en-US" altLang="ko-KR" sz="1000" dirty="0">
                <a:latin typeface="+mj-ea"/>
                <a:ea typeface="+mj-ea"/>
              </a:rPr>
              <a:t>25% </a:t>
            </a:r>
            <a:r>
              <a:rPr lang="ko-KR" altLang="en-US" sz="1000" dirty="0">
                <a:latin typeface="+mj-ea"/>
                <a:ea typeface="+mj-ea"/>
              </a:rPr>
              <a:t>인상과 엄격한 </a:t>
            </a:r>
            <a:r>
              <a:rPr lang="en-US" altLang="ko-KR" sz="1000" dirty="0">
                <a:latin typeface="+mj-ea"/>
                <a:ea typeface="+mj-ea"/>
              </a:rPr>
              <a:t>FEOC(</a:t>
            </a:r>
            <a:r>
              <a:rPr lang="ko-KR" altLang="en-US" sz="1000" dirty="0">
                <a:latin typeface="+mj-ea"/>
                <a:ea typeface="+mj-ea"/>
              </a:rPr>
              <a:t>해외우려집단</a:t>
            </a:r>
            <a:r>
              <a:rPr lang="en-US" altLang="ko-KR" sz="1000" dirty="0">
                <a:latin typeface="+mj-ea"/>
                <a:ea typeface="+mj-ea"/>
              </a:rPr>
              <a:t>) </a:t>
            </a:r>
            <a:r>
              <a:rPr lang="ko-KR" altLang="en-US" sz="1000" dirty="0">
                <a:latin typeface="+mj-ea"/>
                <a:ea typeface="+mj-ea"/>
              </a:rPr>
              <a:t>규제를 통해 중국산 배터리의 진입을 강력하게 통제하기 시작했다</a:t>
            </a:r>
            <a:r>
              <a:rPr lang="en-US" altLang="ko-KR" sz="1000" dirty="0">
                <a:latin typeface="+mj-ea"/>
                <a:ea typeface="+mj-ea"/>
              </a:rPr>
              <a:t>. </a:t>
            </a:r>
            <a:r>
              <a:rPr lang="ko-KR" altLang="en-US" sz="1000" dirty="0">
                <a:latin typeface="+mj-ea"/>
                <a:ea typeface="+mj-ea"/>
              </a:rPr>
              <a:t>대형 </a:t>
            </a:r>
            <a:r>
              <a:rPr lang="ko-KR" altLang="en-US" sz="1000" dirty="0" err="1">
                <a:latin typeface="+mj-ea"/>
                <a:ea typeface="+mj-ea"/>
              </a:rPr>
              <a:t>디벨로퍼와</a:t>
            </a:r>
            <a:r>
              <a:rPr lang="ko-KR" altLang="en-US" sz="1000" dirty="0">
                <a:latin typeface="+mj-ea"/>
                <a:ea typeface="+mj-ea"/>
              </a:rPr>
              <a:t> </a:t>
            </a:r>
            <a:r>
              <a:rPr lang="ko-KR" altLang="en-US" sz="1000" dirty="0" err="1">
                <a:latin typeface="+mj-ea"/>
                <a:ea typeface="+mj-ea"/>
              </a:rPr>
              <a:t>전력망</a:t>
            </a:r>
            <a:r>
              <a:rPr lang="ko-KR" altLang="en-US" sz="1000" dirty="0">
                <a:latin typeface="+mj-ea"/>
                <a:ea typeface="+mj-ea"/>
              </a:rPr>
              <a:t> 사업자들은 </a:t>
            </a:r>
            <a:r>
              <a:rPr lang="en-US" altLang="ko-KR" sz="1000" dirty="0">
                <a:latin typeface="+mj-ea"/>
                <a:ea typeface="+mj-ea"/>
              </a:rPr>
              <a:t>IRA </a:t>
            </a:r>
            <a:r>
              <a:rPr lang="ko-KR" altLang="en-US" sz="1000" dirty="0">
                <a:latin typeface="+mj-ea"/>
                <a:ea typeface="+mj-ea"/>
              </a:rPr>
              <a:t>혜택을 확보하고 규제 리스크를 회피하기 위해</a:t>
            </a:r>
            <a:r>
              <a:rPr lang="en-US" altLang="ko-KR" sz="1000" dirty="0">
                <a:latin typeface="+mj-ea"/>
                <a:ea typeface="+mj-ea"/>
              </a:rPr>
              <a:t>, </a:t>
            </a:r>
            <a:r>
              <a:rPr lang="ko-KR" altLang="en-US" sz="1000" dirty="0" err="1">
                <a:latin typeface="+mj-ea"/>
                <a:ea typeface="+mj-ea"/>
              </a:rPr>
              <a:t>비중국계</a:t>
            </a:r>
            <a:r>
              <a:rPr lang="ko-KR" altLang="en-US" sz="1000" dirty="0">
                <a:latin typeface="+mj-ea"/>
                <a:ea typeface="+mj-ea"/>
              </a:rPr>
              <a:t> 대안 공급처를 확보해야만 하는 구조적 전환기를 맞이했다</a:t>
            </a:r>
            <a:r>
              <a:rPr lang="en-US" altLang="ko-KR" sz="1000" dirty="0">
                <a:latin typeface="+mj-ea"/>
                <a:ea typeface="+mj-ea"/>
              </a:rPr>
              <a:t>.</a:t>
            </a:r>
            <a:r>
              <a:rPr lang="ko-KR" altLang="en-US" sz="1000" dirty="0">
                <a:latin typeface="+mj-ea"/>
                <a:ea typeface="+mj-ea"/>
              </a:rPr>
              <a:t> 삼성</a:t>
            </a:r>
            <a:r>
              <a:rPr lang="en-US" altLang="ko-KR" sz="1000" dirty="0">
                <a:latin typeface="+mj-ea"/>
                <a:ea typeface="+mj-ea"/>
              </a:rPr>
              <a:t>SDI</a:t>
            </a:r>
            <a:r>
              <a:rPr lang="ko-KR" altLang="en-US" sz="1000" dirty="0">
                <a:latin typeface="+mj-ea"/>
                <a:ea typeface="+mj-ea"/>
              </a:rPr>
              <a:t>는 </a:t>
            </a:r>
            <a:r>
              <a:rPr lang="en-US" altLang="ko-KR" sz="1000" dirty="0">
                <a:latin typeface="+mj-ea"/>
                <a:ea typeface="+mj-ea"/>
              </a:rPr>
              <a:t>NCA </a:t>
            </a:r>
            <a:r>
              <a:rPr lang="ko-KR" altLang="en-US" sz="1000" dirty="0">
                <a:latin typeface="+mj-ea"/>
                <a:ea typeface="+mj-ea"/>
              </a:rPr>
              <a:t>기반의 </a:t>
            </a:r>
            <a:r>
              <a:rPr lang="en-US" altLang="ko-KR" sz="1000" dirty="0">
                <a:latin typeface="+mj-ea"/>
                <a:ea typeface="+mj-ea"/>
              </a:rPr>
              <a:t>SBB 1.7</a:t>
            </a:r>
            <a:r>
              <a:rPr lang="ko-KR" altLang="en-US" sz="1000" dirty="0">
                <a:latin typeface="+mj-ea"/>
                <a:ea typeface="+mj-ea"/>
              </a:rPr>
              <a:t>을 안정적으로 공급한 역량을 바탕으로</a:t>
            </a:r>
            <a:r>
              <a:rPr lang="en-US" altLang="ko-KR" sz="1000" dirty="0">
                <a:latin typeface="+mj-ea"/>
                <a:ea typeface="+mj-ea"/>
              </a:rPr>
              <a:t>, 2026</a:t>
            </a:r>
            <a:r>
              <a:rPr lang="ko-KR" altLang="en-US" sz="1000" dirty="0">
                <a:latin typeface="+mj-ea"/>
                <a:ea typeface="+mj-ea"/>
              </a:rPr>
              <a:t>년 </a:t>
            </a:r>
            <a:r>
              <a:rPr lang="en-US" altLang="ko-KR" sz="1000" dirty="0">
                <a:latin typeface="+mj-ea"/>
                <a:ea typeface="+mj-ea"/>
              </a:rPr>
              <a:t>4</a:t>
            </a:r>
            <a:r>
              <a:rPr lang="ko-KR" altLang="en-US" sz="1000" dirty="0">
                <a:latin typeface="+mj-ea"/>
                <a:ea typeface="+mj-ea"/>
              </a:rPr>
              <a:t>분기부터 미국 현지에서 </a:t>
            </a:r>
            <a:r>
              <a:rPr lang="en-US" altLang="ko-KR" sz="1000" dirty="0">
                <a:latin typeface="+mj-ea"/>
                <a:ea typeface="+mj-ea"/>
              </a:rPr>
              <a:t>LFP </a:t>
            </a:r>
            <a:r>
              <a:rPr lang="ko-KR" altLang="en-US" sz="1000" dirty="0">
                <a:latin typeface="+mj-ea"/>
                <a:ea typeface="+mj-ea"/>
              </a:rPr>
              <a:t>기반의 </a:t>
            </a:r>
            <a:r>
              <a:rPr lang="en-US" altLang="ko-KR" sz="1000" dirty="0">
                <a:latin typeface="+mj-ea"/>
                <a:ea typeface="+mj-ea"/>
              </a:rPr>
              <a:t>SBB 2.0 </a:t>
            </a:r>
            <a:r>
              <a:rPr lang="ko-KR" altLang="en-US" sz="1000" dirty="0">
                <a:latin typeface="+mj-ea"/>
                <a:ea typeface="+mj-ea"/>
              </a:rPr>
              <a:t>양산을 본격화한다</a:t>
            </a:r>
            <a:r>
              <a:rPr lang="en-US" altLang="ko-KR" sz="1000" dirty="0">
                <a:latin typeface="+mj-ea"/>
                <a:ea typeface="+mj-ea"/>
              </a:rPr>
              <a:t>. </a:t>
            </a:r>
            <a:r>
              <a:rPr lang="ko-KR" altLang="en-US" sz="1000" dirty="0">
                <a:latin typeface="+mj-ea"/>
                <a:ea typeface="+mj-ea"/>
              </a:rPr>
              <a:t>이는 </a:t>
            </a:r>
            <a:r>
              <a:rPr lang="ko-KR" altLang="en-US" sz="1000" dirty="0" err="1">
                <a:latin typeface="+mj-ea"/>
                <a:ea typeface="+mj-ea"/>
              </a:rPr>
              <a:t>탈중국</a:t>
            </a:r>
            <a:r>
              <a:rPr lang="ko-KR" altLang="en-US" sz="1000" dirty="0">
                <a:latin typeface="+mj-ea"/>
                <a:ea typeface="+mj-ea"/>
              </a:rPr>
              <a:t> 기조가 거세진 북미 시장에서</a:t>
            </a:r>
            <a:r>
              <a:rPr lang="en-US" altLang="ko-KR" sz="1000" dirty="0">
                <a:latin typeface="+mj-ea"/>
                <a:ea typeface="+mj-ea"/>
              </a:rPr>
              <a:t>, </a:t>
            </a:r>
            <a:r>
              <a:rPr lang="ko-KR" altLang="en-US" sz="1000" dirty="0">
                <a:latin typeface="+mj-ea"/>
                <a:ea typeface="+mj-ea"/>
              </a:rPr>
              <a:t>대규모 유틸리티 환경에 필수적인 </a:t>
            </a:r>
            <a:r>
              <a:rPr lang="en-US" altLang="ko-KR" sz="1000" dirty="0">
                <a:latin typeface="+mj-ea"/>
                <a:ea typeface="+mj-ea"/>
              </a:rPr>
              <a:t>'</a:t>
            </a:r>
            <a:r>
              <a:rPr lang="ko-KR" altLang="en-US" sz="1000" dirty="0">
                <a:latin typeface="+mj-ea"/>
                <a:ea typeface="+mj-ea"/>
              </a:rPr>
              <a:t>각형</a:t>
            </a:r>
            <a:r>
              <a:rPr lang="en-US" altLang="ko-KR" sz="1000" dirty="0">
                <a:latin typeface="+mj-ea"/>
                <a:ea typeface="+mj-ea"/>
              </a:rPr>
              <a:t>' </a:t>
            </a:r>
            <a:r>
              <a:rPr lang="ko-KR" altLang="en-US" sz="1000" dirty="0" err="1">
                <a:latin typeface="+mj-ea"/>
                <a:ea typeface="+mj-ea"/>
              </a:rPr>
              <a:t>폼팩터의</a:t>
            </a:r>
            <a:r>
              <a:rPr lang="ko-KR" altLang="en-US" sz="1000" dirty="0">
                <a:latin typeface="+mj-ea"/>
                <a:ea typeface="+mj-ea"/>
              </a:rPr>
              <a:t> 안전성과 </a:t>
            </a:r>
            <a:r>
              <a:rPr lang="en-US" altLang="ko-KR" sz="1000" dirty="0">
                <a:latin typeface="+mj-ea"/>
                <a:ea typeface="+mj-ea"/>
              </a:rPr>
              <a:t>'LFP'</a:t>
            </a:r>
            <a:r>
              <a:rPr lang="ko-KR" altLang="en-US" sz="1000" dirty="0">
                <a:latin typeface="+mj-ea"/>
                <a:ea typeface="+mj-ea"/>
              </a:rPr>
              <a:t>의 경제성을 동시에 제공할 수 있는 유일한 </a:t>
            </a:r>
            <a:r>
              <a:rPr lang="ko-KR" altLang="en-US" sz="1000" dirty="0" err="1">
                <a:latin typeface="+mj-ea"/>
                <a:ea typeface="+mj-ea"/>
              </a:rPr>
              <a:t>비중국계</a:t>
            </a:r>
            <a:r>
              <a:rPr lang="ko-KR" altLang="en-US" sz="1000" dirty="0">
                <a:latin typeface="+mj-ea"/>
                <a:ea typeface="+mj-ea"/>
              </a:rPr>
              <a:t> 현지 생산 인프라다</a:t>
            </a:r>
            <a:r>
              <a:rPr lang="en-US" altLang="ko-KR" sz="1000" dirty="0">
                <a:latin typeface="+mj-ea"/>
                <a:ea typeface="+mj-ea"/>
              </a:rPr>
              <a:t>. </a:t>
            </a:r>
            <a:r>
              <a:rPr lang="ko-KR" altLang="en-US" sz="1000" dirty="0">
                <a:latin typeface="+mj-ea"/>
                <a:ea typeface="+mj-ea"/>
              </a:rPr>
              <a:t>결국 삼성</a:t>
            </a:r>
            <a:r>
              <a:rPr lang="en-US" altLang="ko-KR" sz="1000" dirty="0">
                <a:latin typeface="+mj-ea"/>
                <a:ea typeface="+mj-ea"/>
              </a:rPr>
              <a:t>SDI</a:t>
            </a:r>
            <a:r>
              <a:rPr lang="ko-KR" altLang="en-US" sz="1000" dirty="0">
                <a:latin typeface="+mj-ea"/>
                <a:ea typeface="+mj-ea"/>
              </a:rPr>
              <a:t>는 가격 경쟁이 아닌 </a:t>
            </a:r>
            <a:r>
              <a:rPr lang="en-US" altLang="ko-KR" sz="1000" dirty="0">
                <a:latin typeface="+mj-ea"/>
                <a:ea typeface="+mj-ea"/>
              </a:rPr>
              <a:t>'</a:t>
            </a:r>
            <a:r>
              <a:rPr lang="ko-KR" altLang="en-US" sz="1000" dirty="0">
                <a:latin typeface="+mj-ea"/>
                <a:ea typeface="+mj-ea"/>
              </a:rPr>
              <a:t>비중국산 각형 </a:t>
            </a:r>
            <a:r>
              <a:rPr lang="en-US" altLang="ko-KR" sz="1000" dirty="0">
                <a:latin typeface="+mj-ea"/>
                <a:ea typeface="+mj-ea"/>
              </a:rPr>
              <a:t>LFP </a:t>
            </a:r>
            <a:r>
              <a:rPr lang="ko-KR" altLang="en-US" sz="1000" dirty="0">
                <a:latin typeface="+mj-ea"/>
                <a:ea typeface="+mj-ea"/>
              </a:rPr>
              <a:t>공급 가능 여부</a:t>
            </a:r>
            <a:r>
              <a:rPr lang="en-US" altLang="ko-KR" sz="1000" dirty="0">
                <a:latin typeface="+mj-ea"/>
                <a:ea typeface="+mj-ea"/>
              </a:rPr>
              <a:t>' </a:t>
            </a:r>
            <a:r>
              <a:rPr lang="ko-KR" altLang="en-US" sz="1000" dirty="0">
                <a:latin typeface="+mj-ea"/>
                <a:ea typeface="+mj-ea"/>
              </a:rPr>
              <a:t>자체만으로도 북미 </a:t>
            </a:r>
            <a:r>
              <a:rPr lang="en-US" altLang="ko-KR" sz="1000" dirty="0">
                <a:latin typeface="+mj-ea"/>
                <a:ea typeface="+mj-ea"/>
              </a:rPr>
              <a:t>ESS </a:t>
            </a:r>
            <a:r>
              <a:rPr lang="ko-KR" altLang="en-US" sz="1000" dirty="0">
                <a:latin typeface="+mj-ea"/>
                <a:ea typeface="+mj-ea"/>
              </a:rPr>
              <a:t>시장 재편의 강력한 수주 창구를 독점하는 구조적 수혜를 입을 것으로 분석된다</a:t>
            </a:r>
            <a:r>
              <a:rPr lang="en-US" altLang="ko-KR" sz="1000" dirty="0">
                <a:latin typeface="+mj-ea"/>
                <a:ea typeface="+mj-ea"/>
              </a:rPr>
              <a:t>.</a:t>
            </a:r>
          </a:p>
        </p:txBody>
      </p:sp>
      <p:graphicFrame>
        <p:nvGraphicFramePr>
          <p:cNvPr id="10" name="표 9">
            <a:extLst>
              <a:ext uri="{FF2B5EF4-FFF2-40B4-BE49-F238E27FC236}">
                <a16:creationId xmlns:a16="http://schemas.microsoft.com/office/drawing/2014/main" id="{0474CFFB-3EC6-3C50-7F67-1111FB9318B9}"/>
              </a:ext>
            </a:extLst>
          </p:cNvPr>
          <p:cNvGraphicFramePr>
            <a:graphicFrameLocks noGrp="1"/>
          </p:cNvGraphicFramePr>
          <p:nvPr>
            <p:extLst>
              <p:ext uri="{D42A27DB-BD31-4B8C-83A1-F6EECF244321}">
                <p14:modId xmlns:p14="http://schemas.microsoft.com/office/powerpoint/2010/main" val="3218234068"/>
              </p:ext>
            </p:extLst>
          </p:nvPr>
        </p:nvGraphicFramePr>
        <p:xfrm>
          <a:off x="1098" y="6112560"/>
          <a:ext cx="3632287" cy="3476564"/>
        </p:xfrm>
        <a:graphic>
          <a:graphicData uri="http://schemas.openxmlformats.org/drawingml/2006/table">
            <a:tbl>
              <a:tblPr firstRow="1" firstCol="1" bandRow="1">
                <a:tableStyleId>{5C22544A-7EE6-4342-B048-85BDC9FD1C3A}</a:tableStyleId>
              </a:tblPr>
              <a:tblGrid>
                <a:gridCol w="3632287">
                  <a:extLst>
                    <a:ext uri="{9D8B030D-6E8A-4147-A177-3AD203B41FA5}">
                      <a16:colId xmlns:a16="http://schemas.microsoft.com/office/drawing/2014/main" val="3875042380"/>
                    </a:ext>
                  </a:extLst>
                </a:gridCol>
              </a:tblGrid>
              <a:tr h="359639">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mj-ea"/>
                          <a:ea typeface="+mj-ea"/>
                          <a:cs typeface="Pretendard" panose="02000503000000020004" pitchFamily="2" charset="-127"/>
                        </a:rPr>
                        <a:t>자료</a:t>
                      </a:r>
                      <a:r>
                        <a:rPr lang="en-US" altLang="ko-KR" sz="1000" b="1" kern="100" dirty="0">
                          <a:solidFill>
                            <a:schemeClr val="tx1"/>
                          </a:solidFill>
                          <a:effectLst/>
                          <a:latin typeface="+mj-ea"/>
                          <a:ea typeface="+mj-ea"/>
                          <a:cs typeface="Pretendard" panose="02000503000000020004" pitchFamily="2" charset="-127"/>
                        </a:rPr>
                        <a:t> 7.</a:t>
                      </a:r>
                      <a:r>
                        <a:rPr lang="ko-KR" altLang="en-US" sz="1000" b="1" kern="100" dirty="0">
                          <a:solidFill>
                            <a:schemeClr val="tx1"/>
                          </a:solidFill>
                          <a:effectLst/>
                          <a:latin typeface="+mj-ea"/>
                          <a:ea typeface="+mj-ea"/>
                          <a:cs typeface="Pretendard" panose="02000503000000020004" pitchFamily="2" charset="-127"/>
                        </a:rPr>
                        <a:t> 국내 </a:t>
                      </a:r>
                      <a:r>
                        <a:rPr lang="en-US" altLang="ko-KR" sz="1000" b="1" kern="100" dirty="0">
                          <a:solidFill>
                            <a:schemeClr val="tx1"/>
                          </a:solidFill>
                          <a:effectLst/>
                          <a:latin typeface="+mj-ea"/>
                          <a:ea typeface="+mj-ea"/>
                          <a:cs typeface="Pretendard" panose="02000503000000020004" pitchFamily="2" charset="-127"/>
                        </a:rPr>
                        <a:t>3</a:t>
                      </a:r>
                      <a:r>
                        <a:rPr lang="ko-KR" altLang="en-US" sz="1000" b="1" kern="100" dirty="0">
                          <a:solidFill>
                            <a:schemeClr val="tx1"/>
                          </a:solidFill>
                          <a:effectLst/>
                          <a:latin typeface="+mj-ea"/>
                          <a:ea typeface="+mj-ea"/>
                          <a:cs typeface="Pretendard" panose="02000503000000020004" pitchFamily="2" charset="-127"/>
                        </a:rPr>
                        <a:t>사 </a:t>
                      </a:r>
                      <a:r>
                        <a:rPr lang="en-US" altLang="ko-KR" sz="1000" b="1" kern="100" dirty="0">
                          <a:solidFill>
                            <a:schemeClr val="tx1"/>
                          </a:solidFill>
                          <a:effectLst/>
                          <a:latin typeface="+mj-ea"/>
                          <a:ea typeface="+mj-ea"/>
                          <a:cs typeface="Pretendard" panose="02000503000000020004" pitchFamily="2" charset="-127"/>
                        </a:rPr>
                        <a:t>ESS</a:t>
                      </a:r>
                      <a:r>
                        <a:rPr lang="ko-KR" altLang="en-US" sz="1000" b="1" kern="100" dirty="0">
                          <a:solidFill>
                            <a:schemeClr val="tx1"/>
                          </a:solidFill>
                          <a:effectLst/>
                          <a:latin typeface="+mj-ea"/>
                          <a:ea typeface="+mj-ea"/>
                          <a:cs typeface="Pretendard" panose="02000503000000020004" pitchFamily="2" charset="-127"/>
                        </a:rPr>
                        <a:t> 확대 방안</a:t>
                      </a:r>
                    </a:p>
                  </a:txBody>
                  <a:tcPr marL="36727" marR="36727"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833744">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67" marR="336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83181">
                <a:tc>
                  <a:txBody>
                    <a:bodyPr/>
                    <a:lstStyle/>
                    <a:p>
                      <a:pPr algn="just">
                        <a:spcAft>
                          <a:spcPts val="1200"/>
                        </a:spcAft>
                      </a:pP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a:t>
                      </a:r>
                      <a:r>
                        <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 매일경제</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 </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ICOK</a:t>
                      </a: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27" marR="3672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pic>
        <p:nvPicPr>
          <p:cNvPr id="11" name="그림 10">
            <a:extLst>
              <a:ext uri="{FF2B5EF4-FFF2-40B4-BE49-F238E27FC236}">
                <a16:creationId xmlns:a16="http://schemas.microsoft.com/office/drawing/2014/main" id="{AC9C97C5-9105-5B86-2EF6-2522802B5A7A}"/>
              </a:ext>
            </a:extLst>
          </p:cNvPr>
          <p:cNvPicPr>
            <a:picLocks noChangeAspect="1"/>
          </p:cNvPicPr>
          <p:nvPr/>
        </p:nvPicPr>
        <p:blipFill>
          <a:blip r:embed="rId3"/>
          <a:stretch>
            <a:fillRect/>
          </a:stretch>
        </p:blipFill>
        <p:spPr>
          <a:xfrm>
            <a:off x="1099" y="6505267"/>
            <a:ext cx="3632286" cy="2665742"/>
          </a:xfrm>
          <a:prstGeom prst="rect">
            <a:avLst/>
          </a:prstGeom>
        </p:spPr>
      </p:pic>
      <p:graphicFrame>
        <p:nvGraphicFramePr>
          <p:cNvPr id="12" name="표 11">
            <a:extLst>
              <a:ext uri="{FF2B5EF4-FFF2-40B4-BE49-F238E27FC236}">
                <a16:creationId xmlns:a16="http://schemas.microsoft.com/office/drawing/2014/main" id="{81E68AA1-D390-7762-844E-FEE30DA4AE32}"/>
              </a:ext>
            </a:extLst>
          </p:cNvPr>
          <p:cNvGraphicFramePr>
            <a:graphicFrameLocks noGrp="1"/>
          </p:cNvGraphicFramePr>
          <p:nvPr>
            <p:extLst>
              <p:ext uri="{D42A27DB-BD31-4B8C-83A1-F6EECF244321}">
                <p14:modId xmlns:p14="http://schemas.microsoft.com/office/powerpoint/2010/main" val="2146089013"/>
              </p:ext>
            </p:extLst>
          </p:nvPr>
        </p:nvGraphicFramePr>
        <p:xfrm>
          <a:off x="3633384" y="6112560"/>
          <a:ext cx="3223515" cy="3498183"/>
        </p:xfrm>
        <a:graphic>
          <a:graphicData uri="http://schemas.openxmlformats.org/drawingml/2006/table">
            <a:tbl>
              <a:tblPr firstRow="1" firstCol="1" bandRow="1">
                <a:tableStyleId>{5C22544A-7EE6-4342-B048-85BDC9FD1C3A}</a:tableStyleId>
              </a:tblPr>
              <a:tblGrid>
                <a:gridCol w="3223515">
                  <a:extLst>
                    <a:ext uri="{9D8B030D-6E8A-4147-A177-3AD203B41FA5}">
                      <a16:colId xmlns:a16="http://schemas.microsoft.com/office/drawing/2014/main" val="3875042380"/>
                    </a:ext>
                  </a:extLst>
                </a:gridCol>
              </a:tblGrid>
              <a:tr h="359639">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mj-ea"/>
                          <a:ea typeface="+mj-ea"/>
                          <a:cs typeface="Pretendard" panose="02000503000000020004" pitchFamily="2" charset="-127"/>
                        </a:rPr>
                        <a:t>자료</a:t>
                      </a:r>
                      <a:r>
                        <a:rPr lang="en-US" altLang="ko-KR" sz="1000" b="1" kern="100" dirty="0">
                          <a:solidFill>
                            <a:schemeClr val="tx1"/>
                          </a:solidFill>
                          <a:effectLst/>
                          <a:latin typeface="+mj-ea"/>
                          <a:ea typeface="+mj-ea"/>
                          <a:cs typeface="Pretendard" panose="02000503000000020004" pitchFamily="2" charset="-127"/>
                        </a:rPr>
                        <a:t> 8.</a:t>
                      </a:r>
                      <a:r>
                        <a:rPr lang="ko-KR" altLang="en-US" sz="1000" b="1" kern="100" dirty="0">
                          <a:solidFill>
                            <a:schemeClr val="tx1"/>
                          </a:solidFill>
                          <a:effectLst/>
                          <a:latin typeface="+mj-ea"/>
                          <a:ea typeface="+mj-ea"/>
                          <a:cs typeface="Pretendard" panose="02000503000000020004" pitchFamily="2" charset="-127"/>
                        </a:rPr>
                        <a:t> 중국</a:t>
                      </a:r>
                      <a:r>
                        <a:rPr lang="en-US" altLang="ko-KR" sz="1000" b="1" kern="100" dirty="0">
                          <a:solidFill>
                            <a:schemeClr val="tx1"/>
                          </a:solidFill>
                          <a:effectLst/>
                          <a:latin typeface="+mj-ea"/>
                          <a:ea typeface="+mj-ea"/>
                          <a:cs typeface="Pretendard" panose="02000503000000020004" pitchFamily="2" charset="-127"/>
                        </a:rPr>
                        <a:t> LFP</a:t>
                      </a:r>
                      <a:r>
                        <a:rPr lang="ko-KR" altLang="en-US" sz="1000" b="1" kern="100" dirty="0">
                          <a:solidFill>
                            <a:schemeClr val="tx1"/>
                          </a:solidFill>
                          <a:effectLst/>
                          <a:latin typeface="+mj-ea"/>
                          <a:ea typeface="+mj-ea"/>
                          <a:cs typeface="Pretendard" panose="02000503000000020004" pitchFamily="2" charset="-127"/>
                        </a:rPr>
                        <a:t> 배터리 </a:t>
                      </a:r>
                      <a:r>
                        <a:rPr lang="ko-KR" altLang="en-US" sz="1000" b="1" kern="100" dirty="0" err="1">
                          <a:solidFill>
                            <a:schemeClr val="tx1"/>
                          </a:solidFill>
                          <a:effectLst/>
                          <a:latin typeface="+mj-ea"/>
                          <a:ea typeface="+mj-ea"/>
                          <a:cs typeface="Pretendard" panose="02000503000000020004" pitchFamily="2" charset="-127"/>
                        </a:rPr>
                        <a:t>설치량</a:t>
                      </a:r>
                      <a:endParaRPr lang="ko-KR" altLang="en-US" sz="1000" b="1" kern="100" dirty="0">
                        <a:solidFill>
                          <a:schemeClr val="tx1"/>
                        </a:solidFill>
                        <a:effectLst/>
                        <a:latin typeface="+mj-ea"/>
                        <a:ea typeface="+mj-ea"/>
                        <a:cs typeface="Pretendard" panose="02000503000000020004" pitchFamily="2" charset="-127"/>
                      </a:endParaRPr>
                    </a:p>
                  </a:txBody>
                  <a:tcPr marL="36727" marR="36727"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833744">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67" marR="336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304702">
                <a:tc>
                  <a:txBody>
                    <a:bodyPr/>
                    <a:lstStyle/>
                    <a:p>
                      <a:pPr algn="just">
                        <a:spcAft>
                          <a:spcPts val="1200"/>
                        </a:spcAft>
                      </a:pP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a:t>
                      </a:r>
                      <a:r>
                        <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 </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Battery-Tech Network, SNE Research (2025</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년 중국 </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LFP </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시장 기준</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a:t>
                      </a:r>
                      <a:r>
                        <a:rPr lang="ko-KR" alt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 </a:t>
                      </a:r>
                      <a:r>
                        <a:rPr lang="en-US"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ICOK</a:t>
                      </a: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27" marR="3672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pic>
        <p:nvPicPr>
          <p:cNvPr id="26" name="그림 25">
            <a:extLst>
              <a:ext uri="{FF2B5EF4-FFF2-40B4-BE49-F238E27FC236}">
                <a16:creationId xmlns:a16="http://schemas.microsoft.com/office/drawing/2014/main" id="{D7BDB579-8C00-10C4-7D39-D24E5243CC83}"/>
              </a:ext>
            </a:extLst>
          </p:cNvPr>
          <p:cNvPicPr>
            <a:picLocks noChangeAspect="1"/>
          </p:cNvPicPr>
          <p:nvPr/>
        </p:nvPicPr>
        <p:blipFill>
          <a:blip r:embed="rId4"/>
          <a:stretch>
            <a:fillRect/>
          </a:stretch>
        </p:blipFill>
        <p:spPr>
          <a:xfrm>
            <a:off x="3633383" y="6505267"/>
            <a:ext cx="2437618" cy="2020602"/>
          </a:xfrm>
          <a:prstGeom prst="rect">
            <a:avLst/>
          </a:prstGeom>
        </p:spPr>
      </p:pic>
      <p:pic>
        <p:nvPicPr>
          <p:cNvPr id="24" name="그림 23">
            <a:extLst>
              <a:ext uri="{FF2B5EF4-FFF2-40B4-BE49-F238E27FC236}">
                <a16:creationId xmlns:a16="http://schemas.microsoft.com/office/drawing/2014/main" id="{D45AC559-2728-1C40-BB98-E17118EA3A78}"/>
              </a:ext>
            </a:extLst>
          </p:cNvPr>
          <p:cNvPicPr>
            <a:picLocks noChangeAspect="1"/>
          </p:cNvPicPr>
          <p:nvPr/>
        </p:nvPicPr>
        <p:blipFill>
          <a:blip r:embed="rId5"/>
          <a:stretch>
            <a:fillRect/>
          </a:stretch>
        </p:blipFill>
        <p:spPr>
          <a:xfrm>
            <a:off x="5417183" y="8354474"/>
            <a:ext cx="1439718" cy="923380"/>
          </a:xfrm>
          <a:prstGeom prst="rect">
            <a:avLst/>
          </a:prstGeom>
        </p:spPr>
      </p:pic>
      <p:sp>
        <p:nvSpPr>
          <p:cNvPr id="27" name="TextBox 26"/>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149400"/>
          </a:xfrm>
          <a:prstGeom prst="rect">
            <a:avLst/>
          </a:prstGeom>
          <a:noFill/>
        </p:spPr>
        <p:txBody>
          <a:bodyPr wrap="square" lIns="0" tIns="0" rIns="0" bIns="0" anchor="t">
            <a:spAutoFit/>
          </a:bodyPr>
          <a:lstStyle/>
          <a:p>
            <a:pPr>
              <a:lnSpc>
                <a:spcPct val="112000"/>
              </a:lnSpc>
              <a:spcBef>
                <a:spcPts val="0"/>
              </a:spcBef>
              <a:spcAft>
                <a:spcPts val="500"/>
              </a:spcAft>
            </a:pPr>
            <a:r>
              <a:rPr lang="ko-KR" altLang="en-US" sz="950" b="1" dirty="0">
                <a:solidFill>
                  <a:srgbClr val="003A75"/>
                </a:solidFill>
                <a:latin typeface="Malgun Gothic"/>
              </a:rPr>
              <a:t>기업분석</a:t>
            </a:r>
            <a:endParaRPr sz="950" b="1" i="0" dirty="0">
              <a:solidFill>
                <a:srgbClr val="003A75"/>
              </a:solidFill>
              <a:latin typeface="Malgun Gothic"/>
            </a:endParaRP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2000"/>
              </a:lnSpc>
              <a:spcBef>
                <a:spcPts val="0"/>
              </a:spcBef>
              <a:spcAft>
                <a:spcPts val="500"/>
              </a:spcAft>
            </a:pPr>
            <a:r>
              <a:rPr sz="900" b="0" i="0">
                <a:solidFill>
                  <a:srgbClr val="6B7785"/>
                </a:solidFill>
                <a:latin typeface="Malgun Gothic"/>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11877" y="905368"/>
            <a:ext cx="5943600" cy="410177"/>
          </a:xfrm>
          <a:prstGeom prst="rect">
            <a:avLst/>
          </a:prstGeom>
          <a:noFill/>
        </p:spPr>
        <p:txBody>
          <a:bodyPr wrap="square" lIns="0" tIns="0" rIns="0" bIns="0" anchor="t">
            <a:spAutoFit/>
          </a:bodyPr>
          <a:lstStyle/>
          <a:p>
            <a:pPr>
              <a:lnSpc>
                <a:spcPct val="112000"/>
              </a:lnSpc>
              <a:spcBef>
                <a:spcPts val="0"/>
              </a:spcBef>
              <a:spcAft>
                <a:spcPts val="500"/>
              </a:spcAft>
            </a:pPr>
            <a:endParaRPr lang="en-US" sz="1050" b="1" i="0" dirty="0">
              <a:latin typeface="맑은 고딕" panose="020B0503020000020004" pitchFamily="50" charset="-127"/>
              <a:ea typeface="맑은 고딕" panose="020B0503020000020004" pitchFamily="50" charset="-127"/>
            </a:endParaRPr>
          </a:p>
          <a:p>
            <a:pPr>
              <a:lnSpc>
                <a:spcPct val="112000"/>
              </a:lnSpc>
              <a:spcBef>
                <a:spcPts val="0"/>
              </a:spcBef>
              <a:spcAft>
                <a:spcPts val="500"/>
              </a:spcAft>
            </a:pPr>
            <a:r>
              <a:rPr lang="en-US" sz="1050" b="1" dirty="0">
                <a:latin typeface="맑은 고딕" panose="020B0503020000020004" pitchFamily="50" charset="-127"/>
                <a:ea typeface="맑은 고딕" panose="020B0503020000020004" pitchFamily="50" charset="-127"/>
              </a:rPr>
              <a:t>2.1.</a:t>
            </a:r>
            <a:r>
              <a:rPr lang="en-US" sz="1050" b="1" i="0" dirty="0">
                <a:latin typeface="맑은 고딕" panose="020B0503020000020004" pitchFamily="50" charset="-127"/>
                <a:ea typeface="맑은 고딕" panose="020B0503020000020004" pitchFamily="50" charset="-127"/>
              </a:rPr>
              <a:t>1</a:t>
            </a:r>
            <a:r>
              <a:rPr sz="1050" b="1" i="0" dirty="0">
                <a:latin typeface="맑은 고딕" panose="020B0503020000020004" pitchFamily="50" charset="-127"/>
                <a:ea typeface="맑은 고딕" panose="020B0503020000020004" pitchFamily="50" charset="-127"/>
              </a:rPr>
              <a:t>  </a:t>
            </a:r>
            <a:r>
              <a:rPr lang="ko-KR" altLang="en-US" sz="1050" b="1" dirty="0">
                <a:latin typeface="맑은 고딕" panose="020B0503020000020004" pitchFamily="50" charset="-127"/>
                <a:ea typeface="맑은 고딕" panose="020B0503020000020004" pitchFamily="50" charset="-127"/>
              </a:rPr>
              <a:t>회사 개요</a:t>
            </a:r>
            <a:endParaRPr sz="1050" b="1" i="0" dirty="0">
              <a:latin typeface="맑은 고딕" panose="020B0503020000020004" pitchFamily="50" charset="-127"/>
              <a:ea typeface="맑은 고딕" panose="020B0503020000020004" pitchFamily="50" charset="-127"/>
            </a:endParaRPr>
          </a:p>
        </p:txBody>
      </p:sp>
      <p:sp>
        <p:nvSpPr>
          <p:cNvPr id="7" name="TextBox 6"/>
          <p:cNvSpPr txBox="1"/>
          <p:nvPr/>
        </p:nvSpPr>
        <p:spPr>
          <a:xfrm>
            <a:off x="996341" y="1397255"/>
            <a:ext cx="5468645" cy="769441"/>
          </a:xfrm>
          <a:prstGeom prst="rect">
            <a:avLst/>
          </a:prstGeom>
          <a:noFill/>
        </p:spPr>
        <p:txBody>
          <a:bodyPr wrap="square" lIns="0" tIns="0" rIns="0" bIns="0" anchor="t">
            <a:spAutoFit/>
          </a:bodyPr>
          <a:lstStyle/>
          <a:p>
            <a:pPr latinLnBrk="1"/>
            <a:r>
              <a:rPr lang="ko-KR" altLang="ko-KR" sz="1000" dirty="0"/>
              <a:t>삼성</a:t>
            </a:r>
            <a:r>
              <a:rPr lang="en-US" altLang="ko-KR" sz="1000" dirty="0"/>
              <a:t>SDI</a:t>
            </a:r>
            <a:r>
              <a:rPr lang="ko-KR" altLang="ko-KR" sz="1000" dirty="0"/>
              <a:t>는</a:t>
            </a:r>
            <a:r>
              <a:rPr lang="en-US" altLang="ko-KR" sz="1000" dirty="0"/>
              <a:t> 1970</a:t>
            </a:r>
            <a:r>
              <a:rPr lang="ko-KR" altLang="ko-KR" sz="1000" dirty="0"/>
              <a:t>년 삼성</a:t>
            </a:r>
            <a:r>
              <a:rPr lang="en-US" altLang="ko-KR" sz="1000" dirty="0"/>
              <a:t>-NEC</a:t>
            </a:r>
            <a:r>
              <a:rPr lang="ko-KR" altLang="ko-KR" sz="1000" dirty="0"/>
              <a:t>로 출범해</a:t>
            </a:r>
            <a:r>
              <a:rPr lang="en-US" altLang="ko-KR" sz="1000" dirty="0"/>
              <a:t> 1974</a:t>
            </a:r>
            <a:r>
              <a:rPr lang="ko-KR" altLang="ko-KR" sz="1000" dirty="0"/>
              <a:t>년 삼성전관</a:t>
            </a:r>
            <a:r>
              <a:rPr lang="en-US" altLang="ko-KR" sz="1000" dirty="0"/>
              <a:t>, 1999</a:t>
            </a:r>
            <a:r>
              <a:rPr lang="ko-KR" altLang="ko-KR" sz="1000" dirty="0"/>
              <a:t>년 삼성</a:t>
            </a:r>
            <a:r>
              <a:rPr lang="en-US" altLang="ko-KR" sz="1000" dirty="0"/>
              <a:t>SDI</a:t>
            </a:r>
            <a:r>
              <a:rPr lang="ko-KR" altLang="ko-KR" sz="1000" dirty="0"/>
              <a:t>로 사명을 변경했</a:t>
            </a:r>
            <a:r>
              <a:rPr lang="ko-KR" altLang="en-US" sz="1000" dirty="0"/>
              <a:t>다</a:t>
            </a:r>
            <a:r>
              <a:rPr lang="en-US" altLang="ko-KR" sz="1000" dirty="0"/>
              <a:t>. 2000</a:t>
            </a:r>
            <a:r>
              <a:rPr lang="ko-KR" altLang="ko-KR" sz="1000" dirty="0"/>
              <a:t>년 리튬이온 배터리 양산을 시작으로 배터리 사업을 본격화했으</a:t>
            </a:r>
            <a:r>
              <a:rPr lang="ko-KR" altLang="en-US" sz="1000" dirty="0"/>
              <a:t>며</a:t>
            </a:r>
            <a:r>
              <a:rPr lang="en-US" altLang="ko-KR" sz="1000" dirty="0"/>
              <a:t> 2014</a:t>
            </a:r>
            <a:r>
              <a:rPr lang="ko-KR" altLang="ko-KR" sz="1000" dirty="0"/>
              <a:t>년 제일모직과 통합하면서 전자재료 사업을 흡수해 현재의 배터리</a:t>
            </a:r>
            <a:r>
              <a:rPr lang="en-US" altLang="ko-KR" sz="1000" dirty="0"/>
              <a:t>·</a:t>
            </a:r>
            <a:r>
              <a:rPr lang="ko-KR" altLang="ko-KR" sz="1000" dirty="0"/>
              <a:t>전자재료 이원 사업구조를 갖추게 됐</a:t>
            </a:r>
            <a:r>
              <a:rPr lang="ko-KR" altLang="en-US" sz="1000" dirty="0"/>
              <a:t>다</a:t>
            </a:r>
            <a:r>
              <a:rPr lang="en-US" altLang="ko-KR" sz="1000" dirty="0"/>
              <a:t>.</a:t>
            </a:r>
            <a:endParaRPr lang="ko-KR" altLang="ko-KR" sz="1000" dirty="0"/>
          </a:p>
          <a:p>
            <a:pPr latinLnBrk="1"/>
            <a:r>
              <a:rPr lang="ko-KR" altLang="ko-KR" sz="1000" dirty="0"/>
              <a:t>공식 사업 축은 친환경 에너지</a:t>
            </a:r>
            <a:r>
              <a:rPr lang="en-US" altLang="ko-KR" sz="1000" dirty="0"/>
              <a:t>(</a:t>
            </a:r>
            <a:r>
              <a:rPr lang="ko-KR" altLang="ko-KR" sz="1000" dirty="0"/>
              <a:t>에너지솔루션</a:t>
            </a:r>
            <a:r>
              <a:rPr lang="en-US" altLang="ko-KR" sz="1000" dirty="0"/>
              <a:t>)</a:t>
            </a:r>
            <a:r>
              <a:rPr lang="ko-KR" altLang="ko-KR" sz="1000" dirty="0"/>
              <a:t>와 첨단소재</a:t>
            </a:r>
            <a:r>
              <a:rPr lang="en-US" altLang="ko-KR" sz="1000" dirty="0"/>
              <a:t>(</a:t>
            </a:r>
            <a:r>
              <a:rPr lang="ko-KR" altLang="ko-KR" sz="1000" dirty="0"/>
              <a:t>전자재료</a:t>
            </a:r>
            <a:r>
              <a:rPr lang="en-US" altLang="ko-KR" sz="1000" dirty="0"/>
              <a:t>) </a:t>
            </a:r>
            <a:r>
              <a:rPr lang="ko-KR" altLang="ko-KR" sz="1000" dirty="0"/>
              <a:t>두 가지이며</a:t>
            </a:r>
            <a:r>
              <a:rPr lang="en-US" altLang="ko-KR" sz="1000" dirty="0"/>
              <a:t> </a:t>
            </a:r>
            <a:r>
              <a:rPr lang="ko-KR" altLang="ko-KR" sz="1000" dirty="0"/>
              <a:t>매출 기준으로는 배터리 사업이 약</a:t>
            </a:r>
            <a:r>
              <a:rPr lang="en-US" altLang="ko-KR" sz="1000" dirty="0"/>
              <a:t> 94~95%</a:t>
            </a:r>
            <a:r>
              <a:rPr lang="ko-KR" altLang="ko-KR" sz="1000" dirty="0"/>
              <a:t>를 차지하는 배터리 중심 기업</a:t>
            </a:r>
            <a:r>
              <a:rPr lang="ko-KR" altLang="en-US" sz="1000" dirty="0"/>
              <a:t>이다</a:t>
            </a:r>
            <a:r>
              <a:rPr lang="en-US" altLang="ko-KR" sz="1000" dirty="0"/>
              <a:t>.</a:t>
            </a:r>
            <a:endParaRPr lang="ko-KR" altLang="ko-KR" sz="1000" dirty="0"/>
          </a:p>
        </p:txBody>
      </p:sp>
      <p:sp>
        <p:nvSpPr>
          <p:cNvPr id="12" name="TextBox 10">
            <a:extLst>
              <a:ext uri="{FF2B5EF4-FFF2-40B4-BE49-F238E27FC236}">
                <a16:creationId xmlns:a16="http://schemas.microsoft.com/office/drawing/2014/main" id="{8F678365-7597-13B3-0795-09C81D1A23BF}"/>
              </a:ext>
            </a:extLst>
          </p:cNvPr>
          <p:cNvSpPr txBox="1"/>
          <p:nvPr/>
        </p:nvSpPr>
        <p:spPr>
          <a:xfrm>
            <a:off x="996341" y="759155"/>
            <a:ext cx="4646838" cy="514693"/>
          </a:xfrm>
          <a:prstGeom prst="rect">
            <a:avLst/>
          </a:prstGeom>
        </p:spPr>
        <p:txBody>
          <a:bodyPr lIns="0" tIns="0" rIns="0" bIns="0" rtlCol="0" anchor="t">
            <a:spAutoFit/>
          </a:bodyPr>
          <a:lstStyle/>
          <a:p>
            <a:pPr algn="just">
              <a:lnSpc>
                <a:spcPts val="2093"/>
              </a:lnSpc>
            </a:pPr>
            <a:r>
              <a:rPr lang="en-US" altLang="ko-KR" sz="1100" b="1" dirty="0">
                <a:latin typeface="맑은 고딕" panose="020B0503020000020004" pitchFamily="50" charset="-127"/>
                <a:ea typeface="맑은 고딕" panose="020B0503020000020004" pitchFamily="50" charset="-127"/>
                <a:cs typeface="Pretendard Bold"/>
                <a:sym typeface="Pretendard Bold"/>
              </a:rPr>
              <a:t>2.1. </a:t>
            </a:r>
            <a:r>
              <a:rPr lang="ko-KR" altLang="en-US" sz="1100" b="1" dirty="0">
                <a:latin typeface="맑은 고딕" panose="020B0503020000020004" pitchFamily="50" charset="-127"/>
                <a:ea typeface="맑은 고딕" panose="020B0503020000020004" pitchFamily="50" charset="-127"/>
                <a:cs typeface="Pretendard Bold"/>
                <a:sym typeface="Pretendard Bold"/>
              </a:rPr>
              <a:t>기업 개요</a:t>
            </a:r>
            <a:endParaRPr lang="en" altLang="ko-KR" sz="1100" b="1" dirty="0">
              <a:latin typeface="맑은 고딕" panose="020B0503020000020004" pitchFamily="50" charset="-127"/>
              <a:ea typeface="맑은 고딕" panose="020B0503020000020004" pitchFamily="50" charset="-127"/>
              <a:cs typeface="Pretendard Bold"/>
              <a:sym typeface="Pretendard Bold"/>
            </a:endParaRPr>
          </a:p>
          <a:p>
            <a:pPr algn="just">
              <a:lnSpc>
                <a:spcPts val="2093"/>
              </a:lnSpc>
            </a:pPr>
            <a:endParaRPr lang="en-US" sz="1100" b="1" dirty="0">
              <a:latin typeface="맑은 고딕" panose="020B0503020000020004" pitchFamily="50" charset="-127"/>
              <a:ea typeface="맑은 고딕" panose="020B0503020000020004" pitchFamily="50" charset="-127"/>
              <a:cs typeface="Pretendard Bold"/>
              <a:sym typeface="Pretendard Bold"/>
            </a:endParaRPr>
          </a:p>
        </p:txBody>
      </p:sp>
      <p:sp>
        <p:nvSpPr>
          <p:cNvPr id="9" name="TextBox 8">
            <a:extLst>
              <a:ext uri="{FF2B5EF4-FFF2-40B4-BE49-F238E27FC236}">
                <a16:creationId xmlns:a16="http://schemas.microsoft.com/office/drawing/2014/main" id="{CDD18FED-3C1A-3563-E57A-A8D5E0344CAB}"/>
              </a:ext>
            </a:extLst>
          </p:cNvPr>
          <p:cNvSpPr txBox="1"/>
          <p:nvPr/>
        </p:nvSpPr>
        <p:spPr>
          <a:xfrm>
            <a:off x="935869" y="2167370"/>
            <a:ext cx="3479048" cy="265329"/>
          </a:xfrm>
          <a:prstGeom prst="rect">
            <a:avLst/>
          </a:prstGeom>
          <a:noFill/>
        </p:spPr>
        <p:txBody>
          <a:bodyPr wrap="square">
            <a:spAutoFit/>
          </a:bodyPr>
          <a:lstStyle/>
          <a:p>
            <a:pPr>
              <a:lnSpc>
                <a:spcPct val="112000"/>
              </a:lnSpc>
              <a:spcBef>
                <a:spcPts val="0"/>
              </a:spcBef>
              <a:spcAft>
                <a:spcPts val="500"/>
              </a:spcAft>
            </a:pPr>
            <a:r>
              <a:rPr lang="en-US" altLang="ko-KR" sz="1050" b="1" i="0" dirty="0">
                <a:latin typeface="맑은 고딕" panose="020B0503020000020004" pitchFamily="50" charset="-127"/>
                <a:ea typeface="맑은 고딕" panose="020B0503020000020004" pitchFamily="50" charset="-127"/>
              </a:rPr>
              <a:t>2.1.2</a:t>
            </a:r>
            <a:r>
              <a:rPr lang="ko-KR" altLang="en-US" sz="1050" b="1" i="0" dirty="0">
                <a:latin typeface="맑은 고딕" panose="020B0503020000020004" pitchFamily="50" charset="-127"/>
                <a:ea typeface="맑은 고딕" panose="020B0503020000020004" pitchFamily="50" charset="-127"/>
              </a:rPr>
              <a:t>  주요 연혁</a:t>
            </a:r>
            <a:r>
              <a:rPr sz="800" dirty="0">
                <a:solidFill>
                  <a:srgbClr val="6B7785"/>
                </a:solidFill>
                <a:latin typeface="맑은 고딕"/>
              </a:rPr>
              <a:t>  [</a:t>
            </a:r>
            <a:r>
              <a:rPr sz="800" dirty="0" err="1">
                <a:solidFill>
                  <a:srgbClr val="6B7785"/>
                </a:solidFill>
                <a:latin typeface="맑은 고딕"/>
              </a:rPr>
              <a:t>자료</a:t>
            </a:r>
            <a:r>
              <a:rPr sz="800" dirty="0">
                <a:solidFill>
                  <a:srgbClr val="6B7785"/>
                </a:solidFill>
                <a:latin typeface="맑은 고딕"/>
              </a:rPr>
              <a:t> 9]</a:t>
            </a:r>
          </a:p>
        </p:txBody>
      </p:sp>
      <p:graphicFrame>
        <p:nvGraphicFramePr>
          <p:cNvPr id="11" name="표 10">
            <a:extLst>
              <a:ext uri="{FF2B5EF4-FFF2-40B4-BE49-F238E27FC236}">
                <a16:creationId xmlns:a16="http://schemas.microsoft.com/office/drawing/2014/main" id="{4D8A4E1D-5FCA-07A5-AC55-42F39F58EB94}"/>
              </a:ext>
            </a:extLst>
          </p:cNvPr>
          <p:cNvGraphicFramePr>
            <a:graphicFrameLocks noGrp="1"/>
          </p:cNvGraphicFramePr>
          <p:nvPr>
            <p:extLst>
              <p:ext uri="{D42A27DB-BD31-4B8C-83A1-F6EECF244321}">
                <p14:modId xmlns:p14="http://schemas.microsoft.com/office/powerpoint/2010/main" val="4048147610"/>
              </p:ext>
            </p:extLst>
          </p:nvPr>
        </p:nvGraphicFramePr>
        <p:xfrm>
          <a:off x="1011877" y="2432699"/>
          <a:ext cx="4131558" cy="1813560"/>
        </p:xfrm>
        <a:graphic>
          <a:graphicData uri="http://schemas.openxmlformats.org/drawingml/2006/table">
            <a:tbl>
              <a:tblPr firstRow="1" firstCol="1" bandRow="1">
                <a:tableStyleId>{5C22544A-7EE6-4342-B048-85BDC9FD1C3A}</a:tableStyleId>
              </a:tblPr>
              <a:tblGrid>
                <a:gridCol w="835102">
                  <a:extLst>
                    <a:ext uri="{9D8B030D-6E8A-4147-A177-3AD203B41FA5}">
                      <a16:colId xmlns:a16="http://schemas.microsoft.com/office/drawing/2014/main" val="1378519454"/>
                    </a:ext>
                  </a:extLst>
                </a:gridCol>
                <a:gridCol w="3296456">
                  <a:extLst>
                    <a:ext uri="{9D8B030D-6E8A-4147-A177-3AD203B41FA5}">
                      <a16:colId xmlns:a16="http://schemas.microsoft.com/office/drawing/2014/main" val="4047853830"/>
                    </a:ext>
                  </a:extLst>
                </a:gridCol>
              </a:tblGrid>
              <a:tr h="197527">
                <a:tc>
                  <a:txBody>
                    <a:bodyPr/>
                    <a:lstStyle/>
                    <a:p>
                      <a:pPr algn="ctr" latinLnBrk="1">
                        <a:buNone/>
                      </a:pPr>
                      <a:r>
                        <a:rPr lang="ko-KR" sz="800">
                          <a:effectLst/>
                        </a:rPr>
                        <a:t>연도</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latinLnBrk="1">
                        <a:buNone/>
                      </a:pPr>
                      <a:r>
                        <a:rPr lang="ko-KR" sz="800" dirty="0">
                          <a:effectLst/>
                        </a:rPr>
                        <a:t>주요 사건</a:t>
                      </a:r>
                      <a:endParaRPr lang="ko-KR" sz="8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extLst>
                  <a:ext uri="{0D108BD9-81ED-4DB2-BD59-A6C34878D82A}">
                    <a16:rowId xmlns:a16="http://schemas.microsoft.com/office/drawing/2014/main" val="4182874758"/>
                  </a:ext>
                </a:extLst>
              </a:tr>
              <a:tr h="179066">
                <a:tc>
                  <a:txBody>
                    <a:bodyPr/>
                    <a:lstStyle/>
                    <a:p>
                      <a:pPr algn="ctr" latinLnBrk="1">
                        <a:buNone/>
                      </a:pPr>
                      <a:r>
                        <a:rPr lang="en-US" sz="800">
                          <a:effectLst/>
                        </a:rPr>
                        <a:t>1970</a:t>
                      </a:r>
                      <a:r>
                        <a:rPr lang="ko-KR" sz="800">
                          <a:effectLst/>
                        </a:rPr>
                        <a:t>년</a:t>
                      </a:r>
                      <a:r>
                        <a:rPr lang="en-US" sz="800">
                          <a:effectLst/>
                        </a:rPr>
                        <a:t> 1</a:t>
                      </a:r>
                      <a:r>
                        <a:rPr lang="ko-KR" sz="800">
                          <a:effectLst/>
                        </a:rPr>
                        <a:t>월</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latinLnBrk="1">
                        <a:buNone/>
                      </a:pPr>
                      <a:r>
                        <a:rPr lang="ko-KR" sz="800" dirty="0">
                          <a:effectLst/>
                        </a:rPr>
                        <a:t>삼성</a:t>
                      </a:r>
                      <a:r>
                        <a:rPr lang="en-US" sz="800" dirty="0">
                          <a:effectLst/>
                        </a:rPr>
                        <a:t>-NEC </a:t>
                      </a:r>
                      <a:r>
                        <a:rPr lang="ko-KR" sz="800" dirty="0">
                          <a:effectLst/>
                        </a:rPr>
                        <a:t>주식회사 설립</a:t>
                      </a:r>
                      <a:r>
                        <a:rPr lang="en-US" sz="800" dirty="0">
                          <a:effectLst/>
                        </a:rPr>
                        <a:t> — </a:t>
                      </a:r>
                      <a:r>
                        <a:rPr lang="ko-KR" sz="800" dirty="0">
                          <a:effectLst/>
                        </a:rPr>
                        <a:t>브라운관</a:t>
                      </a:r>
                      <a:r>
                        <a:rPr lang="en-US" sz="800" dirty="0">
                          <a:effectLst/>
                        </a:rPr>
                        <a:t>(CRT) </a:t>
                      </a:r>
                      <a:r>
                        <a:rPr lang="ko-KR" sz="800" dirty="0">
                          <a:effectLst/>
                        </a:rPr>
                        <a:t>제조로 출발</a:t>
                      </a:r>
                      <a:endParaRPr lang="ko-KR" sz="8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13322528"/>
                  </a:ext>
                </a:extLst>
              </a:tr>
              <a:tr h="179066">
                <a:tc>
                  <a:txBody>
                    <a:bodyPr/>
                    <a:lstStyle/>
                    <a:p>
                      <a:pPr algn="ctr" latinLnBrk="1">
                        <a:buNone/>
                      </a:pPr>
                      <a:r>
                        <a:rPr lang="en-US" sz="800" dirty="0">
                          <a:effectLst/>
                        </a:rPr>
                        <a:t>1974</a:t>
                      </a:r>
                      <a:r>
                        <a:rPr lang="ko-KR" sz="800" dirty="0">
                          <a:effectLst/>
                        </a:rPr>
                        <a:t>년</a:t>
                      </a:r>
                      <a:endParaRPr lang="ko-KR" sz="8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latinLnBrk="1">
                        <a:buNone/>
                      </a:pPr>
                      <a:r>
                        <a:rPr lang="ko-KR" sz="800">
                          <a:effectLst/>
                        </a:rPr>
                        <a:t>삼성전관으로 사명 변경</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526208373"/>
                  </a:ext>
                </a:extLst>
              </a:tr>
              <a:tr h="179066">
                <a:tc>
                  <a:txBody>
                    <a:bodyPr/>
                    <a:lstStyle/>
                    <a:p>
                      <a:pPr algn="ctr" latinLnBrk="1">
                        <a:buNone/>
                      </a:pPr>
                      <a:r>
                        <a:rPr lang="en-US" sz="800" dirty="0">
                          <a:effectLst/>
                        </a:rPr>
                        <a:t>1999</a:t>
                      </a:r>
                      <a:r>
                        <a:rPr lang="ko-KR" sz="800" dirty="0">
                          <a:effectLst/>
                        </a:rPr>
                        <a:t>년</a:t>
                      </a:r>
                      <a:endParaRPr lang="ko-KR" sz="8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latinLnBrk="1">
                        <a:buNone/>
                      </a:pPr>
                      <a:r>
                        <a:rPr lang="ko-KR" sz="800">
                          <a:effectLst/>
                        </a:rPr>
                        <a:t>삼성</a:t>
                      </a:r>
                      <a:r>
                        <a:rPr lang="en-US" sz="800">
                          <a:effectLst/>
                        </a:rPr>
                        <a:t>SDI</a:t>
                      </a:r>
                      <a:r>
                        <a:rPr lang="ko-KR" sz="800">
                          <a:effectLst/>
                        </a:rPr>
                        <a:t>로 사명 변경</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635056082"/>
                  </a:ext>
                </a:extLst>
              </a:tr>
              <a:tr h="179066">
                <a:tc>
                  <a:txBody>
                    <a:bodyPr/>
                    <a:lstStyle/>
                    <a:p>
                      <a:pPr algn="ctr" latinLnBrk="1">
                        <a:buNone/>
                      </a:pPr>
                      <a:r>
                        <a:rPr lang="en-US" sz="800">
                          <a:effectLst/>
                        </a:rPr>
                        <a:t>2000</a:t>
                      </a:r>
                      <a:r>
                        <a:rPr lang="ko-KR" sz="800">
                          <a:effectLst/>
                        </a:rPr>
                        <a:t>년</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latinLnBrk="1">
                        <a:buNone/>
                      </a:pPr>
                      <a:r>
                        <a:rPr lang="ko-KR" sz="800">
                          <a:effectLst/>
                        </a:rPr>
                        <a:t>리튬이온 배터리 첫 양산 출하</a:t>
                      </a:r>
                      <a:r>
                        <a:rPr lang="en-US" sz="800">
                          <a:effectLst/>
                        </a:rPr>
                        <a:t> — </a:t>
                      </a:r>
                      <a:r>
                        <a:rPr lang="ko-KR" sz="800">
                          <a:effectLst/>
                        </a:rPr>
                        <a:t>배터리 사업 본격화</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196706832"/>
                  </a:ext>
                </a:extLst>
              </a:tr>
              <a:tr h="179066">
                <a:tc>
                  <a:txBody>
                    <a:bodyPr/>
                    <a:lstStyle/>
                    <a:p>
                      <a:pPr algn="ctr" latinLnBrk="1">
                        <a:buNone/>
                      </a:pPr>
                      <a:r>
                        <a:rPr lang="en-US" sz="800">
                          <a:effectLst/>
                        </a:rPr>
                        <a:t>2014</a:t>
                      </a:r>
                      <a:r>
                        <a:rPr lang="ko-KR" sz="800">
                          <a:effectLst/>
                        </a:rPr>
                        <a:t>년</a:t>
                      </a:r>
                      <a:r>
                        <a:rPr lang="en-US" sz="800">
                          <a:effectLst/>
                        </a:rPr>
                        <a:t> 7</a:t>
                      </a:r>
                      <a:r>
                        <a:rPr lang="ko-KR" sz="800">
                          <a:effectLst/>
                        </a:rPr>
                        <a:t>월</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latinLnBrk="1">
                        <a:buNone/>
                      </a:pPr>
                      <a:r>
                        <a:rPr lang="ko-KR" sz="800">
                          <a:effectLst/>
                        </a:rPr>
                        <a:t>삼성</a:t>
                      </a:r>
                      <a:r>
                        <a:rPr lang="en-US" sz="800">
                          <a:effectLst/>
                        </a:rPr>
                        <a:t>SDI-</a:t>
                      </a:r>
                      <a:r>
                        <a:rPr lang="ko-KR" sz="800">
                          <a:effectLst/>
                        </a:rPr>
                        <a:t>제일모직 통합법인 출범</a:t>
                      </a:r>
                      <a:r>
                        <a:rPr lang="en-US" sz="800">
                          <a:effectLst/>
                        </a:rPr>
                        <a:t> → </a:t>
                      </a:r>
                      <a:r>
                        <a:rPr lang="ko-KR" sz="800">
                          <a:effectLst/>
                        </a:rPr>
                        <a:t>전자재료 사업 편입</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830782201"/>
                  </a:ext>
                </a:extLst>
              </a:tr>
              <a:tr h="179066">
                <a:tc>
                  <a:txBody>
                    <a:bodyPr/>
                    <a:lstStyle/>
                    <a:p>
                      <a:pPr algn="ctr" latinLnBrk="1">
                        <a:buNone/>
                      </a:pPr>
                      <a:r>
                        <a:rPr lang="en-US" sz="800">
                          <a:effectLst/>
                        </a:rPr>
                        <a:t>2017</a:t>
                      </a:r>
                      <a:r>
                        <a:rPr lang="ko-KR" sz="800">
                          <a:effectLst/>
                        </a:rPr>
                        <a:t>년</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latinLnBrk="1">
                        <a:buNone/>
                      </a:pPr>
                      <a:r>
                        <a:rPr lang="ko-KR" sz="800">
                          <a:effectLst/>
                        </a:rPr>
                        <a:t>헝가리 괴드</a:t>
                      </a:r>
                      <a:r>
                        <a:rPr lang="en-US" sz="800">
                          <a:effectLst/>
                        </a:rPr>
                        <a:t>(Göd) </a:t>
                      </a:r>
                      <a:r>
                        <a:rPr lang="ko-KR" sz="800">
                          <a:effectLst/>
                        </a:rPr>
                        <a:t>전기차 배터리 공장 준공</a:t>
                      </a:r>
                      <a:r>
                        <a:rPr lang="en-US" sz="800">
                          <a:effectLst/>
                        </a:rPr>
                        <a:t> — </a:t>
                      </a:r>
                      <a:r>
                        <a:rPr lang="ko-KR" sz="800">
                          <a:effectLst/>
                        </a:rPr>
                        <a:t>유럽 거점 확보</a:t>
                      </a:r>
                      <a:endParaRPr lang="ko-KR" sz="8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493376160"/>
                  </a:ext>
                </a:extLst>
              </a:tr>
              <a:tr h="179066">
                <a:tc>
                  <a:txBody>
                    <a:bodyPr/>
                    <a:lstStyle/>
                    <a:p>
                      <a:pPr algn="ctr" latinLnBrk="1">
                        <a:buNone/>
                      </a:pPr>
                      <a:r>
                        <a:rPr lang="en-US" sz="800" dirty="0">
                          <a:effectLst/>
                        </a:rPr>
                        <a:t>2023</a:t>
                      </a:r>
                      <a:r>
                        <a:rPr lang="ko-KR" sz="800" dirty="0">
                          <a:effectLst/>
                        </a:rPr>
                        <a:t>년</a:t>
                      </a:r>
                      <a:endParaRPr lang="ko-KR" sz="8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latinLnBrk="1">
                        <a:buNone/>
                      </a:pPr>
                      <a:r>
                        <a:rPr lang="ko-KR" sz="800" dirty="0" err="1">
                          <a:effectLst/>
                        </a:rPr>
                        <a:t>전고체</a:t>
                      </a:r>
                      <a:r>
                        <a:rPr lang="ko-KR" sz="800" dirty="0">
                          <a:effectLst/>
                        </a:rPr>
                        <a:t> 배터리 파일럿 라인</a:t>
                      </a:r>
                      <a:r>
                        <a:rPr lang="en-US" sz="800" dirty="0">
                          <a:effectLst/>
                        </a:rPr>
                        <a:t> 'S-Line' </a:t>
                      </a:r>
                      <a:r>
                        <a:rPr lang="ko-KR" sz="800" dirty="0">
                          <a:effectLst/>
                        </a:rPr>
                        <a:t>준공</a:t>
                      </a:r>
                      <a:endParaRPr lang="ko-KR" sz="8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265499325"/>
                  </a:ext>
                </a:extLst>
              </a:tr>
            </a:tbl>
          </a:graphicData>
        </a:graphic>
      </p:graphicFrame>
      <p:sp>
        <p:nvSpPr>
          <p:cNvPr id="15" name="TextBox 14">
            <a:extLst>
              <a:ext uri="{FF2B5EF4-FFF2-40B4-BE49-F238E27FC236}">
                <a16:creationId xmlns:a16="http://schemas.microsoft.com/office/drawing/2014/main" id="{61CAFA8E-B8FF-5CE3-FEBE-CE7B02467851}"/>
              </a:ext>
            </a:extLst>
          </p:cNvPr>
          <p:cNvSpPr txBox="1"/>
          <p:nvPr/>
        </p:nvSpPr>
        <p:spPr>
          <a:xfrm>
            <a:off x="935869" y="4294445"/>
            <a:ext cx="3479048" cy="265329"/>
          </a:xfrm>
          <a:prstGeom prst="rect">
            <a:avLst/>
          </a:prstGeom>
          <a:noFill/>
        </p:spPr>
        <p:txBody>
          <a:bodyPr wrap="square">
            <a:spAutoFit/>
          </a:bodyPr>
          <a:lstStyle/>
          <a:p>
            <a:pPr>
              <a:lnSpc>
                <a:spcPct val="112000"/>
              </a:lnSpc>
              <a:spcBef>
                <a:spcPts val="0"/>
              </a:spcBef>
              <a:spcAft>
                <a:spcPts val="500"/>
              </a:spcAft>
            </a:pPr>
            <a:r>
              <a:rPr lang="en-US" altLang="ko-KR" sz="1050" b="1" dirty="0">
                <a:latin typeface="맑은 고딕" panose="020B0503020000020004" pitchFamily="50" charset="-127"/>
                <a:ea typeface="맑은 고딕" panose="020B0503020000020004" pitchFamily="50" charset="-127"/>
              </a:rPr>
              <a:t>2.1.</a:t>
            </a:r>
            <a:r>
              <a:rPr lang="en-US" altLang="ko-KR" sz="1050" b="1" i="0" dirty="0">
                <a:latin typeface="맑은 고딕" panose="020B0503020000020004" pitchFamily="50" charset="-127"/>
                <a:ea typeface="맑은 고딕" panose="020B0503020000020004" pitchFamily="50" charset="-127"/>
              </a:rPr>
              <a:t>3 </a:t>
            </a:r>
            <a:r>
              <a:rPr lang="ko-KR" altLang="en-US" sz="1050" b="1" dirty="0">
                <a:latin typeface="맑은 고딕" panose="020B0503020000020004" pitchFamily="50" charset="-127"/>
                <a:ea typeface="맑은 고딕" panose="020B0503020000020004" pitchFamily="50" charset="-127"/>
              </a:rPr>
              <a:t>지배구조</a:t>
            </a:r>
            <a:r>
              <a:rPr lang="ko-KR" altLang="en-US" sz="1050" b="1" i="0" dirty="0">
                <a:latin typeface="맑은 고딕" panose="020B0503020000020004" pitchFamily="50" charset="-127"/>
                <a:ea typeface="맑은 고딕" panose="020B0503020000020004" pitchFamily="50" charset="-127"/>
              </a:rPr>
              <a:t> </a:t>
            </a:r>
            <a:r>
              <a:rPr sz="800" dirty="0">
                <a:solidFill>
                  <a:srgbClr val="6B7785"/>
                </a:solidFill>
                <a:latin typeface="맑은 고딕"/>
              </a:rPr>
              <a:t>  [</a:t>
            </a:r>
            <a:r>
              <a:rPr sz="800" dirty="0" err="1">
                <a:solidFill>
                  <a:srgbClr val="6B7785"/>
                </a:solidFill>
                <a:latin typeface="맑은 고딕"/>
              </a:rPr>
              <a:t>자료</a:t>
            </a:r>
            <a:r>
              <a:rPr sz="800" dirty="0">
                <a:solidFill>
                  <a:srgbClr val="6B7785"/>
                </a:solidFill>
                <a:latin typeface="맑은 고딕"/>
              </a:rPr>
              <a:t> 10]</a:t>
            </a:r>
          </a:p>
        </p:txBody>
      </p:sp>
      <p:graphicFrame>
        <p:nvGraphicFramePr>
          <p:cNvPr id="32" name="표 31">
            <a:extLst>
              <a:ext uri="{FF2B5EF4-FFF2-40B4-BE49-F238E27FC236}">
                <a16:creationId xmlns:a16="http://schemas.microsoft.com/office/drawing/2014/main" id="{CB8E0571-D34D-2939-C8C5-DB800B52F5DC}"/>
              </a:ext>
            </a:extLst>
          </p:cNvPr>
          <p:cNvGraphicFramePr>
            <a:graphicFrameLocks noGrp="1"/>
          </p:cNvGraphicFramePr>
          <p:nvPr/>
        </p:nvGraphicFramePr>
        <p:xfrm>
          <a:off x="996341" y="4607960"/>
          <a:ext cx="5431467" cy="1996440"/>
        </p:xfrm>
        <a:graphic>
          <a:graphicData uri="http://schemas.openxmlformats.org/drawingml/2006/table">
            <a:tbl>
              <a:tblPr firstRow="1">
                <a:tableStyleId>{5C22544A-7EE6-4342-B048-85BDC9FD1C3A}</a:tableStyleId>
              </a:tblPr>
              <a:tblGrid>
                <a:gridCol w="1733447">
                  <a:extLst>
                    <a:ext uri="{9D8B030D-6E8A-4147-A177-3AD203B41FA5}">
                      <a16:colId xmlns:a16="http://schemas.microsoft.com/office/drawing/2014/main" val="3617803550"/>
                    </a:ext>
                  </a:extLst>
                </a:gridCol>
                <a:gridCol w="1097850">
                  <a:extLst>
                    <a:ext uri="{9D8B030D-6E8A-4147-A177-3AD203B41FA5}">
                      <a16:colId xmlns:a16="http://schemas.microsoft.com/office/drawing/2014/main" val="2551231644"/>
                    </a:ext>
                  </a:extLst>
                </a:gridCol>
                <a:gridCol w="1328976">
                  <a:extLst>
                    <a:ext uri="{9D8B030D-6E8A-4147-A177-3AD203B41FA5}">
                      <a16:colId xmlns:a16="http://schemas.microsoft.com/office/drawing/2014/main" val="2983876298"/>
                    </a:ext>
                  </a:extLst>
                </a:gridCol>
                <a:gridCol w="1271194">
                  <a:extLst>
                    <a:ext uri="{9D8B030D-6E8A-4147-A177-3AD203B41FA5}">
                      <a16:colId xmlns:a16="http://schemas.microsoft.com/office/drawing/2014/main" val="2408057019"/>
                    </a:ext>
                  </a:extLst>
                </a:gridCol>
              </a:tblGrid>
              <a:tr h="0">
                <a:tc>
                  <a:txBody>
                    <a:bodyPr/>
                    <a:lstStyle/>
                    <a:p>
                      <a:pPr algn="ctr" latinLnBrk="1">
                        <a:buNone/>
                      </a:pPr>
                      <a:r>
                        <a:rPr lang="ko-KR" sz="950" dirty="0">
                          <a:effectLst/>
                        </a:rPr>
                        <a:t>구분</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algn="ctr" latinLnBrk="1">
                        <a:buNone/>
                      </a:pPr>
                      <a:r>
                        <a:rPr lang="ko-KR" sz="950" dirty="0">
                          <a:effectLst/>
                        </a:rPr>
                        <a:t>비중</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algn="ctr" latinLnBrk="1">
                        <a:buNone/>
                      </a:pPr>
                      <a:r>
                        <a:rPr lang="ko-KR" sz="950" dirty="0">
                          <a:effectLst/>
                        </a:rPr>
                        <a:t>비고</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algn="ctr" latinLnBrk="1">
                        <a:buNone/>
                      </a:pPr>
                      <a:r>
                        <a:rPr lang="ko-KR" sz="950" dirty="0">
                          <a:effectLst/>
                        </a:rPr>
                        <a:t>분류</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extLst>
                  <a:ext uri="{0D108BD9-81ED-4DB2-BD59-A6C34878D82A}">
                    <a16:rowId xmlns:a16="http://schemas.microsoft.com/office/drawing/2014/main" val="1786713151"/>
                  </a:ext>
                </a:extLst>
              </a:tr>
              <a:tr h="0">
                <a:tc>
                  <a:txBody>
                    <a:bodyPr/>
                    <a:lstStyle/>
                    <a:p>
                      <a:pPr latinLnBrk="1">
                        <a:buNone/>
                      </a:pPr>
                      <a:r>
                        <a:rPr lang="ko-KR" sz="950" dirty="0">
                          <a:effectLst/>
                        </a:rPr>
                        <a:t>개인</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50">
                          <a:effectLst/>
                        </a:rPr>
                        <a:t>33.9%</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00">
                          <a:effectLst/>
                        </a:rPr>
                        <a:t>—</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00">
                          <a:effectLst/>
                        </a:rPr>
                        <a:t>소액주주</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252736418"/>
                  </a:ext>
                </a:extLst>
              </a:tr>
              <a:tr h="0">
                <a:tc>
                  <a:txBody>
                    <a:bodyPr/>
                    <a:lstStyle/>
                    <a:p>
                      <a:pPr latinLnBrk="1">
                        <a:buNone/>
                      </a:pPr>
                      <a:r>
                        <a:rPr lang="ko-KR" sz="950">
                          <a:effectLst/>
                        </a:rPr>
                        <a:t>외국인</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50">
                          <a:effectLst/>
                        </a:rPr>
                        <a:t>23.2%</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00" dirty="0">
                          <a:effectLst/>
                        </a:rPr>
                        <a:t>—</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00">
                          <a:effectLst/>
                        </a:rPr>
                        <a:t>외국인투자자</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737853818"/>
                  </a:ext>
                </a:extLst>
              </a:tr>
              <a:tr h="0">
                <a:tc>
                  <a:txBody>
                    <a:bodyPr/>
                    <a:lstStyle/>
                    <a:p>
                      <a:pPr latinLnBrk="1">
                        <a:buNone/>
                      </a:pPr>
                      <a:r>
                        <a:rPr lang="ko-KR" sz="950">
                          <a:effectLst/>
                        </a:rPr>
                        <a:t>최대주주</a:t>
                      </a:r>
                      <a:r>
                        <a:rPr lang="en-US" sz="950">
                          <a:effectLst/>
                        </a:rPr>
                        <a:t> (</a:t>
                      </a:r>
                      <a:r>
                        <a:rPr lang="ko-KR" sz="950">
                          <a:effectLst/>
                        </a:rPr>
                        <a:t>삼성전자</a:t>
                      </a:r>
                      <a:r>
                        <a:rPr lang="en-US" sz="950">
                          <a:effectLst/>
                        </a:rPr>
                        <a:t>)</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50">
                          <a:effectLst/>
                        </a:rPr>
                        <a:t>19.4%</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00">
                          <a:effectLst/>
                        </a:rPr>
                        <a:t>5% </a:t>
                      </a:r>
                      <a:r>
                        <a:rPr lang="ko-KR" sz="900">
                          <a:effectLst/>
                        </a:rPr>
                        <a:t>이상 주주</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00">
                          <a:effectLst/>
                        </a:rPr>
                        <a:t>계열사</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008226664"/>
                  </a:ext>
                </a:extLst>
              </a:tr>
              <a:tr h="0">
                <a:tc>
                  <a:txBody>
                    <a:bodyPr/>
                    <a:lstStyle/>
                    <a:p>
                      <a:pPr latinLnBrk="1">
                        <a:buNone/>
                      </a:pPr>
                      <a:r>
                        <a:rPr lang="ko-KR" sz="950">
                          <a:effectLst/>
                        </a:rPr>
                        <a:t>국민연금공단</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50">
                          <a:effectLst/>
                        </a:rPr>
                        <a:t>6.9%</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00">
                          <a:effectLst/>
                        </a:rPr>
                        <a:t>5% </a:t>
                      </a:r>
                      <a:r>
                        <a:rPr lang="ko-KR" sz="900">
                          <a:effectLst/>
                        </a:rPr>
                        <a:t>이상 주주</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00">
                          <a:effectLst/>
                        </a:rPr>
                        <a:t>기관투자자</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436711947"/>
                  </a:ext>
                </a:extLst>
              </a:tr>
              <a:tr h="0">
                <a:tc>
                  <a:txBody>
                    <a:bodyPr/>
                    <a:lstStyle/>
                    <a:p>
                      <a:pPr latinLnBrk="1">
                        <a:buNone/>
                      </a:pPr>
                      <a:r>
                        <a:rPr lang="ko-KR" sz="950">
                          <a:effectLst/>
                        </a:rPr>
                        <a:t>국내기관</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50">
                          <a:effectLst/>
                        </a:rPr>
                        <a:t>15.9%</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00">
                          <a:effectLst/>
                        </a:rPr>
                        <a:t>—</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00">
                          <a:effectLst/>
                        </a:rPr>
                        <a:t>기관투자자</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871582213"/>
                  </a:ext>
                </a:extLst>
              </a:tr>
              <a:tr h="0">
                <a:tc>
                  <a:txBody>
                    <a:bodyPr/>
                    <a:lstStyle/>
                    <a:p>
                      <a:pPr latinLnBrk="1">
                        <a:buNone/>
                      </a:pPr>
                      <a:r>
                        <a:rPr lang="ko-KR" sz="950">
                          <a:effectLst/>
                        </a:rPr>
                        <a:t>자사주</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50">
                          <a:effectLst/>
                        </a:rPr>
                        <a:t>4.1%</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00">
                          <a:effectLst/>
                        </a:rPr>
                        <a:t>—</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00">
                          <a:effectLst/>
                        </a:rPr>
                        <a:t>자기주식</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114736920"/>
                  </a:ext>
                </a:extLst>
              </a:tr>
              <a:tr h="0">
                <a:tc>
                  <a:txBody>
                    <a:bodyPr/>
                    <a:lstStyle/>
                    <a:p>
                      <a:pPr latinLnBrk="1">
                        <a:buNone/>
                      </a:pPr>
                      <a:r>
                        <a:rPr lang="ko-KR" sz="950" dirty="0">
                          <a:effectLst/>
                        </a:rPr>
                        <a:t>우리사주</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50">
                          <a:effectLst/>
                        </a:rPr>
                        <a:t>2.8%</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900">
                          <a:effectLst/>
                        </a:rPr>
                        <a:t>—</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00" dirty="0">
                          <a:effectLst/>
                        </a:rPr>
                        <a:t>임직원</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369634701"/>
                  </a:ext>
                </a:extLst>
              </a:tr>
            </a:tbl>
          </a:graphicData>
        </a:graphic>
      </p:graphicFrame>
      <p:sp>
        <p:nvSpPr>
          <p:cNvPr id="34" name="TextBox 33">
            <a:extLst>
              <a:ext uri="{FF2B5EF4-FFF2-40B4-BE49-F238E27FC236}">
                <a16:creationId xmlns:a16="http://schemas.microsoft.com/office/drawing/2014/main" id="{E744E59A-662A-401B-5EB7-A5B817F4006E}"/>
              </a:ext>
            </a:extLst>
          </p:cNvPr>
          <p:cNvSpPr txBox="1"/>
          <p:nvPr/>
        </p:nvSpPr>
        <p:spPr>
          <a:xfrm>
            <a:off x="935869" y="6654539"/>
            <a:ext cx="3429000" cy="265329"/>
          </a:xfrm>
          <a:prstGeom prst="rect">
            <a:avLst/>
          </a:prstGeom>
          <a:noFill/>
        </p:spPr>
        <p:txBody>
          <a:bodyPr wrap="square">
            <a:spAutoFit/>
          </a:bodyPr>
          <a:lstStyle/>
          <a:p>
            <a:pPr>
              <a:lnSpc>
                <a:spcPct val="112000"/>
              </a:lnSpc>
              <a:spcBef>
                <a:spcPts val="0"/>
              </a:spcBef>
              <a:spcAft>
                <a:spcPts val="500"/>
              </a:spcAft>
            </a:pPr>
            <a:r>
              <a:rPr lang="en-US" altLang="ko-KR" sz="1050" b="1" i="0" dirty="0">
                <a:latin typeface="맑은 고딕" panose="020B0503020000020004" pitchFamily="50" charset="-127"/>
                <a:ea typeface="맑은 고딕" panose="020B0503020000020004" pitchFamily="50" charset="-127"/>
              </a:rPr>
              <a:t>2.1.4 </a:t>
            </a:r>
            <a:r>
              <a:rPr lang="ko-KR" altLang="en-US" sz="1050" b="1" i="0" dirty="0">
                <a:latin typeface="맑은 고딕" panose="020B0503020000020004" pitchFamily="50" charset="-127"/>
                <a:ea typeface="맑은 고딕" panose="020B0503020000020004" pitchFamily="50" charset="-127"/>
              </a:rPr>
              <a:t>사업 포트폴리오 </a:t>
            </a:r>
          </a:p>
        </p:txBody>
      </p:sp>
      <p:sp>
        <p:nvSpPr>
          <p:cNvPr id="36" name="TextBox 35">
            <a:extLst>
              <a:ext uri="{FF2B5EF4-FFF2-40B4-BE49-F238E27FC236}">
                <a16:creationId xmlns:a16="http://schemas.microsoft.com/office/drawing/2014/main" id="{5F21EF4B-8569-A318-91F3-400F1E0D64BF}"/>
              </a:ext>
            </a:extLst>
          </p:cNvPr>
          <p:cNvSpPr txBox="1"/>
          <p:nvPr/>
        </p:nvSpPr>
        <p:spPr>
          <a:xfrm>
            <a:off x="935869" y="6964232"/>
            <a:ext cx="5190611" cy="2554545"/>
          </a:xfrm>
          <a:prstGeom prst="rect">
            <a:avLst/>
          </a:prstGeom>
          <a:noFill/>
        </p:spPr>
        <p:txBody>
          <a:bodyPr wrap="square">
            <a:spAutoFit/>
          </a:bodyPr>
          <a:lstStyle/>
          <a:p>
            <a:r>
              <a:rPr lang="ko-KR" altLang="ko-KR" sz="1000" b="1" dirty="0"/>
              <a:t>에너지솔루</a:t>
            </a:r>
            <a:r>
              <a:rPr lang="ko-KR" altLang="en-US" sz="1000" b="1" dirty="0"/>
              <a:t>션 </a:t>
            </a:r>
            <a:r>
              <a:rPr lang="en-US" altLang="ko-KR" sz="1000" b="1" dirty="0"/>
              <a:t>: </a:t>
            </a:r>
            <a:r>
              <a:rPr lang="ko-KR" altLang="ko-KR" sz="1000" dirty="0"/>
              <a:t> 소형전지와 </a:t>
            </a:r>
            <a:r>
              <a:rPr lang="ko-KR" altLang="ko-KR" sz="1000" dirty="0" err="1"/>
              <a:t>중·대형전지를</a:t>
            </a:r>
            <a:r>
              <a:rPr lang="ko-KR" altLang="ko-KR" sz="1000" dirty="0"/>
              <a:t> 기반으로 전기차(EV), 에너지저장장치(ESS), </a:t>
            </a:r>
            <a:r>
              <a:rPr lang="ko-KR" altLang="ko-KR" sz="1000" dirty="0" err="1"/>
              <a:t>IT기기</a:t>
            </a:r>
            <a:r>
              <a:rPr lang="ko-KR" altLang="ko-KR" sz="1000" dirty="0"/>
              <a:t>, 전동공구 등 다양한 전방 산업에 배터리를 공급한다. 이 사업부는 </a:t>
            </a:r>
            <a:r>
              <a:rPr lang="ko-KR" altLang="ko-KR" sz="1000" dirty="0" err="1"/>
              <a:t>삼성SDI의</a:t>
            </a:r>
            <a:r>
              <a:rPr lang="ko-KR" altLang="ko-KR" sz="1000" dirty="0"/>
              <a:t> 핵심 성장 동력이자 전체 매출의 대부분을 차지하는 주력 부문이다. 소형전지는 스마트폰, 노트북, 웨어러블 기기, 전동공구, </a:t>
            </a:r>
            <a:r>
              <a:rPr lang="ko-KR" altLang="ko-KR" sz="1000" dirty="0" err="1"/>
              <a:t>마이크로모빌리티</a:t>
            </a:r>
            <a:r>
              <a:rPr lang="ko-KR" altLang="ko-KR" sz="1000" dirty="0"/>
              <a:t> 등 상대적으로 경량화와 고출력이 중요한 제품군에 쓰인다. </a:t>
            </a:r>
            <a:r>
              <a:rPr lang="ko-KR" altLang="ko-KR" sz="1000" dirty="0" err="1"/>
              <a:t>중·대형전지는</a:t>
            </a:r>
            <a:r>
              <a:rPr lang="ko-KR" altLang="ko-KR" sz="1000" dirty="0"/>
              <a:t> 전기차용 배터리와 </a:t>
            </a:r>
            <a:r>
              <a:rPr lang="ko-KR" altLang="ko-KR" sz="1000" dirty="0" err="1"/>
              <a:t>ESS용</a:t>
            </a:r>
            <a:r>
              <a:rPr lang="ko-KR" altLang="ko-KR" sz="1000" dirty="0"/>
              <a:t> 배터리로 나뉘는</a:t>
            </a:r>
            <a:r>
              <a:rPr lang="ko-KR" altLang="en-US" sz="1000" dirty="0"/>
              <a:t>데</a:t>
            </a:r>
            <a:r>
              <a:rPr lang="ko-KR" altLang="ko-KR" sz="1000" dirty="0"/>
              <a:t> 전기차용 배터리는 </a:t>
            </a:r>
            <a:r>
              <a:rPr lang="ko-KR" altLang="ko-KR" sz="1000" dirty="0" err="1"/>
              <a:t>완성차</a:t>
            </a:r>
            <a:r>
              <a:rPr lang="ko-KR" altLang="ko-KR" sz="1000" dirty="0"/>
              <a:t> 업체의 전동화 전략과 직결되</a:t>
            </a:r>
            <a:r>
              <a:rPr lang="ko-KR" altLang="en-US" sz="1000" dirty="0"/>
              <a:t>고</a:t>
            </a:r>
            <a:r>
              <a:rPr lang="ko-KR" altLang="ko-KR" sz="1000" dirty="0"/>
              <a:t> </a:t>
            </a:r>
            <a:r>
              <a:rPr lang="ko-KR" altLang="ko-KR" sz="1000" dirty="0" err="1"/>
              <a:t>ESS용</a:t>
            </a:r>
            <a:r>
              <a:rPr lang="ko-KR" altLang="ko-KR" sz="1000" dirty="0"/>
              <a:t> 배터리는 </a:t>
            </a:r>
            <a:r>
              <a:rPr lang="ko-KR" altLang="ko-KR" sz="1000" dirty="0" err="1"/>
              <a:t>전력망</a:t>
            </a:r>
            <a:r>
              <a:rPr lang="ko-KR" altLang="ko-KR" sz="1000" dirty="0"/>
              <a:t> 안정화, 신재생에너지 연계, 데이터센터 백업 전원 수요와 연결된다. 최근에는 </a:t>
            </a:r>
            <a:r>
              <a:rPr lang="ko-KR" altLang="ko-KR" sz="1000" dirty="0" err="1"/>
              <a:t>ESS가</a:t>
            </a:r>
            <a:r>
              <a:rPr lang="ko-KR" altLang="ko-KR" sz="1000" dirty="0"/>
              <a:t> AI 데이터센터 확대와 미국 현지 생산 체제 강화와 맞물리며 존재감이 더 커지고 있다</a:t>
            </a:r>
            <a:r>
              <a:rPr lang="en-US" altLang="ko-KR" sz="1000" dirty="0"/>
              <a:t>.</a:t>
            </a:r>
            <a:r>
              <a:rPr lang="ko-KR" altLang="ko-KR" sz="1000" dirty="0"/>
              <a:t> </a:t>
            </a:r>
            <a:endParaRPr lang="en-US" altLang="ko-KR" sz="1000" dirty="0"/>
          </a:p>
          <a:p>
            <a:endParaRPr lang="en-US" altLang="ko-KR" sz="1000" b="1" dirty="0"/>
          </a:p>
          <a:p>
            <a:r>
              <a:rPr lang="ko-KR" altLang="ko-KR" sz="1000" b="1" dirty="0"/>
              <a:t>전자재료</a:t>
            </a:r>
            <a:r>
              <a:rPr lang="en-US" altLang="ko-KR" sz="1000" b="1" dirty="0"/>
              <a:t> : </a:t>
            </a:r>
            <a:r>
              <a:rPr lang="ko-KR" altLang="ko-KR" sz="1000" dirty="0"/>
              <a:t> 이 사업부는 반도체와 디스플레이 산업에 필요한 핵심 소재를 공급하며 </a:t>
            </a:r>
            <a:r>
              <a:rPr lang="ko-KR" altLang="ko-KR" sz="1000" dirty="0" err="1"/>
              <a:t>삼성SDI의</a:t>
            </a:r>
            <a:r>
              <a:rPr lang="ko-KR" altLang="ko-KR" sz="1000" dirty="0"/>
              <a:t> 또 다른 전략적 축을 이룬다. 구체적으로는 반도체 공정 소재, OLED 및 디스플레이 소재, 패키징 및 첨단 공정용 재료 등을 포함한다. 배터리 사업에 비해 매출 비중은 작지만 업황이 좋을 때는 안정적인 이익을 낼 수 있고 기술 진입장벽도 높은 편이라 포트폴리오 안정화에 중요한 역할을 한다.</a:t>
            </a:r>
            <a:r>
              <a:rPr lang="en-US" altLang="ko-KR" sz="1000" dirty="0"/>
              <a:t> </a:t>
            </a:r>
            <a:r>
              <a:rPr lang="ko-KR" altLang="ko-KR" sz="1000" dirty="0"/>
              <a:t>특히 반도체 소재는 AI 서버, HBM, 첨단 패키징 투자 </a:t>
            </a:r>
            <a:r>
              <a:rPr lang="ko-KR" altLang="ko-KR" sz="1000" dirty="0" err="1"/>
              <a:t>확대와도</a:t>
            </a:r>
            <a:r>
              <a:rPr lang="ko-KR" altLang="ko-KR" sz="1000" dirty="0"/>
              <a:t> 연결될 수 있어 중장기 성장 여력이 있다. 따라서 전자재료는 규모는 작지만 기술력을 바탕으로 높은 부가가치를 창출하는 사업</a:t>
            </a:r>
            <a:r>
              <a:rPr lang="ko-KR" altLang="en-US" sz="1000" dirty="0"/>
              <a:t>이다</a:t>
            </a:r>
            <a:r>
              <a:rPr lang="en-US" altLang="ko-KR" sz="1000" dirty="0"/>
              <a:t>. </a:t>
            </a:r>
            <a:endParaRPr lang="en-US" altLang="ko-KR" sz="1000" b="1" dirty="0">
              <a:solidFill>
                <a:srgbClr val="005EB8"/>
              </a:solidFill>
              <a:latin typeface="맑은 고딕" panose="020B0503020000020004" pitchFamily="50" charset="-127"/>
              <a:ea typeface="맑은 고딕" panose="020B0503020000020004" pitchFamily="50" charset="-127"/>
              <a:cs typeface="Pretendard Bold"/>
              <a:sym typeface="Pretendard Bold"/>
            </a:endParaRPr>
          </a:p>
        </p:txBody>
      </p:sp>
      <p:sp>
        <p:nvSpPr>
          <p:cNvPr id="37" name="TextBox 36"/>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149400"/>
          </a:xfrm>
          <a:prstGeom prst="rect">
            <a:avLst/>
          </a:prstGeom>
          <a:noFill/>
        </p:spPr>
        <p:txBody>
          <a:bodyPr wrap="square" lIns="0" tIns="0" rIns="0" bIns="0" anchor="t">
            <a:spAutoFit/>
          </a:bodyPr>
          <a:lstStyle/>
          <a:p>
            <a:pPr>
              <a:lnSpc>
                <a:spcPct val="112000"/>
              </a:lnSpc>
              <a:spcBef>
                <a:spcPts val="0"/>
              </a:spcBef>
              <a:spcAft>
                <a:spcPts val="500"/>
              </a:spcAft>
            </a:pPr>
            <a:r>
              <a:rPr lang="ko-KR" altLang="en-US" sz="950" b="1" dirty="0">
                <a:solidFill>
                  <a:srgbClr val="003A75"/>
                </a:solidFill>
                <a:latin typeface="Malgun Gothic"/>
              </a:rPr>
              <a:t>기업분석</a:t>
            </a:r>
            <a:endParaRPr sz="950" b="1" i="0" dirty="0">
              <a:solidFill>
                <a:srgbClr val="003A75"/>
              </a:solidFill>
              <a:latin typeface="Malgun Gothic"/>
            </a:endParaRP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2000"/>
              </a:lnSpc>
              <a:spcBef>
                <a:spcPts val="0"/>
              </a:spcBef>
              <a:spcAft>
                <a:spcPts val="500"/>
              </a:spcAft>
            </a:pPr>
            <a:r>
              <a:rPr sz="900" b="0" i="0">
                <a:solidFill>
                  <a:srgbClr val="6B7785"/>
                </a:solidFill>
                <a:latin typeface="Malgun Gothic"/>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맑은 고딕" panose="020B0503020000020004" pitchFamily="50" charset="-127"/>
              <a:ea typeface="맑은 고딕" panose="020B0503020000020004" pitchFamily="50" charset="-127"/>
            </a:endParaRPr>
          </a:p>
        </p:txBody>
      </p:sp>
      <p:sp>
        <p:nvSpPr>
          <p:cNvPr id="25" name="TextBox 24">
            <a:extLst>
              <a:ext uri="{FF2B5EF4-FFF2-40B4-BE49-F238E27FC236}">
                <a16:creationId xmlns:a16="http://schemas.microsoft.com/office/drawing/2014/main" id="{D58E335D-CC08-0963-EB70-8ED9D223D4F8}"/>
              </a:ext>
            </a:extLst>
          </p:cNvPr>
          <p:cNvSpPr txBox="1"/>
          <p:nvPr/>
        </p:nvSpPr>
        <p:spPr>
          <a:xfrm>
            <a:off x="711571" y="3017331"/>
            <a:ext cx="5277775" cy="221856"/>
          </a:xfrm>
          <a:prstGeom prst="rect">
            <a:avLst/>
          </a:prstGeom>
          <a:noFill/>
        </p:spPr>
        <p:txBody>
          <a:bodyPr wrap="square">
            <a:spAutoFit/>
          </a:bodyPr>
          <a:lstStyle/>
          <a:p>
            <a:pPr>
              <a:lnSpc>
                <a:spcPct val="112000"/>
              </a:lnSpc>
              <a:spcBef>
                <a:spcPts val="0"/>
              </a:spcBef>
              <a:spcAft>
                <a:spcPts val="0"/>
              </a:spcAft>
            </a:pPr>
            <a:r>
              <a:rPr lang="ko-KR" altLang="en-US" sz="800" i="1" dirty="0">
                <a:latin typeface="Malgun Gothic"/>
              </a:rPr>
              <a:t>출처: 삼성SDI 실적발표(2025), ICOK</a:t>
            </a:r>
            <a:endParaRPr lang="en-US" altLang="ko-KR" sz="800" b="0" i="1" dirty="0">
              <a:latin typeface="Malgun Gothic"/>
            </a:endParaRPr>
          </a:p>
        </p:txBody>
      </p:sp>
      <p:sp>
        <p:nvSpPr>
          <p:cNvPr id="11" name="TextBox 10">
            <a:extLst>
              <a:ext uri="{FF2B5EF4-FFF2-40B4-BE49-F238E27FC236}">
                <a16:creationId xmlns:a16="http://schemas.microsoft.com/office/drawing/2014/main" id="{FDC0488C-A249-B620-E61B-808861B45172}"/>
              </a:ext>
            </a:extLst>
          </p:cNvPr>
          <p:cNvSpPr txBox="1"/>
          <p:nvPr/>
        </p:nvSpPr>
        <p:spPr>
          <a:xfrm>
            <a:off x="711571" y="670977"/>
            <a:ext cx="4896034" cy="546303"/>
          </a:xfrm>
          <a:prstGeom prst="rect">
            <a:avLst/>
          </a:prstGeom>
          <a:noFill/>
        </p:spPr>
        <p:txBody>
          <a:bodyPr wrap="square">
            <a:spAutoFit/>
          </a:bodyPr>
          <a:lstStyle/>
          <a:p>
            <a:pPr algn="just">
              <a:lnSpc>
                <a:spcPts val="2093"/>
              </a:lnSpc>
            </a:pPr>
            <a:r>
              <a:rPr lang="en-US" altLang="ko-KR" sz="1100" b="1" dirty="0">
                <a:latin typeface="맑은 고딕" panose="020B0503020000020004" pitchFamily="50" charset="-127"/>
                <a:ea typeface="맑은 고딕" panose="020B0503020000020004" pitchFamily="50" charset="-127"/>
                <a:cs typeface="Pretendard Bold"/>
                <a:sym typeface="Pretendard Bold"/>
              </a:rPr>
              <a:t>2.2. </a:t>
            </a:r>
            <a:r>
              <a:rPr lang="ko-KR" altLang="en-US" sz="1100" b="1" dirty="0">
                <a:latin typeface="맑은 고딕" panose="020B0503020000020004" pitchFamily="50" charset="-127"/>
                <a:ea typeface="맑은 고딕" panose="020B0503020000020004" pitchFamily="50" charset="-127"/>
                <a:cs typeface="Pretendard Bold"/>
                <a:sym typeface="Pretendard Bold"/>
              </a:rPr>
              <a:t>사업개요 </a:t>
            </a:r>
            <a:r>
              <a:rPr lang="en-US" altLang="ko-KR" sz="1100" b="1" dirty="0">
                <a:latin typeface="맑은 고딕" panose="020B0503020000020004" pitchFamily="50" charset="-127"/>
                <a:ea typeface="맑은 고딕" panose="020B0503020000020004" pitchFamily="50" charset="-127"/>
                <a:cs typeface="Pretendard Bold"/>
                <a:sym typeface="Pretendard Bold"/>
              </a:rPr>
              <a:t>(EV, ESS, </a:t>
            </a:r>
            <a:r>
              <a:rPr lang="ko-KR" altLang="en-US" sz="1100" b="1" dirty="0">
                <a:latin typeface="맑은 고딕" panose="020B0503020000020004" pitchFamily="50" charset="-127"/>
                <a:ea typeface="맑은 고딕" panose="020B0503020000020004" pitchFamily="50" charset="-127"/>
                <a:cs typeface="Pretendard Bold"/>
                <a:sym typeface="Pretendard Bold"/>
              </a:rPr>
              <a:t>전자재료</a:t>
            </a:r>
            <a:r>
              <a:rPr lang="en-US" altLang="ko-KR" sz="1100" b="1" dirty="0">
                <a:latin typeface="맑은 고딕" panose="020B0503020000020004" pitchFamily="50" charset="-127"/>
                <a:ea typeface="맑은 고딕" panose="020B0503020000020004" pitchFamily="50" charset="-127"/>
                <a:cs typeface="Pretendard Bold"/>
                <a:sym typeface="Pretendard Bold"/>
              </a:rPr>
              <a:t>)</a:t>
            </a:r>
            <a:endParaRPr lang="en" altLang="ko-KR" sz="1100" b="1" dirty="0">
              <a:latin typeface="맑은 고딕" panose="020B0503020000020004" pitchFamily="50" charset="-127"/>
              <a:ea typeface="맑은 고딕" panose="020B0503020000020004" pitchFamily="50" charset="-127"/>
              <a:cs typeface="Pretendard Bold"/>
              <a:sym typeface="Pretendard Bold"/>
            </a:endParaRPr>
          </a:p>
          <a:p>
            <a:endParaRPr lang="en-US" altLang="ko-KR" sz="1100" b="1" dirty="0">
              <a:latin typeface="맑은 고딕" panose="020B0503020000020004" pitchFamily="50" charset="-127"/>
              <a:ea typeface="맑은 고딕" panose="020B0503020000020004" pitchFamily="50" charset="-127"/>
              <a:cs typeface="Pretendard Bold"/>
              <a:sym typeface="Pretendard Bold"/>
            </a:endParaRPr>
          </a:p>
        </p:txBody>
      </p:sp>
      <p:sp>
        <p:nvSpPr>
          <p:cNvPr id="17" name="TextBox 16">
            <a:extLst>
              <a:ext uri="{FF2B5EF4-FFF2-40B4-BE49-F238E27FC236}">
                <a16:creationId xmlns:a16="http://schemas.microsoft.com/office/drawing/2014/main" id="{B0DF5207-AC89-6ADB-9664-F5FBE4336B7C}"/>
              </a:ext>
            </a:extLst>
          </p:cNvPr>
          <p:cNvSpPr txBox="1"/>
          <p:nvPr/>
        </p:nvSpPr>
        <p:spPr>
          <a:xfrm>
            <a:off x="724470" y="1064178"/>
            <a:ext cx="3429000" cy="519053"/>
          </a:xfrm>
          <a:prstGeom prst="rect">
            <a:avLst/>
          </a:prstGeom>
          <a:noFill/>
        </p:spPr>
        <p:txBody>
          <a:bodyPr wrap="square">
            <a:spAutoFit/>
          </a:bodyPr>
          <a:lstStyle/>
          <a:p>
            <a:pPr>
              <a:lnSpc>
                <a:spcPct val="112000"/>
              </a:lnSpc>
              <a:spcAft>
                <a:spcPts val="500"/>
              </a:spcAft>
            </a:pPr>
            <a:r>
              <a:rPr lang="en-US" altLang="ko-KR" sz="1050" b="1" dirty="0">
                <a:latin typeface="맑은 고딕" panose="020B0503020000020004" pitchFamily="50" charset="-127"/>
              </a:rPr>
              <a:t>2.2.1</a:t>
            </a:r>
            <a:r>
              <a:rPr lang="ko-KR" altLang="en-US" sz="1050" b="1" dirty="0">
                <a:latin typeface="맑은 고딕" panose="020B0503020000020004" pitchFamily="50" charset="-127"/>
              </a:rPr>
              <a:t>  </a:t>
            </a:r>
            <a:r>
              <a:rPr lang="en-US" altLang="ko-KR" sz="1050" b="1" dirty="0">
                <a:latin typeface="맑은 고딕" panose="020B0503020000020004" pitchFamily="50" charset="-127"/>
              </a:rPr>
              <a:t>2025</a:t>
            </a:r>
            <a:r>
              <a:rPr lang="ko-KR" altLang="en-US" sz="1050" b="1" dirty="0">
                <a:latin typeface="맑은 고딕" panose="020B0503020000020004" pitchFamily="50" charset="-127"/>
              </a:rPr>
              <a:t>년 연간 매출   </a:t>
            </a:r>
            <a:r>
              <a:rPr lang="en-US" altLang="ko-KR" sz="1050" dirty="0">
                <a:solidFill>
                  <a:srgbClr val="6B7785"/>
                </a:solidFill>
                <a:latin typeface="맑은 고딕"/>
              </a:rPr>
              <a:t>[</a:t>
            </a:r>
            <a:r>
              <a:rPr lang="ko-KR" altLang="en-US" sz="1050" dirty="0">
                <a:solidFill>
                  <a:srgbClr val="6B7785"/>
                </a:solidFill>
                <a:latin typeface="맑은 고딕"/>
              </a:rPr>
              <a:t>자료 </a:t>
            </a:r>
            <a:r>
              <a:rPr lang="en-US" altLang="ko-KR" sz="1050" dirty="0">
                <a:solidFill>
                  <a:srgbClr val="6B7785"/>
                </a:solidFill>
                <a:latin typeface="맑은 고딕"/>
              </a:rPr>
              <a:t>11]</a:t>
            </a:r>
            <a:endParaRPr lang="ko-KR" altLang="en-US" sz="1400" b="1" dirty="0">
              <a:latin typeface="맑은 고딕" panose="020B0503020000020004" pitchFamily="50" charset="-127"/>
            </a:endParaRPr>
          </a:p>
          <a:p>
            <a:pPr>
              <a:lnSpc>
                <a:spcPct val="112000"/>
              </a:lnSpc>
              <a:spcBef>
                <a:spcPts val="0"/>
              </a:spcBef>
              <a:spcAft>
                <a:spcPts val="500"/>
              </a:spcAft>
            </a:pPr>
            <a:endParaRPr lang="ko-KR" altLang="en-US" sz="1050" b="1" dirty="0">
              <a:latin typeface="맑은 고딕" panose="020B0503020000020004" pitchFamily="50" charset="-127"/>
            </a:endParaRPr>
          </a:p>
        </p:txBody>
      </p:sp>
      <p:graphicFrame>
        <p:nvGraphicFramePr>
          <p:cNvPr id="19" name="표 18">
            <a:extLst>
              <a:ext uri="{FF2B5EF4-FFF2-40B4-BE49-F238E27FC236}">
                <a16:creationId xmlns:a16="http://schemas.microsoft.com/office/drawing/2014/main" id="{03125BBD-6C06-2251-A562-77BE24DC366B}"/>
              </a:ext>
            </a:extLst>
          </p:cNvPr>
          <p:cNvGraphicFramePr>
            <a:graphicFrameLocks noGrp="1"/>
          </p:cNvGraphicFramePr>
          <p:nvPr/>
        </p:nvGraphicFramePr>
        <p:xfrm>
          <a:off x="815143" y="1360529"/>
          <a:ext cx="5585657" cy="1651000"/>
        </p:xfrm>
        <a:graphic>
          <a:graphicData uri="http://schemas.openxmlformats.org/drawingml/2006/table">
            <a:tbl>
              <a:tblPr firstRow="1" firstCol="1" bandRow="1">
                <a:tableStyleId>{5C22544A-7EE6-4342-B048-85BDC9FD1C3A}</a:tableStyleId>
              </a:tblPr>
              <a:tblGrid>
                <a:gridCol w="1901500">
                  <a:extLst>
                    <a:ext uri="{9D8B030D-6E8A-4147-A177-3AD203B41FA5}">
                      <a16:colId xmlns:a16="http://schemas.microsoft.com/office/drawing/2014/main" val="1241817522"/>
                    </a:ext>
                  </a:extLst>
                </a:gridCol>
                <a:gridCol w="1663813">
                  <a:extLst>
                    <a:ext uri="{9D8B030D-6E8A-4147-A177-3AD203B41FA5}">
                      <a16:colId xmlns:a16="http://schemas.microsoft.com/office/drawing/2014/main" val="1244869810"/>
                    </a:ext>
                  </a:extLst>
                </a:gridCol>
                <a:gridCol w="1544969">
                  <a:extLst>
                    <a:ext uri="{9D8B030D-6E8A-4147-A177-3AD203B41FA5}">
                      <a16:colId xmlns:a16="http://schemas.microsoft.com/office/drawing/2014/main" val="357452817"/>
                    </a:ext>
                  </a:extLst>
                </a:gridCol>
                <a:gridCol w="475375">
                  <a:extLst>
                    <a:ext uri="{9D8B030D-6E8A-4147-A177-3AD203B41FA5}">
                      <a16:colId xmlns:a16="http://schemas.microsoft.com/office/drawing/2014/main" val="3940317659"/>
                    </a:ext>
                  </a:extLst>
                </a:gridCol>
              </a:tblGrid>
              <a:tr h="0">
                <a:tc>
                  <a:txBody>
                    <a:bodyPr/>
                    <a:lstStyle/>
                    <a:p>
                      <a:pPr algn="ctr" latinLnBrk="1">
                        <a:buNone/>
                      </a:pPr>
                      <a:r>
                        <a:rPr lang="ko-KR" sz="1000" dirty="0">
                          <a:effectLst/>
                        </a:rPr>
                        <a:t>사업부문</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algn="ctr" latinLnBrk="1">
                        <a:buNone/>
                      </a:pPr>
                      <a:r>
                        <a:rPr lang="ko-KR" sz="1000">
                          <a:effectLst/>
                        </a:rPr>
                        <a:t>매출액</a:t>
                      </a:r>
                      <a:endParaRPr lang="ko-KR" sz="10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algn="ctr" latinLnBrk="1">
                        <a:buNone/>
                      </a:pPr>
                      <a:r>
                        <a:rPr lang="ko-KR" sz="1000">
                          <a:effectLst/>
                        </a:rPr>
                        <a:t>매출 비중</a:t>
                      </a:r>
                      <a:endParaRPr lang="ko-KR" sz="10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algn="ctr" latinLnBrk="1">
                        <a:buNone/>
                      </a:pPr>
                      <a:r>
                        <a:rPr lang="ko-KR" sz="1000">
                          <a:effectLst/>
                        </a:rPr>
                        <a:t>비고</a:t>
                      </a:r>
                      <a:endParaRPr lang="ko-KR" sz="10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extLst>
                  <a:ext uri="{0D108BD9-81ED-4DB2-BD59-A6C34878D82A}">
                    <a16:rowId xmlns:a16="http://schemas.microsoft.com/office/drawing/2014/main" val="3648640693"/>
                  </a:ext>
                </a:extLst>
              </a:tr>
              <a:tr h="0">
                <a:tc>
                  <a:txBody>
                    <a:bodyPr/>
                    <a:lstStyle/>
                    <a:p>
                      <a:pPr latinLnBrk="1">
                        <a:buNone/>
                      </a:pPr>
                      <a:r>
                        <a:rPr lang="ko-KR" sz="1000" dirty="0">
                          <a:effectLst/>
                        </a:rPr>
                        <a:t>배터리</a:t>
                      </a:r>
                      <a:r>
                        <a:rPr lang="en-US" sz="1000" dirty="0">
                          <a:effectLst/>
                        </a:rPr>
                        <a:t> (</a:t>
                      </a:r>
                      <a:r>
                        <a:rPr lang="ko-KR" sz="1000" dirty="0">
                          <a:effectLst/>
                        </a:rPr>
                        <a:t>에너지솔루션</a:t>
                      </a:r>
                      <a:r>
                        <a:rPr lang="en-US" sz="1000" dirty="0">
                          <a:effectLst/>
                        </a:rPr>
                        <a:t>)</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altLang="ko-KR" sz="1000" dirty="0"/>
                        <a:t>12조 1,799</a:t>
                      </a:r>
                      <a:r>
                        <a:rPr lang="ko-KR" sz="1000" dirty="0">
                          <a:effectLst/>
                        </a:rPr>
                        <a:t>억원</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altLang="en-US" sz="1000" dirty="0">
                          <a:effectLst/>
                        </a:rPr>
                        <a:t>약 </a:t>
                      </a:r>
                      <a:r>
                        <a:rPr lang="en-US" sz="1000" dirty="0">
                          <a:effectLst/>
                        </a:rPr>
                        <a:t>93%</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1000">
                          <a:effectLst/>
                        </a:rPr>
                        <a:t>핵심 사업부</a:t>
                      </a:r>
                      <a:endParaRPr lang="ko-KR" sz="10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255077832"/>
                  </a:ext>
                </a:extLst>
              </a:tr>
              <a:tr h="0">
                <a:tc>
                  <a:txBody>
                    <a:bodyPr/>
                    <a:lstStyle/>
                    <a:p>
                      <a:pPr latinLnBrk="1">
                        <a:buNone/>
                      </a:pPr>
                      <a:r>
                        <a:rPr lang="ko-KR" sz="1000">
                          <a:effectLst/>
                        </a:rPr>
                        <a:t>전자재료</a:t>
                      </a:r>
                      <a:endParaRPr lang="ko-KR" sz="10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altLang="ko-KR" sz="1000" dirty="0"/>
                        <a:t>약 8,826</a:t>
                      </a:r>
                      <a:r>
                        <a:rPr lang="ko-KR" sz="1000" dirty="0">
                          <a:effectLst/>
                        </a:rPr>
                        <a:t>억원</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altLang="en-US" sz="1000" dirty="0">
                          <a:effectLst/>
                        </a:rPr>
                        <a:t>약 </a:t>
                      </a:r>
                      <a:r>
                        <a:rPr lang="en-US" sz="1000" dirty="0">
                          <a:effectLst/>
                        </a:rPr>
                        <a:t>6.7%</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1000">
                          <a:effectLst/>
                        </a:rPr>
                        <a:t>소재 사업부</a:t>
                      </a:r>
                      <a:endParaRPr lang="ko-KR" sz="10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377718264"/>
                  </a:ext>
                </a:extLst>
              </a:tr>
              <a:tr h="0">
                <a:tc>
                  <a:txBody>
                    <a:bodyPr/>
                    <a:lstStyle/>
                    <a:p>
                      <a:pPr latinLnBrk="1">
                        <a:buNone/>
                      </a:pPr>
                      <a:r>
                        <a:rPr lang="ko-KR" sz="1000" dirty="0">
                          <a:effectLst/>
                        </a:rPr>
                        <a:t>합계</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altLang="en-US" sz="1000" dirty="0"/>
                        <a:t>약 </a:t>
                      </a:r>
                      <a:r>
                        <a:rPr lang="ko-KR" altLang="ko-KR" sz="1000" dirty="0"/>
                        <a:t>13조 2,667억원</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1000" dirty="0">
                          <a:effectLst/>
                        </a:rPr>
                        <a:t>100%</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en-US" sz="1000" dirty="0">
                          <a:effectLst/>
                        </a:rPr>
                        <a:t>—</a:t>
                      </a:r>
                      <a:endParaRPr lang="ko-KR" sz="10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2155851342"/>
                  </a:ext>
                </a:extLst>
              </a:tr>
            </a:tbl>
          </a:graphicData>
        </a:graphic>
      </p:graphicFrame>
      <p:sp>
        <p:nvSpPr>
          <p:cNvPr id="39" name="TextBox 38">
            <a:extLst>
              <a:ext uri="{FF2B5EF4-FFF2-40B4-BE49-F238E27FC236}">
                <a16:creationId xmlns:a16="http://schemas.microsoft.com/office/drawing/2014/main" id="{9E9E55BE-5BB4-FFBE-979C-CA62AB96FAA9}"/>
              </a:ext>
            </a:extLst>
          </p:cNvPr>
          <p:cNvSpPr txBox="1"/>
          <p:nvPr/>
        </p:nvSpPr>
        <p:spPr>
          <a:xfrm>
            <a:off x="815143" y="3374813"/>
            <a:ext cx="5943600" cy="166136"/>
          </a:xfrm>
          <a:prstGeom prst="rect">
            <a:avLst/>
          </a:prstGeom>
          <a:noFill/>
        </p:spPr>
        <p:txBody>
          <a:bodyPr wrap="square" lIns="0" tIns="0" rIns="0" bIns="0" anchor="t">
            <a:spAutoFit/>
          </a:bodyPr>
          <a:lstStyle/>
          <a:p>
            <a:pPr>
              <a:lnSpc>
                <a:spcPct val="112000"/>
              </a:lnSpc>
              <a:spcBef>
                <a:spcPts val="0"/>
              </a:spcBef>
              <a:spcAft>
                <a:spcPts val="500"/>
              </a:spcAft>
            </a:pPr>
            <a:r>
              <a:rPr lang="en-US" sz="1050" b="1" i="0" dirty="0">
                <a:latin typeface="+mj-ea"/>
                <a:ea typeface="+mj-ea"/>
              </a:rPr>
              <a:t>2.2.2  </a:t>
            </a:r>
            <a:r>
              <a:rPr lang="ko-KR" altLang="en-US" sz="1050" b="1" i="0" dirty="0">
                <a:latin typeface="+mj-ea"/>
                <a:ea typeface="+mj-ea"/>
              </a:rPr>
              <a:t>세부 매출 비중</a:t>
            </a:r>
            <a:r>
              <a:rPr sz="800">
                <a:solidFill>
                  <a:srgbClr val="6B7785"/>
                </a:solidFill>
                <a:latin typeface="맑은 고딕"/>
              </a:rPr>
              <a:t>  [자료 12]</a:t>
            </a:r>
            <a:endParaRPr sz="1050" b="1" i="0" dirty="0">
              <a:latin typeface="+mj-ea"/>
              <a:ea typeface="+mj-ea"/>
            </a:endParaRPr>
          </a:p>
        </p:txBody>
      </p:sp>
      <p:graphicFrame>
        <p:nvGraphicFramePr>
          <p:cNvPr id="41" name="표 40">
            <a:extLst>
              <a:ext uri="{FF2B5EF4-FFF2-40B4-BE49-F238E27FC236}">
                <a16:creationId xmlns:a16="http://schemas.microsoft.com/office/drawing/2014/main" id="{128C09C2-9B2D-A1DA-9276-491C37429D3E}"/>
              </a:ext>
            </a:extLst>
          </p:cNvPr>
          <p:cNvGraphicFramePr>
            <a:graphicFrameLocks noGrp="1"/>
          </p:cNvGraphicFramePr>
          <p:nvPr/>
        </p:nvGraphicFramePr>
        <p:xfrm>
          <a:off x="815143" y="3608302"/>
          <a:ext cx="3003533" cy="1503680"/>
        </p:xfrm>
        <a:graphic>
          <a:graphicData uri="http://schemas.openxmlformats.org/drawingml/2006/table">
            <a:tbl>
              <a:tblPr firstRow="1">
                <a:tableStyleId>{5C22544A-7EE6-4342-B048-85BDC9FD1C3A}</a:tableStyleId>
              </a:tblPr>
              <a:tblGrid>
                <a:gridCol w="1212850">
                  <a:extLst>
                    <a:ext uri="{9D8B030D-6E8A-4147-A177-3AD203B41FA5}">
                      <a16:colId xmlns:a16="http://schemas.microsoft.com/office/drawing/2014/main" val="3500756366"/>
                    </a:ext>
                  </a:extLst>
                </a:gridCol>
                <a:gridCol w="1790683">
                  <a:extLst>
                    <a:ext uri="{9D8B030D-6E8A-4147-A177-3AD203B41FA5}">
                      <a16:colId xmlns:a16="http://schemas.microsoft.com/office/drawing/2014/main" val="209183808"/>
                    </a:ext>
                  </a:extLst>
                </a:gridCol>
              </a:tblGrid>
              <a:tr h="0">
                <a:tc>
                  <a:txBody>
                    <a:bodyPr/>
                    <a:lstStyle/>
                    <a:p>
                      <a:pPr algn="ctr" latinLnBrk="1">
                        <a:buNone/>
                      </a:pPr>
                      <a:r>
                        <a:rPr lang="ko-KR" sz="950" dirty="0">
                          <a:effectLst/>
                        </a:rPr>
                        <a:t>부문</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tc>
                  <a:txBody>
                    <a:bodyPr/>
                    <a:lstStyle/>
                    <a:p>
                      <a:pPr algn="ctr" latinLnBrk="1">
                        <a:buNone/>
                      </a:pPr>
                      <a:r>
                        <a:rPr lang="ko-KR" sz="950" dirty="0">
                          <a:effectLst/>
                        </a:rPr>
                        <a:t>전체 매출 비중</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63500" marB="63500" anchor="ctr"/>
                </a:tc>
                <a:extLst>
                  <a:ext uri="{0D108BD9-81ED-4DB2-BD59-A6C34878D82A}">
                    <a16:rowId xmlns:a16="http://schemas.microsoft.com/office/drawing/2014/main" val="3679131086"/>
                  </a:ext>
                </a:extLst>
              </a:tr>
              <a:tr h="0">
                <a:tc>
                  <a:txBody>
                    <a:bodyPr/>
                    <a:lstStyle/>
                    <a:p>
                      <a:pPr latinLnBrk="1">
                        <a:buNone/>
                      </a:pPr>
                      <a:r>
                        <a:rPr lang="en-US" sz="950">
                          <a:effectLst/>
                        </a:rPr>
                        <a:t>EV </a:t>
                      </a:r>
                      <a:r>
                        <a:rPr lang="ko-KR" sz="950">
                          <a:effectLst/>
                        </a:rPr>
                        <a:t>배터리</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altLang="en-US" sz="950" dirty="0">
                          <a:effectLst/>
                          <a:latin typeface="맑은 고딕" panose="020B0503020000020004" pitchFamily="50" charset="-127"/>
                          <a:ea typeface="맑은 고딕" panose="020B0503020000020004" pitchFamily="50" charset="-127"/>
                          <a:cs typeface="맑은 고딕" panose="020B0503020000020004" pitchFamily="50" charset="-127"/>
                        </a:rPr>
                        <a:t>약 </a:t>
                      </a:r>
                      <a:r>
                        <a:rPr lang="en-US" altLang="ko-KR" sz="950" dirty="0">
                          <a:effectLst/>
                          <a:latin typeface="맑은 고딕" panose="020B0503020000020004" pitchFamily="50" charset="-127"/>
                          <a:ea typeface="맑은 고딕" panose="020B0503020000020004" pitchFamily="50" charset="-127"/>
                          <a:cs typeface="맑은 고딕" panose="020B0503020000020004" pitchFamily="50" charset="-127"/>
                        </a:rPr>
                        <a:t>41%</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280420794"/>
                  </a:ext>
                </a:extLst>
              </a:tr>
              <a:tr h="0">
                <a:tc>
                  <a:txBody>
                    <a:bodyPr/>
                    <a:lstStyle/>
                    <a:p>
                      <a:pPr latinLnBrk="1">
                        <a:buNone/>
                      </a:pPr>
                      <a:r>
                        <a:rPr lang="en-US" sz="950">
                          <a:effectLst/>
                        </a:rPr>
                        <a:t>ESS </a:t>
                      </a:r>
                      <a:r>
                        <a:rPr lang="ko-KR" sz="950">
                          <a:effectLst/>
                        </a:rPr>
                        <a:t>배터리</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altLang="en-US" sz="950" dirty="0">
                          <a:effectLst/>
                        </a:rPr>
                        <a:t>약 </a:t>
                      </a:r>
                      <a:r>
                        <a:rPr lang="en-US" altLang="ko-KR" sz="950" dirty="0">
                          <a:effectLst/>
                        </a:rPr>
                        <a:t>22%</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1531084626"/>
                  </a:ext>
                </a:extLst>
              </a:tr>
              <a:tr h="0">
                <a:tc>
                  <a:txBody>
                    <a:bodyPr/>
                    <a:lstStyle/>
                    <a:p>
                      <a:pPr latinLnBrk="1">
                        <a:buNone/>
                      </a:pPr>
                      <a:r>
                        <a:rPr lang="ko-KR" sz="950">
                          <a:effectLst/>
                        </a:rPr>
                        <a:t>소형전지</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50" dirty="0">
                          <a:effectLst/>
                        </a:rPr>
                        <a:t>약</a:t>
                      </a:r>
                      <a:r>
                        <a:rPr lang="en-US" sz="950" dirty="0">
                          <a:effectLst/>
                        </a:rPr>
                        <a:t> 30%</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659386668"/>
                  </a:ext>
                </a:extLst>
              </a:tr>
              <a:tr h="0">
                <a:tc>
                  <a:txBody>
                    <a:bodyPr/>
                    <a:lstStyle/>
                    <a:p>
                      <a:pPr latinLnBrk="1">
                        <a:buNone/>
                      </a:pPr>
                      <a:r>
                        <a:rPr lang="ko-KR" sz="950">
                          <a:effectLst/>
                        </a:rPr>
                        <a:t>에너지솔루션 소계</a:t>
                      </a:r>
                      <a:endParaRPr lang="ko-KR" sz="110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50" dirty="0">
                          <a:effectLst/>
                        </a:rPr>
                        <a:t>전체 매출 약</a:t>
                      </a:r>
                      <a:r>
                        <a:rPr lang="en-US" sz="950" dirty="0">
                          <a:effectLst/>
                        </a:rPr>
                        <a:t> 93%</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3572633112"/>
                  </a:ext>
                </a:extLst>
              </a:tr>
              <a:tr h="0">
                <a:tc>
                  <a:txBody>
                    <a:bodyPr/>
                    <a:lstStyle/>
                    <a:p>
                      <a:pPr latinLnBrk="1">
                        <a:buNone/>
                      </a:pPr>
                      <a:r>
                        <a:rPr lang="ko-KR" sz="950" dirty="0">
                          <a:effectLst/>
                        </a:rPr>
                        <a:t>전자재료</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tc>
                  <a:txBody>
                    <a:bodyPr/>
                    <a:lstStyle/>
                    <a:p>
                      <a:pPr algn="ctr" latinLnBrk="1">
                        <a:buNone/>
                      </a:pPr>
                      <a:r>
                        <a:rPr lang="ko-KR" sz="950" dirty="0">
                          <a:effectLst/>
                        </a:rPr>
                        <a:t>전체 매출 약</a:t>
                      </a:r>
                      <a:r>
                        <a:rPr lang="en-US" sz="950" dirty="0">
                          <a:effectLst/>
                        </a:rPr>
                        <a:t> 6.7%</a:t>
                      </a:r>
                      <a:endParaRPr lang="ko-KR" sz="1100" dirty="0">
                        <a:effectLst/>
                        <a:latin typeface="맑은 고딕" panose="020B0503020000020004" pitchFamily="50" charset="-127"/>
                        <a:ea typeface="맑은 고딕" panose="020B0503020000020004" pitchFamily="50" charset="-127"/>
                        <a:cs typeface="맑은 고딕" panose="020B0503020000020004" pitchFamily="50" charset="-127"/>
                      </a:endParaRPr>
                    </a:p>
                  </a:txBody>
                  <a:tcPr marL="88900" marR="88900" marT="50800" marB="50800" anchor="ctr"/>
                </a:tc>
                <a:extLst>
                  <a:ext uri="{0D108BD9-81ED-4DB2-BD59-A6C34878D82A}">
                    <a16:rowId xmlns:a16="http://schemas.microsoft.com/office/drawing/2014/main" val="2795529401"/>
                  </a:ext>
                </a:extLst>
              </a:tr>
            </a:tbl>
          </a:graphicData>
        </a:graphic>
      </p:graphicFrame>
      <p:sp>
        <p:nvSpPr>
          <p:cNvPr id="43" name="TextBox 42">
            <a:extLst>
              <a:ext uri="{FF2B5EF4-FFF2-40B4-BE49-F238E27FC236}">
                <a16:creationId xmlns:a16="http://schemas.microsoft.com/office/drawing/2014/main" id="{52159407-B365-3A92-76A3-675F0FEE7DA7}"/>
              </a:ext>
            </a:extLst>
          </p:cNvPr>
          <p:cNvSpPr txBox="1"/>
          <p:nvPr/>
        </p:nvSpPr>
        <p:spPr>
          <a:xfrm>
            <a:off x="752699" y="5147720"/>
            <a:ext cx="5277775" cy="221856"/>
          </a:xfrm>
          <a:prstGeom prst="rect">
            <a:avLst/>
          </a:prstGeom>
          <a:noFill/>
        </p:spPr>
        <p:txBody>
          <a:bodyPr wrap="square">
            <a:spAutoFit/>
          </a:bodyPr>
          <a:lstStyle/>
          <a:p>
            <a:pPr>
              <a:lnSpc>
                <a:spcPct val="112000"/>
              </a:lnSpc>
              <a:spcBef>
                <a:spcPts val="0"/>
              </a:spcBef>
              <a:spcAft>
                <a:spcPts val="0"/>
              </a:spcAft>
            </a:pPr>
            <a:r>
              <a:rPr lang="ko-KR" altLang="en-US" sz="800" i="1" dirty="0">
                <a:latin typeface="Malgun Gothic"/>
              </a:rPr>
              <a:t>출처: 증권사 리서치, ICOK</a:t>
            </a:r>
            <a:endParaRPr lang="en-US" altLang="ko-KR" sz="800" b="0" i="1" dirty="0">
              <a:latin typeface="Malgun Gothic"/>
            </a:endParaRPr>
          </a:p>
        </p:txBody>
      </p:sp>
      <p:sp>
        <p:nvSpPr>
          <p:cNvPr id="45" name="TextBox 44">
            <a:extLst>
              <a:ext uri="{FF2B5EF4-FFF2-40B4-BE49-F238E27FC236}">
                <a16:creationId xmlns:a16="http://schemas.microsoft.com/office/drawing/2014/main" id="{724322AC-80C8-456B-286E-80CD965A916C}"/>
              </a:ext>
            </a:extLst>
          </p:cNvPr>
          <p:cNvSpPr txBox="1"/>
          <p:nvPr/>
        </p:nvSpPr>
        <p:spPr>
          <a:xfrm>
            <a:off x="815143" y="5455417"/>
            <a:ext cx="5943600" cy="166136"/>
          </a:xfrm>
          <a:prstGeom prst="rect">
            <a:avLst/>
          </a:prstGeom>
          <a:noFill/>
        </p:spPr>
        <p:txBody>
          <a:bodyPr wrap="square" lIns="0" tIns="0" rIns="0" bIns="0" anchor="t">
            <a:spAutoFit/>
          </a:bodyPr>
          <a:lstStyle/>
          <a:p>
            <a:pPr>
              <a:lnSpc>
                <a:spcPct val="112000"/>
              </a:lnSpc>
              <a:spcBef>
                <a:spcPts val="0"/>
              </a:spcBef>
              <a:spcAft>
                <a:spcPts val="500"/>
              </a:spcAft>
            </a:pPr>
            <a:r>
              <a:rPr lang="en-US" sz="1050" b="1" i="0" dirty="0">
                <a:latin typeface="+mj-ea"/>
                <a:ea typeface="+mj-ea"/>
              </a:rPr>
              <a:t>2.2.3  </a:t>
            </a:r>
            <a:r>
              <a:rPr lang="ko-KR" altLang="en-US" sz="1050" b="1" i="0" dirty="0">
                <a:latin typeface="+mj-ea"/>
                <a:ea typeface="+mj-ea"/>
              </a:rPr>
              <a:t>이익구조</a:t>
            </a:r>
            <a:endParaRPr sz="1050" b="1" i="0" dirty="0">
              <a:latin typeface="+mj-ea"/>
              <a:ea typeface="+mj-ea"/>
            </a:endParaRPr>
          </a:p>
        </p:txBody>
      </p:sp>
      <p:sp>
        <p:nvSpPr>
          <p:cNvPr id="8" name="TextBox 7">
            <a:extLst>
              <a:ext uri="{FF2B5EF4-FFF2-40B4-BE49-F238E27FC236}">
                <a16:creationId xmlns:a16="http://schemas.microsoft.com/office/drawing/2014/main" id="{A6FA654F-86F7-A9B1-3707-1CAE696A37E1}"/>
              </a:ext>
            </a:extLst>
          </p:cNvPr>
          <p:cNvSpPr txBox="1"/>
          <p:nvPr/>
        </p:nvSpPr>
        <p:spPr>
          <a:xfrm>
            <a:off x="711570" y="5661208"/>
            <a:ext cx="5689229" cy="2400657"/>
          </a:xfrm>
          <a:prstGeom prst="rect">
            <a:avLst/>
          </a:prstGeom>
          <a:noFill/>
        </p:spPr>
        <p:txBody>
          <a:bodyPr wrap="square">
            <a:spAutoFit/>
          </a:bodyPr>
          <a:lstStyle/>
          <a:p>
            <a:r>
              <a:rPr lang="ko-KR" altLang="ko-KR" sz="1000" dirty="0" err="1"/>
              <a:t>삼성SDI의</a:t>
            </a:r>
            <a:r>
              <a:rPr lang="ko-KR" altLang="ko-KR" sz="1000" dirty="0"/>
              <a:t> 2025년 이익구조는 전지 사업의 적자와 전자재료 사업의 흑자가 공존하는 형태이다. 2025년 연간 기준 전체 매출은 13조 2,667억 원, 영업손실은 1조 7,224억 원이다. 전지 사업 전체, 특히 </a:t>
            </a:r>
            <a:r>
              <a:rPr lang="ko-KR" altLang="ko-KR" sz="1000" dirty="0" err="1"/>
              <a:t>EV용</a:t>
            </a:r>
            <a:r>
              <a:rPr lang="ko-KR" altLang="ko-KR" sz="1000" dirty="0"/>
              <a:t> 배터리와 </a:t>
            </a:r>
            <a:r>
              <a:rPr lang="ko-KR" altLang="ko-KR" sz="1000" dirty="0" err="1"/>
              <a:t>ESS용</a:t>
            </a:r>
            <a:r>
              <a:rPr lang="ko-KR" altLang="ko-KR" sz="1000" dirty="0"/>
              <a:t> 배터리의 실적이 손익을 좌우했다</a:t>
            </a:r>
            <a:r>
              <a:rPr lang="en-US" altLang="ko-KR" sz="1000" dirty="0"/>
              <a:t>.</a:t>
            </a:r>
            <a:endParaRPr lang="ko-KR" altLang="ko-KR" sz="1000" dirty="0"/>
          </a:p>
          <a:p>
            <a:r>
              <a:rPr lang="ko-KR" altLang="ko-KR" sz="1000" dirty="0"/>
              <a:t>전기차용 배터리 부문은 매출 규모는 크지만 2025년에도 본격적인 이익 창출 단계에는 이르지 못했다. 1분기 배터리 부문은 매출 2조 9,809억 원, 영업손실 4,524억 원이었고, 2분기에는 매출 2조 9,612억 원, 영업손실 4,308억 원을 기록했다. </a:t>
            </a:r>
            <a:r>
              <a:rPr lang="en-US" altLang="ko-KR" sz="1000" dirty="0"/>
              <a:t>3</a:t>
            </a:r>
            <a:r>
              <a:rPr lang="ko-KR" altLang="en-US" sz="1000" dirty="0"/>
              <a:t>분기는 </a:t>
            </a:r>
            <a:r>
              <a:rPr lang="ko-KR" altLang="ko-KR" sz="1000" dirty="0"/>
              <a:t>매출 2조 8,867억원, 영업손실 6,301억</a:t>
            </a:r>
            <a:r>
              <a:rPr lang="ko-KR" altLang="en-US" sz="1000" dirty="0"/>
              <a:t>원</a:t>
            </a:r>
            <a:r>
              <a:rPr lang="en-US" altLang="ko-KR" sz="1000" dirty="0"/>
              <a:t>, </a:t>
            </a:r>
            <a:r>
              <a:rPr lang="ko-KR" altLang="ko-KR" sz="1000" dirty="0"/>
              <a:t>4분기</a:t>
            </a:r>
            <a:r>
              <a:rPr lang="ko-KR" altLang="en-US" sz="1000" dirty="0"/>
              <a:t>는</a:t>
            </a:r>
            <a:r>
              <a:rPr lang="ko-KR" altLang="ko-KR" sz="1000" dirty="0"/>
              <a:t> 매출 3조 6,220억원, 영업손실 3,385억원 으로 적자폭이 줄었다.</a:t>
            </a:r>
            <a:endParaRPr lang="en-US" altLang="ko-KR" sz="1000" dirty="0"/>
          </a:p>
          <a:p>
            <a:r>
              <a:rPr lang="ko-KR" altLang="ko-KR" sz="1000" dirty="0"/>
              <a:t>반면 전자재료 사업은 매 분기 흑자를 유지하며 전체 손익을 방어하는 역할을 했다. 2025년 1분기 전자재료 부문은 1분기 매출 1,959억원, 영업이익 183억원, 2분기 2,182억원, 330억원원이었다. 3분기에는 매출 2,318억 원, 영업이익 388억 원, 4분기에는 매출 4분기 2,367억원, 393억원 억 원을 기록했다.</a:t>
            </a:r>
            <a:endParaRPr lang="en-US" altLang="ko-KR" sz="1000" dirty="0"/>
          </a:p>
          <a:p>
            <a:r>
              <a:rPr lang="ko-KR" altLang="ko-KR" sz="1000" dirty="0" err="1"/>
              <a:t>삼성SDI의</a:t>
            </a:r>
            <a:r>
              <a:rPr lang="ko-KR" altLang="ko-KR" sz="1000" dirty="0"/>
              <a:t> 2025년 수익성은 판매 확대 자체보다 사업부별 믹스에 의해 좌우되었다. 전지 사업은 규모는 크지만 적자가 지속되었고 전자재료 사업은 상대적으로 작은 규모에도 안정적인 흑자를 유지했다. 따라서 전체 이익구조는 전지 사업의 적자와 전자재료 사업의 흑자가 함께 만드는 구조라고 볼 수 있다</a:t>
            </a:r>
            <a:r>
              <a:rPr lang="en-US" altLang="ko-KR" sz="1000" dirty="0"/>
              <a:t>.</a:t>
            </a:r>
            <a:endParaRPr lang="ko-KR" altLang="ko-KR" sz="1000" dirty="0"/>
          </a:p>
        </p:txBody>
      </p:sp>
      <p:sp>
        <p:nvSpPr>
          <p:cNvPr id="46" name="TextBox 45"/>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1828800" cy="237744"/>
          </a:xfrm>
          <a:prstGeom prst="rect">
            <a:avLst/>
          </a:prstGeom>
          <a:noFill/>
          <a:ln/>
        </p:spPr>
        <p:txBody>
          <a:bodyPr wrap="square" lIns="0" tIns="0" rIns="0" bIns="0" rtlCol="0" anchor="ctr"/>
          <a:lstStyle/>
          <a:p>
            <a:pPr marL="0" indent="0" algn="l">
              <a:buNone/>
            </a:pPr>
            <a:r>
              <a:rPr lang="en-US" sz="900" b="1" dirty="0">
                <a:solidFill>
                  <a:srgbClr val="1F3864"/>
                </a:solidFill>
                <a:latin typeface="Malgun Gothic" pitchFamily="34" charset="0"/>
                <a:ea typeface="Malgun Gothic" pitchFamily="34" charset="-122"/>
                <a:cs typeface="Malgun Gothic" pitchFamily="34" charset="-120"/>
              </a:rPr>
              <a:t>기업분석</a:t>
            </a:r>
            <a:endParaRPr lang="en-US" sz="900" dirty="0"/>
          </a:p>
        </p:txBody>
      </p:sp>
      <p:sp>
        <p:nvSpPr>
          <p:cNvPr id="3" name="Text 1"/>
          <p:cNvSpPr/>
          <p:nvPr/>
        </p:nvSpPr>
        <p:spPr>
          <a:xfrm>
            <a:off x="2743200" y="182880"/>
            <a:ext cx="3657600" cy="237744"/>
          </a:xfrm>
          <a:prstGeom prst="rect">
            <a:avLst/>
          </a:prstGeom>
          <a:noFill/>
          <a:ln/>
        </p:spPr>
        <p:txBody>
          <a:bodyPr wrap="square" lIns="0" tIns="0" rIns="0" bIns="0" rtlCol="0" anchor="ctr"/>
          <a:lstStyle/>
          <a:p>
            <a:pPr marL="0" indent="0" algn="r">
              <a:buNone/>
            </a:pPr>
            <a:r>
              <a:rPr lang="en-US" sz="900" dirty="0">
                <a:solidFill>
                  <a:srgbClr val="1F3864"/>
                </a:solidFill>
                <a:latin typeface="Malgun Gothic" pitchFamily="34" charset="0"/>
                <a:ea typeface="Malgun Gothic" pitchFamily="34" charset="-122"/>
                <a:cs typeface="Malgun Gothic" pitchFamily="34" charset="-120"/>
              </a:rPr>
              <a:t>Company Research Report  |  </a:t>
            </a:r>
            <a:r>
              <a:rPr lang="en-US" sz="900" b="1" dirty="0">
                <a:solidFill>
                  <a:srgbClr val="1F3864"/>
                </a:solidFill>
                <a:latin typeface="Malgun Gothic" pitchFamily="34" charset="0"/>
                <a:ea typeface="Malgun Gothic" pitchFamily="34" charset="-122"/>
                <a:cs typeface="Malgun Gothic" pitchFamily="34" charset="-120"/>
              </a:rPr>
              <a:t>삼성SDI (006400)</a:t>
            </a:r>
            <a:endParaRPr lang="en-US" sz="900" dirty="0"/>
          </a:p>
        </p:txBody>
      </p:sp>
      <p:sp>
        <p:nvSpPr>
          <p:cNvPr id="4" name="Shape 2"/>
          <p:cNvSpPr/>
          <p:nvPr/>
        </p:nvSpPr>
        <p:spPr>
          <a:xfrm>
            <a:off x="457200" y="457200"/>
            <a:ext cx="5943600" cy="0"/>
          </a:xfrm>
          <a:prstGeom prst="line">
            <a:avLst/>
          </a:prstGeom>
          <a:noFill/>
          <a:ln w="15875">
            <a:solidFill>
              <a:srgbClr val="1F3864"/>
            </a:solidFill>
            <a:prstDash val="solid"/>
          </a:ln>
        </p:spPr>
        <p:txBody>
          <a:bodyPr/>
          <a:lstStyle/>
          <a:p>
            <a:endParaRPr lang="ko-KR" altLang="en-US"/>
          </a:p>
        </p:txBody>
      </p:sp>
      <p:sp>
        <p:nvSpPr>
          <p:cNvPr id="6" name="Text 4"/>
          <p:cNvSpPr/>
          <p:nvPr/>
        </p:nvSpPr>
        <p:spPr>
          <a:xfrm>
            <a:off x="1069848" y="571795"/>
            <a:ext cx="5943600" cy="365760"/>
          </a:xfrm>
          <a:prstGeom prst="rect">
            <a:avLst/>
          </a:prstGeom>
          <a:noFill/>
          <a:ln/>
        </p:spPr>
        <p:txBody>
          <a:bodyPr wrap="square" lIns="0" tIns="0" rIns="0" bIns="0" rtlCol="0" anchor="ctr"/>
          <a:lstStyle/>
          <a:p>
            <a:pPr marL="0" indent="0" algn="l">
              <a:buNone/>
            </a:pPr>
            <a:r>
              <a:rPr lang="en-US" sz="1200" b="1" dirty="0">
                <a:solidFill>
                  <a:srgbClr val="1F3864"/>
                </a:solidFill>
                <a:latin typeface="Malgun Gothic" pitchFamily="34" charset="0"/>
                <a:ea typeface="Malgun Gothic" pitchFamily="34" charset="-122"/>
                <a:cs typeface="Malgun Gothic" pitchFamily="34" charset="-120"/>
              </a:rPr>
              <a:t>2.3  </a:t>
            </a:r>
            <a:r>
              <a:rPr lang="en-US" sz="1200" b="1" dirty="0">
                <a:solidFill>
                  <a:srgbClr val="000000"/>
                </a:solidFill>
                <a:latin typeface="Malgun Gothic" pitchFamily="34" charset="0"/>
                <a:ea typeface="Malgun Gothic" pitchFamily="34" charset="-122"/>
                <a:cs typeface="Malgun Gothic" pitchFamily="34" charset="-120"/>
              </a:rPr>
              <a:t>실적·가동률 분석</a:t>
            </a:r>
            <a:endParaRPr lang="en-US" sz="1200" dirty="0"/>
          </a:p>
        </p:txBody>
      </p:sp>
      <p:sp>
        <p:nvSpPr>
          <p:cNvPr id="7" name="Text 5"/>
          <p:cNvSpPr/>
          <p:nvPr/>
        </p:nvSpPr>
        <p:spPr>
          <a:xfrm>
            <a:off x="1069848" y="898967"/>
            <a:ext cx="5943600" cy="274320"/>
          </a:xfrm>
          <a:prstGeom prst="rect">
            <a:avLst/>
          </a:prstGeom>
          <a:noFill/>
          <a:ln/>
        </p:spPr>
        <p:txBody>
          <a:bodyPr wrap="square" lIns="0" tIns="0" rIns="0" bIns="0" rtlCol="0" anchor="ctr"/>
          <a:lstStyle/>
          <a:p>
            <a:pPr marL="0" indent="0" algn="l">
              <a:buNone/>
            </a:pPr>
            <a:r>
              <a:rPr lang="en-US" sz="1100" b="1" dirty="0">
                <a:latin typeface="Malgun Gothic" pitchFamily="34" charset="0"/>
                <a:ea typeface="Malgun Gothic" pitchFamily="34" charset="-122"/>
                <a:cs typeface="Malgun Gothic" pitchFamily="34" charset="-120"/>
              </a:rPr>
              <a:t>2.3.1  실적 분석 — 2023년 정점 이후 외형·이익 동반 급락</a:t>
            </a:r>
            <a:endParaRPr lang="en-US" sz="1100" dirty="0"/>
          </a:p>
        </p:txBody>
      </p:sp>
      <p:sp>
        <p:nvSpPr>
          <p:cNvPr id="8" name="Text 6"/>
          <p:cNvSpPr/>
          <p:nvPr/>
        </p:nvSpPr>
        <p:spPr>
          <a:xfrm>
            <a:off x="1005840" y="1225296"/>
            <a:ext cx="5349240" cy="1554480"/>
          </a:xfrm>
          <a:prstGeom prst="rect">
            <a:avLst/>
          </a:prstGeom>
          <a:noFill/>
          <a:ln/>
        </p:spPr>
        <p:txBody>
          <a:bodyPr wrap="square" rtlCol="0" anchor="t"/>
          <a:lstStyle/>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매출은 EV 사이클을 타고 </a:t>
            </a:r>
            <a:r>
              <a:rPr lang="en-US" sz="1000" b="1" dirty="0">
                <a:solidFill>
                  <a:srgbClr val="000000"/>
                </a:solidFill>
                <a:latin typeface="Malgun Gothic" pitchFamily="34" charset="0"/>
                <a:ea typeface="Malgun Gothic" pitchFamily="34" charset="-122"/>
                <a:cs typeface="Malgun Gothic" pitchFamily="34" charset="-120"/>
              </a:rPr>
              <a:t>2023년 22.7조원 정점</a:t>
            </a:r>
            <a:r>
              <a:rPr lang="en-US" sz="1000" dirty="0">
                <a:solidFill>
                  <a:srgbClr val="000000"/>
                </a:solidFill>
                <a:latin typeface="Malgun Gothic" pitchFamily="34" charset="0"/>
                <a:ea typeface="Malgun Gothic" pitchFamily="34" charset="-122"/>
                <a:cs typeface="Malgun Gothic" pitchFamily="34" charset="-120"/>
              </a:rPr>
              <a:t> → 2024년 16.6조원(-22.6%) → 2025년 13.3조원(-20.0%)으로 2년 연속 역성장했다.</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영업이익은 2022년 1.8조원 최대 → </a:t>
            </a:r>
            <a:r>
              <a:rPr lang="en-US" sz="1000" b="1" dirty="0">
                <a:solidFill>
                  <a:srgbClr val="C00000"/>
                </a:solidFill>
                <a:latin typeface="Malgun Gothic" pitchFamily="34" charset="0"/>
                <a:ea typeface="Malgun Gothic" pitchFamily="34" charset="-122"/>
                <a:cs typeface="Malgun Gothic" pitchFamily="34" charset="-120"/>
              </a:rPr>
              <a:t>2025년 영업손실 1.72조원 적자전환</a:t>
            </a:r>
            <a:r>
              <a:rPr lang="en-US" sz="1000" dirty="0">
                <a:solidFill>
                  <a:srgbClr val="000000"/>
                </a:solidFill>
                <a:latin typeface="Malgun Gothic" pitchFamily="34" charset="0"/>
                <a:ea typeface="Malgun Gothic" pitchFamily="34" charset="-122"/>
                <a:cs typeface="Malgun Gothic" pitchFamily="34" charset="-120"/>
              </a:rPr>
              <a:t>, 당기순손실 5,849억원을 기록했다.</a:t>
            </a:r>
            <a:endParaRPr lang="en-US" sz="950" dirty="0"/>
          </a:p>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매출 감소율(-41%)보다 이익 훼손 폭이 컸다</a:t>
            </a:r>
            <a:r>
              <a:rPr lang="en-US" sz="1000" dirty="0">
                <a:solidFill>
                  <a:srgbClr val="000000"/>
                </a:solidFill>
                <a:latin typeface="Malgun Gothic" pitchFamily="34" charset="0"/>
                <a:ea typeface="Malgun Gothic" pitchFamily="34" charset="-122"/>
                <a:cs typeface="Malgun Gothic" pitchFamily="34" charset="-120"/>
              </a:rPr>
              <a:t> — 단순 수요 둔화가 아니라 </a:t>
            </a:r>
            <a:r>
              <a:rPr lang="en-US" sz="1000" b="1" dirty="0">
                <a:solidFill>
                  <a:srgbClr val="000000"/>
                </a:solidFill>
                <a:latin typeface="Malgun Gothic" pitchFamily="34" charset="0"/>
                <a:ea typeface="Malgun Gothic" pitchFamily="34" charset="-122"/>
                <a:cs typeface="Malgun Gothic" pitchFamily="34" charset="-120"/>
              </a:rPr>
              <a:t>고정비 구조 문제</a:t>
            </a:r>
            <a:r>
              <a:rPr lang="en-US" sz="1000" dirty="0">
                <a:solidFill>
                  <a:srgbClr val="000000"/>
                </a:solidFill>
                <a:latin typeface="Malgun Gothic" pitchFamily="34" charset="0"/>
                <a:ea typeface="Malgun Gothic" pitchFamily="34" charset="-122"/>
                <a:cs typeface="Malgun Gothic" pitchFamily="34" charset="-120"/>
              </a:rPr>
              <a:t>다(CAPEX 감가상각·R&amp;D 판관비 증가).</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영업이익률 +7.2%(’23) → -13.0%(’25), 약 20%p 악화. 2025년이 수익성 저점이다.</a:t>
            </a:r>
            <a:endParaRPr lang="en-US" sz="950" dirty="0"/>
          </a:p>
        </p:txBody>
      </p:sp>
      <p:sp>
        <p:nvSpPr>
          <p:cNvPr id="9" name="Text 7"/>
          <p:cNvSpPr/>
          <p:nvPr/>
        </p:nvSpPr>
        <p:spPr>
          <a:xfrm>
            <a:off x="1069848" y="2874655"/>
            <a:ext cx="5943600" cy="274320"/>
          </a:xfrm>
          <a:prstGeom prst="rect">
            <a:avLst/>
          </a:prstGeom>
          <a:noFill/>
          <a:ln/>
        </p:spPr>
        <p:txBody>
          <a:bodyPr wrap="square" lIns="0" tIns="0" rIns="0" bIns="0" rtlCol="0" anchor="ctr"/>
          <a:lstStyle/>
          <a:p>
            <a:pPr marL="0" indent="0" algn="l">
              <a:buNone/>
            </a:pPr>
            <a:r>
              <a:rPr lang="en-US" sz="1150" b="1" dirty="0">
                <a:latin typeface="Malgun Gothic" pitchFamily="34" charset="0"/>
                <a:ea typeface="Malgun Gothic" pitchFamily="34" charset="-122"/>
                <a:cs typeface="Malgun Gothic" pitchFamily="34" charset="-120"/>
              </a:rPr>
              <a:t>2.3.2  사업부별 실적 — EV·소형이 적자, ESS·전자재료가 방어</a:t>
            </a:r>
            <a:endParaRPr lang="en-US" sz="1150" dirty="0"/>
          </a:p>
        </p:txBody>
      </p:sp>
      <p:sp>
        <p:nvSpPr>
          <p:cNvPr id="10" name="Text 8"/>
          <p:cNvSpPr/>
          <p:nvPr/>
        </p:nvSpPr>
        <p:spPr>
          <a:xfrm>
            <a:off x="1005840" y="3200400"/>
            <a:ext cx="5349240" cy="1554480"/>
          </a:xfrm>
          <a:prstGeom prst="rect">
            <a:avLst/>
          </a:prstGeom>
          <a:noFill/>
          <a:ln/>
        </p:spPr>
        <p:txBody>
          <a:bodyPr wrap="square" rtlCol="0" anchor="t"/>
          <a:lstStyle/>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자동차(EV): </a:t>
            </a:r>
            <a:r>
              <a:rPr lang="en-US" sz="1000" dirty="0">
                <a:solidFill>
                  <a:srgbClr val="000000"/>
                </a:solidFill>
                <a:latin typeface="Malgun Gothic" pitchFamily="34" charset="0"/>
                <a:ea typeface="Malgun Gothic" pitchFamily="34" charset="-122"/>
                <a:cs typeface="Malgun Gothic" pitchFamily="34" charset="-120"/>
              </a:rPr>
              <a:t>유럽 프리미엄 고객 비중↑로 캐즘 직격, 유럽 점유율 18%(’22.4)→7%(’25 상반기), 3Q OPM -44%.</a:t>
            </a:r>
            <a:endParaRPr lang="en-US" sz="950" dirty="0"/>
          </a:p>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소형전지: </a:t>
            </a:r>
            <a:r>
              <a:rPr lang="en-US" sz="1000" dirty="0">
                <a:solidFill>
                  <a:srgbClr val="000000"/>
                </a:solidFill>
                <a:latin typeface="Malgun Gothic" pitchFamily="34" charset="0"/>
                <a:ea typeface="Malgun Gothic" pitchFamily="34" charset="-122"/>
                <a:cs typeface="Malgun Gothic" pitchFamily="34" charset="-120"/>
              </a:rPr>
              <a:t>전동공구·모빌리티 둔화와 재고조정으로 1Q OPM -32%.</a:t>
            </a:r>
            <a:endParaRPr lang="en-US" sz="950" dirty="0"/>
          </a:p>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ESS: </a:t>
            </a:r>
            <a:r>
              <a:rPr lang="en-US" sz="1000" dirty="0">
                <a:solidFill>
                  <a:srgbClr val="000000"/>
                </a:solidFill>
                <a:latin typeface="Malgun Gothic" pitchFamily="34" charset="0"/>
                <a:ea typeface="Malgun Gothic" pitchFamily="34" charset="-122"/>
                <a:cs typeface="Malgun Gothic" pitchFamily="34" charset="-120"/>
              </a:rPr>
              <a:t>북미 데이터센터·전력망 수요로 4Q 매출 1조원 역대 최대, AMPC 수혜로 4Q OPM +6% 흑자 유지.</a:t>
            </a:r>
            <a:endParaRPr lang="en-US" sz="950" dirty="0"/>
          </a:p>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전자재료: </a:t>
            </a:r>
            <a:r>
              <a:rPr lang="en-US" sz="1000" dirty="0">
                <a:solidFill>
                  <a:srgbClr val="000000"/>
                </a:solidFill>
                <a:latin typeface="Malgun Gothic" pitchFamily="34" charset="0"/>
                <a:ea typeface="Malgun Gothic" pitchFamily="34" charset="-122"/>
                <a:cs typeface="Malgun Gothic" pitchFamily="34" charset="-120"/>
              </a:rPr>
              <a:t>AI 서버용 반도체 패키징 소재 호조, 전 분기 OPM 17%로 전사 적자 방어.</a:t>
            </a:r>
            <a:endParaRPr lang="en-US" sz="950" dirty="0"/>
          </a:p>
        </p:txBody>
      </p:sp>
      <p:sp>
        <p:nvSpPr>
          <p:cNvPr id="13" name="Shape 11"/>
          <p:cNvSpPr/>
          <p:nvPr/>
        </p:nvSpPr>
        <p:spPr>
          <a:xfrm>
            <a:off x="457200" y="5596128"/>
            <a:ext cx="2834640" cy="256032"/>
          </a:xfrm>
          <a:prstGeom prst="rect">
            <a:avLst/>
          </a:prstGeom>
          <a:solidFill>
            <a:schemeClr val="accent1">
              <a:lumMod val="40000"/>
              <a:lumOff val="60000"/>
            </a:schemeClr>
          </a:solidFill>
          <a:ln/>
        </p:spPr>
        <p:txBody>
          <a:bodyPr/>
          <a:lstStyle/>
          <a:p>
            <a:endParaRPr lang="ko-KR" altLang="en-US"/>
          </a:p>
        </p:txBody>
      </p:sp>
      <p:sp>
        <p:nvSpPr>
          <p:cNvPr id="14" name="Text 12"/>
          <p:cNvSpPr/>
          <p:nvPr/>
        </p:nvSpPr>
        <p:spPr>
          <a:xfrm>
            <a:off x="512064" y="5596128"/>
            <a:ext cx="2724912" cy="256032"/>
          </a:xfrm>
          <a:prstGeom prst="rect">
            <a:avLst/>
          </a:prstGeom>
          <a:noFill/>
          <a:ln/>
        </p:spPr>
        <p:txBody>
          <a:bodyPr wrap="square" lIns="0" tIns="0" rIns="0" bIns="0" rtlCol="0" anchor="ctr"/>
          <a:lstStyle/>
          <a:p>
            <a:pPr marL="0" indent="0" algn="l">
              <a:buNone/>
            </a:pPr>
            <a:r>
              <a:rPr lang="en-US" sz="900" b="1" dirty="0">
                <a:latin typeface="Malgun Gothic" pitchFamily="34" charset="0"/>
                <a:ea typeface="Malgun Gothic" pitchFamily="34" charset="-122"/>
                <a:cs typeface="Malgun Gothic" pitchFamily="34" charset="-120"/>
              </a:rPr>
              <a:t>[자료13] 연간 매출·영업이익 추이</a:t>
            </a:r>
            <a:endParaRPr lang="en-US" sz="900" dirty="0"/>
          </a:p>
        </p:txBody>
      </p:sp>
      <p:sp>
        <p:nvSpPr>
          <p:cNvPr id="16" name="Text 13"/>
          <p:cNvSpPr/>
          <p:nvPr/>
        </p:nvSpPr>
        <p:spPr>
          <a:xfrm>
            <a:off x="457200" y="8641080"/>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삼성SDI 실적발표·DART, ICOK</a:t>
            </a:r>
            <a:endParaRPr lang="en-US" sz="750" dirty="0"/>
          </a:p>
        </p:txBody>
      </p:sp>
      <p:sp>
        <p:nvSpPr>
          <p:cNvPr id="17" name="Text 14"/>
          <p:cNvSpPr/>
          <p:nvPr/>
        </p:nvSpPr>
        <p:spPr>
          <a:xfrm>
            <a:off x="2157984" y="8641080"/>
            <a:ext cx="1133856" cy="201168"/>
          </a:xfrm>
          <a:prstGeom prst="rect">
            <a:avLst/>
          </a:prstGeom>
          <a:noFill/>
          <a:ln/>
        </p:spPr>
        <p:txBody>
          <a:bodyPr wrap="square" lIns="0" tIns="0" rIns="0" bIns="0" rtlCol="0" anchor="ctr"/>
          <a:lstStyle/>
          <a:p>
            <a:pPr marL="0" indent="0" algn="r">
              <a:buNone/>
            </a:pPr>
            <a:r>
              <a:rPr lang="en-US" sz="750" i="1" dirty="0">
                <a:solidFill>
                  <a:srgbClr val="7F7F7F"/>
                </a:solidFill>
                <a:latin typeface="Malgun Gothic" pitchFamily="34" charset="0"/>
                <a:ea typeface="Malgun Gothic" pitchFamily="34" charset="-122"/>
                <a:cs typeface="Malgun Gothic" pitchFamily="34" charset="-120"/>
              </a:rPr>
              <a:t>단위: 조원</a:t>
            </a:r>
            <a:endParaRPr lang="en-US" sz="750" dirty="0"/>
          </a:p>
        </p:txBody>
      </p:sp>
      <p:sp>
        <p:nvSpPr>
          <p:cNvPr id="18" name="Shape 15"/>
          <p:cNvSpPr/>
          <p:nvPr/>
        </p:nvSpPr>
        <p:spPr>
          <a:xfrm>
            <a:off x="3566160" y="5596128"/>
            <a:ext cx="2834640" cy="256032"/>
          </a:xfrm>
          <a:prstGeom prst="rect">
            <a:avLst/>
          </a:prstGeom>
          <a:solidFill>
            <a:schemeClr val="accent1">
              <a:lumMod val="40000"/>
              <a:lumOff val="60000"/>
            </a:schemeClr>
          </a:solidFill>
          <a:ln/>
        </p:spPr>
        <p:txBody>
          <a:bodyPr/>
          <a:lstStyle/>
          <a:p>
            <a:endParaRPr lang="ko-KR" altLang="en-US"/>
          </a:p>
        </p:txBody>
      </p:sp>
      <p:sp>
        <p:nvSpPr>
          <p:cNvPr id="19" name="Text 16"/>
          <p:cNvSpPr/>
          <p:nvPr/>
        </p:nvSpPr>
        <p:spPr>
          <a:xfrm>
            <a:off x="3621024" y="5596128"/>
            <a:ext cx="2724912" cy="256032"/>
          </a:xfrm>
          <a:prstGeom prst="rect">
            <a:avLst/>
          </a:prstGeom>
          <a:noFill/>
          <a:ln/>
        </p:spPr>
        <p:txBody>
          <a:bodyPr wrap="square" lIns="0" tIns="0" rIns="0" bIns="0" rtlCol="0" anchor="ctr"/>
          <a:lstStyle/>
          <a:p>
            <a:pPr marL="0" indent="0" algn="l">
              <a:buNone/>
            </a:pPr>
            <a:r>
              <a:rPr lang="en-US" sz="900" b="1" dirty="0">
                <a:latin typeface="Malgun Gothic" pitchFamily="34" charset="0"/>
                <a:ea typeface="Malgun Gothic" pitchFamily="34" charset="-122"/>
                <a:cs typeface="Malgun Gothic" pitchFamily="34" charset="-120"/>
              </a:rPr>
              <a:t>[자료14] 2025 분기별 사업부 매출</a:t>
            </a:r>
            <a:endParaRPr lang="en-US" sz="900" dirty="0"/>
          </a:p>
        </p:txBody>
      </p:sp>
      <p:sp>
        <p:nvSpPr>
          <p:cNvPr id="21" name="Text 17"/>
          <p:cNvSpPr/>
          <p:nvPr/>
        </p:nvSpPr>
        <p:spPr>
          <a:xfrm>
            <a:off x="3566160" y="8641080"/>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삼성SDI·증권사, ICOK</a:t>
            </a:r>
            <a:endParaRPr lang="en-US" sz="750" dirty="0"/>
          </a:p>
        </p:txBody>
      </p:sp>
      <p:sp>
        <p:nvSpPr>
          <p:cNvPr id="22" name="Text 18"/>
          <p:cNvSpPr/>
          <p:nvPr/>
        </p:nvSpPr>
        <p:spPr>
          <a:xfrm>
            <a:off x="5266944" y="8641080"/>
            <a:ext cx="1133856" cy="201168"/>
          </a:xfrm>
          <a:prstGeom prst="rect">
            <a:avLst/>
          </a:prstGeom>
          <a:noFill/>
          <a:ln/>
        </p:spPr>
        <p:txBody>
          <a:bodyPr wrap="square" lIns="0" tIns="0" rIns="0" bIns="0" rtlCol="0" anchor="ctr"/>
          <a:lstStyle/>
          <a:p>
            <a:pPr marL="0" indent="0" algn="r">
              <a:buNone/>
            </a:pPr>
            <a:r>
              <a:rPr lang="en-US" sz="750" i="1" dirty="0">
                <a:solidFill>
                  <a:srgbClr val="7F7F7F"/>
                </a:solidFill>
                <a:latin typeface="Malgun Gothic" pitchFamily="34" charset="0"/>
                <a:ea typeface="Malgun Gothic" pitchFamily="34" charset="-122"/>
                <a:cs typeface="Malgun Gothic" pitchFamily="34" charset="-120"/>
              </a:rPr>
              <a:t>단위: 십억원</a:t>
            </a:r>
            <a:endParaRPr lang="en-US" sz="750" dirty="0"/>
          </a:p>
        </p:txBody>
      </p:sp>
      <p:sp>
        <p:nvSpPr>
          <p:cNvPr id="23" name="TextBox 22"/>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11</a:t>
            </a:r>
          </a:p>
        </p:txBody>
      </p:sp>
      <p:pic>
        <p:nvPicPr>
          <p:cNvPr id="24" name="Picture 23" descr="ja13.png"/>
          <p:cNvPicPr>
            <a:picLocks noChangeAspect="1"/>
          </p:cNvPicPr>
          <p:nvPr/>
        </p:nvPicPr>
        <p:blipFill>
          <a:blip r:embed="rId5"/>
          <a:stretch>
            <a:fillRect/>
          </a:stretch>
        </p:blipFill>
        <p:spPr>
          <a:xfrm>
            <a:off x="457200" y="5870448"/>
            <a:ext cx="2834640" cy="2239266"/>
          </a:xfrm>
          <a:prstGeom prst="rect">
            <a:avLst/>
          </a:prstGeom>
        </p:spPr>
      </p:pic>
      <p:pic>
        <p:nvPicPr>
          <p:cNvPr id="25" name="Picture 24" descr="ja14.png"/>
          <p:cNvPicPr>
            <a:picLocks noChangeAspect="1"/>
          </p:cNvPicPr>
          <p:nvPr/>
        </p:nvPicPr>
        <p:blipFill>
          <a:blip r:embed="rId6"/>
          <a:stretch>
            <a:fillRect/>
          </a:stretch>
        </p:blipFill>
        <p:spPr>
          <a:xfrm>
            <a:off x="3566160" y="5870448"/>
            <a:ext cx="2834640" cy="22392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1828800" cy="237744"/>
          </a:xfrm>
          <a:prstGeom prst="rect">
            <a:avLst/>
          </a:prstGeom>
          <a:noFill/>
          <a:ln/>
        </p:spPr>
        <p:txBody>
          <a:bodyPr wrap="square" lIns="0" tIns="0" rIns="0" bIns="0" rtlCol="0" anchor="ctr"/>
          <a:lstStyle/>
          <a:p>
            <a:pPr marL="0" indent="0" algn="l">
              <a:buNone/>
            </a:pPr>
            <a:r>
              <a:rPr lang="en-US" sz="900" b="1" dirty="0">
                <a:solidFill>
                  <a:srgbClr val="1F3864"/>
                </a:solidFill>
                <a:latin typeface="Malgun Gothic" pitchFamily="34" charset="0"/>
                <a:ea typeface="Malgun Gothic" pitchFamily="34" charset="-122"/>
                <a:cs typeface="Malgun Gothic" pitchFamily="34" charset="-120"/>
              </a:rPr>
              <a:t>기업분석</a:t>
            </a:r>
            <a:endParaRPr lang="en-US" sz="900" dirty="0"/>
          </a:p>
        </p:txBody>
      </p:sp>
      <p:sp>
        <p:nvSpPr>
          <p:cNvPr id="3" name="Text 1"/>
          <p:cNvSpPr/>
          <p:nvPr/>
        </p:nvSpPr>
        <p:spPr>
          <a:xfrm>
            <a:off x="2743200" y="182880"/>
            <a:ext cx="3657600" cy="237744"/>
          </a:xfrm>
          <a:prstGeom prst="rect">
            <a:avLst/>
          </a:prstGeom>
          <a:noFill/>
          <a:ln/>
        </p:spPr>
        <p:txBody>
          <a:bodyPr wrap="square" lIns="0" tIns="0" rIns="0" bIns="0" rtlCol="0" anchor="ctr"/>
          <a:lstStyle/>
          <a:p>
            <a:pPr marL="0" indent="0" algn="r">
              <a:buNone/>
            </a:pPr>
            <a:r>
              <a:rPr lang="en-US" sz="900" dirty="0">
                <a:solidFill>
                  <a:srgbClr val="1F3864"/>
                </a:solidFill>
                <a:latin typeface="Malgun Gothic" pitchFamily="34" charset="0"/>
                <a:ea typeface="Malgun Gothic" pitchFamily="34" charset="-122"/>
                <a:cs typeface="Malgun Gothic" pitchFamily="34" charset="-120"/>
              </a:rPr>
              <a:t>Company Research Report  |  </a:t>
            </a:r>
            <a:r>
              <a:rPr lang="en-US" sz="900" b="1" dirty="0">
                <a:solidFill>
                  <a:srgbClr val="1F3864"/>
                </a:solidFill>
                <a:latin typeface="Malgun Gothic" pitchFamily="34" charset="0"/>
                <a:ea typeface="Malgun Gothic" pitchFamily="34" charset="-122"/>
                <a:cs typeface="Malgun Gothic" pitchFamily="34" charset="-120"/>
              </a:rPr>
              <a:t>삼성SDI (006400)</a:t>
            </a:r>
            <a:endParaRPr lang="en-US" sz="900" dirty="0"/>
          </a:p>
        </p:txBody>
      </p:sp>
      <p:sp>
        <p:nvSpPr>
          <p:cNvPr id="4" name="Shape 2"/>
          <p:cNvSpPr/>
          <p:nvPr/>
        </p:nvSpPr>
        <p:spPr>
          <a:xfrm>
            <a:off x="457200" y="457200"/>
            <a:ext cx="5943600" cy="0"/>
          </a:xfrm>
          <a:prstGeom prst="line">
            <a:avLst/>
          </a:prstGeom>
          <a:noFill/>
          <a:ln w="15875">
            <a:solidFill>
              <a:srgbClr val="1F3864"/>
            </a:solidFill>
            <a:prstDash val="solid"/>
          </a:ln>
        </p:spPr>
        <p:txBody>
          <a:bodyPr/>
          <a:lstStyle/>
          <a:p>
            <a:endParaRPr lang="ko-KR" altLang="en-US"/>
          </a:p>
        </p:txBody>
      </p:sp>
      <p:sp>
        <p:nvSpPr>
          <p:cNvPr id="6" name="Text 4"/>
          <p:cNvSpPr/>
          <p:nvPr/>
        </p:nvSpPr>
        <p:spPr>
          <a:xfrm>
            <a:off x="1069848" y="548640"/>
            <a:ext cx="5943600" cy="365760"/>
          </a:xfrm>
          <a:prstGeom prst="rect">
            <a:avLst/>
          </a:prstGeom>
          <a:noFill/>
          <a:ln/>
        </p:spPr>
        <p:txBody>
          <a:bodyPr wrap="square" lIns="0" tIns="0" rIns="0" bIns="0" rtlCol="0" anchor="ctr"/>
          <a:lstStyle/>
          <a:p>
            <a:pPr marL="0" indent="0" algn="l">
              <a:buNone/>
            </a:pPr>
            <a:r>
              <a:rPr lang="en-US" sz="1100" b="1" dirty="0">
                <a:solidFill>
                  <a:srgbClr val="1F3864"/>
                </a:solidFill>
                <a:latin typeface="Malgun Gothic" pitchFamily="34" charset="0"/>
                <a:ea typeface="Malgun Gothic" pitchFamily="34" charset="-122"/>
                <a:cs typeface="Malgun Gothic" pitchFamily="34" charset="-120"/>
              </a:rPr>
              <a:t>2.3  </a:t>
            </a:r>
            <a:r>
              <a:rPr lang="en-US" sz="1100" b="1" dirty="0">
                <a:solidFill>
                  <a:srgbClr val="000000"/>
                </a:solidFill>
                <a:latin typeface="Malgun Gothic" pitchFamily="34" charset="0"/>
                <a:ea typeface="Malgun Gothic" pitchFamily="34" charset="-122"/>
                <a:cs typeface="Malgun Gothic" pitchFamily="34" charset="-120"/>
              </a:rPr>
              <a:t>실적·가동률 분석</a:t>
            </a:r>
            <a:endParaRPr lang="en-US" sz="1100" dirty="0"/>
          </a:p>
        </p:txBody>
      </p:sp>
      <p:sp>
        <p:nvSpPr>
          <p:cNvPr id="7" name="Text 5"/>
          <p:cNvSpPr/>
          <p:nvPr/>
        </p:nvSpPr>
        <p:spPr>
          <a:xfrm>
            <a:off x="1069848" y="909031"/>
            <a:ext cx="5943600" cy="274320"/>
          </a:xfrm>
          <a:prstGeom prst="rect">
            <a:avLst/>
          </a:prstGeom>
          <a:noFill/>
          <a:ln/>
        </p:spPr>
        <p:txBody>
          <a:bodyPr wrap="square" lIns="0" tIns="0" rIns="0" bIns="0" rtlCol="0" anchor="ctr"/>
          <a:lstStyle/>
          <a:p>
            <a:pPr marL="0" indent="0" algn="l">
              <a:buNone/>
            </a:pPr>
            <a:r>
              <a:rPr lang="en-US" sz="1050" b="1" dirty="0">
                <a:latin typeface="Malgun Gothic" pitchFamily="34" charset="0"/>
                <a:ea typeface="Malgun Gothic" pitchFamily="34" charset="-122"/>
                <a:cs typeface="Malgun Gothic" pitchFamily="34" charset="-120"/>
              </a:rPr>
              <a:t>2.3.3  가동률 분석 — 헝가리 괴드 공장이 적자 진앙이자 최대 레버리지</a:t>
            </a:r>
            <a:endParaRPr lang="en-US" sz="1050" dirty="0"/>
          </a:p>
        </p:txBody>
      </p:sp>
      <p:sp>
        <p:nvSpPr>
          <p:cNvPr id="8" name="Text 6"/>
          <p:cNvSpPr/>
          <p:nvPr/>
        </p:nvSpPr>
        <p:spPr>
          <a:xfrm>
            <a:off x="1005840" y="1225296"/>
            <a:ext cx="5349240" cy="1691640"/>
          </a:xfrm>
          <a:prstGeom prst="rect">
            <a:avLst/>
          </a:prstGeom>
          <a:noFill/>
          <a:ln/>
        </p:spPr>
        <p:txBody>
          <a:bodyPr wrap="square" rtlCol="0" anchor="t"/>
          <a:lstStyle/>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헝가리(괴드) 연산 40GWh, 풀가동 매출 약 4.3조원. 그러나 </a:t>
            </a:r>
            <a:r>
              <a:rPr lang="en-US" sz="1000" b="1" dirty="0">
                <a:solidFill>
                  <a:srgbClr val="C00000"/>
                </a:solidFill>
                <a:latin typeface="Malgun Gothic" pitchFamily="34" charset="0"/>
                <a:ea typeface="Malgun Gothic" pitchFamily="34" charset="-122"/>
                <a:cs typeface="Malgun Gothic" pitchFamily="34" charset="-120"/>
              </a:rPr>
              <a:t>2025년 가동률 30~40%</a:t>
            </a:r>
            <a:r>
              <a:rPr lang="en-US" sz="1000" dirty="0">
                <a:solidFill>
                  <a:srgbClr val="000000"/>
                </a:solidFill>
                <a:latin typeface="Malgun Gothic" pitchFamily="34" charset="0"/>
                <a:ea typeface="Malgun Gothic" pitchFamily="34" charset="-122"/>
                <a:cs typeface="Malgun Gothic" pitchFamily="34" charset="-120"/>
              </a:rPr>
              <a:t>(8개 라인 중 2~3개), 출하 12~16GWh, 분기손실 약 2,000억원.</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가동률은 손익에 비선형. </a:t>
            </a:r>
            <a:r>
              <a:rPr lang="en-US" sz="1000" b="1" dirty="0">
                <a:solidFill>
                  <a:srgbClr val="000000"/>
                </a:solidFill>
                <a:latin typeface="Malgun Gothic" pitchFamily="34" charset="0"/>
                <a:ea typeface="Malgun Gothic" pitchFamily="34" charset="-122"/>
                <a:cs typeface="Malgun Gothic" pitchFamily="34" charset="-120"/>
              </a:rPr>
              <a:t>BEP ≈ 60%</a:t>
            </a:r>
            <a:r>
              <a:rPr lang="en-US" sz="1000" dirty="0">
                <a:solidFill>
                  <a:srgbClr val="000000"/>
                </a:solidFill>
                <a:latin typeface="Malgun Gothic" pitchFamily="34" charset="0"/>
                <a:ea typeface="Malgun Gothic" pitchFamily="34" charset="-122"/>
                <a:cs typeface="Malgun Gothic" pitchFamily="34" charset="-120"/>
              </a:rPr>
              <a:t>, 80% 도달 시 +1.9조원, 100% 시 +2.6조원 → 가동률 정상화가 가장 강력한 이익 레버리지다.</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회복 경로: 상반기 50% → 하반기 70%(현대차 7년 계약 ’26~’32, BMW 신규 라인). 증권가는 ’26 하반기~’27을 BEP 돌파 시점으로 전망.</a:t>
            </a:r>
            <a:endParaRPr lang="en-US" sz="950" dirty="0"/>
          </a:p>
        </p:txBody>
      </p:sp>
      <p:sp>
        <p:nvSpPr>
          <p:cNvPr id="9" name="Text 7"/>
          <p:cNvSpPr/>
          <p:nvPr/>
        </p:nvSpPr>
        <p:spPr>
          <a:xfrm>
            <a:off x="1069848" y="3026664"/>
            <a:ext cx="5943600" cy="274320"/>
          </a:xfrm>
          <a:prstGeom prst="rect">
            <a:avLst/>
          </a:prstGeom>
          <a:noFill/>
          <a:ln/>
        </p:spPr>
        <p:txBody>
          <a:bodyPr wrap="square" lIns="0" tIns="0" rIns="0" bIns="0" rtlCol="0" anchor="ctr"/>
          <a:lstStyle/>
          <a:p>
            <a:pPr marL="0" indent="0" algn="l">
              <a:buNone/>
            </a:pPr>
            <a:r>
              <a:rPr lang="en-US" sz="1150" b="1" dirty="0">
                <a:latin typeface="Malgun Gothic" pitchFamily="34" charset="0"/>
                <a:ea typeface="Malgun Gothic" pitchFamily="34" charset="-122"/>
                <a:cs typeface="Malgun Gothic" pitchFamily="34" charset="-120"/>
              </a:rPr>
              <a:t>2.3.4  국내외 생산거점 현황</a:t>
            </a:r>
            <a:endParaRPr lang="en-US" sz="1150" dirty="0"/>
          </a:p>
        </p:txBody>
      </p:sp>
      <p:sp>
        <p:nvSpPr>
          <p:cNvPr id="10" name="Text 8"/>
          <p:cNvSpPr/>
          <p:nvPr/>
        </p:nvSpPr>
        <p:spPr>
          <a:xfrm>
            <a:off x="1005840" y="3346704"/>
            <a:ext cx="5349240" cy="1417320"/>
          </a:xfrm>
          <a:prstGeom prst="rect">
            <a:avLst/>
          </a:prstGeom>
          <a:noFill/>
          <a:ln/>
        </p:spPr>
        <p:txBody>
          <a:bodyPr wrap="square" rtlCol="0" anchor="t"/>
          <a:lstStyle/>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헝가리(괴드): </a:t>
            </a:r>
            <a:r>
              <a:rPr lang="en-US" sz="1000" dirty="0">
                <a:solidFill>
                  <a:srgbClr val="000000"/>
                </a:solidFill>
                <a:latin typeface="Malgun Gothic" pitchFamily="34" charset="0"/>
                <a:ea typeface="Malgun Gothic" pitchFamily="34" charset="-122"/>
                <a:cs typeface="Malgun Gothic" pitchFamily="34" charset="-120"/>
              </a:rPr>
              <a:t>유럽 프리미엄 OEM 전용 하이니켈 거점(40GWh), 46파이 전환 예정. 가동률 정상화가 유럽 EV 적자 축소의 관건.</a:t>
            </a:r>
            <a:endParaRPr lang="en-US" sz="950" dirty="0"/>
          </a:p>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북미 SPE JV(스텔란티스): </a:t>
            </a:r>
            <a:r>
              <a:rPr lang="en-US" sz="1000" dirty="0">
                <a:solidFill>
                  <a:srgbClr val="000000"/>
                </a:solidFill>
                <a:latin typeface="Malgun Gothic" pitchFamily="34" charset="0"/>
                <a:ea typeface="Malgun Gothic" pitchFamily="34" charset="-122"/>
                <a:cs typeface="Malgun Gothic" pitchFamily="34" charset="-120"/>
              </a:rPr>
              <a:t>’25.10 NCA ESS 라인 가동, ’26.4Q LFP 전환, ’26말 미국 ESS 30GWh — AMPC·관세 회피 핵심 축.</a:t>
            </a:r>
            <a:endParaRPr lang="en-US" sz="950" dirty="0"/>
          </a:p>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북미 GM JV / 국내: </a:t>
            </a:r>
            <a:r>
              <a:rPr lang="en-US" sz="1000" dirty="0">
                <a:solidFill>
                  <a:srgbClr val="000000"/>
                </a:solidFill>
                <a:latin typeface="Malgun Gothic" pitchFamily="34" charset="0"/>
                <a:ea typeface="Malgun Gothic" pitchFamily="34" charset="-122"/>
                <a:cs typeface="Malgun Gothic" pitchFamily="34" charset="-120"/>
              </a:rPr>
              <a:t>GM JV 36GWh(’27 양산, 지연 리스크), 국내 천안·울산은 소형·46파이·전고체 마더팩토리.</a:t>
            </a:r>
            <a:endParaRPr lang="en-US" sz="950" dirty="0"/>
          </a:p>
        </p:txBody>
      </p:sp>
      <p:sp>
        <p:nvSpPr>
          <p:cNvPr id="13" name="Shape 11"/>
          <p:cNvSpPr/>
          <p:nvPr/>
        </p:nvSpPr>
        <p:spPr>
          <a:xfrm>
            <a:off x="457200" y="5596128"/>
            <a:ext cx="2834640" cy="256032"/>
          </a:xfrm>
          <a:prstGeom prst="rect">
            <a:avLst/>
          </a:prstGeom>
          <a:solidFill>
            <a:schemeClr val="accent1">
              <a:lumMod val="40000"/>
              <a:lumOff val="60000"/>
            </a:schemeClr>
          </a:solidFill>
          <a:ln/>
        </p:spPr>
        <p:txBody>
          <a:bodyPr/>
          <a:lstStyle/>
          <a:p>
            <a:endParaRPr lang="ko-KR" altLang="en-US"/>
          </a:p>
        </p:txBody>
      </p:sp>
      <p:sp>
        <p:nvSpPr>
          <p:cNvPr id="14" name="Text 12"/>
          <p:cNvSpPr/>
          <p:nvPr/>
        </p:nvSpPr>
        <p:spPr>
          <a:xfrm>
            <a:off x="512064" y="5596128"/>
            <a:ext cx="2724912" cy="256032"/>
          </a:xfrm>
          <a:prstGeom prst="rect">
            <a:avLst/>
          </a:prstGeom>
          <a:noFill/>
          <a:ln/>
        </p:spPr>
        <p:txBody>
          <a:bodyPr wrap="square" lIns="0" tIns="0" rIns="0" bIns="0" rtlCol="0" anchor="ctr"/>
          <a:lstStyle/>
          <a:p>
            <a:pPr marL="0" indent="0" algn="l">
              <a:buNone/>
            </a:pPr>
            <a:r>
              <a:rPr lang="en-US" sz="900" b="1" dirty="0">
                <a:latin typeface="Malgun Gothic" pitchFamily="34" charset="0"/>
                <a:ea typeface="Malgun Gothic" pitchFamily="34" charset="-122"/>
                <a:cs typeface="Malgun Gothic" pitchFamily="34" charset="-120"/>
              </a:rPr>
              <a:t>[자료15] 헝가리 가동률–손익 시나리오</a:t>
            </a:r>
            <a:endParaRPr lang="en-US" sz="900" dirty="0"/>
          </a:p>
        </p:txBody>
      </p:sp>
      <p:graphicFrame>
        <p:nvGraphicFramePr>
          <p:cNvPr id="15" name="Table 0"/>
          <p:cNvGraphicFramePr>
            <a:graphicFrameLocks noGrp="1"/>
          </p:cNvGraphicFramePr>
          <p:nvPr/>
        </p:nvGraphicFramePr>
        <p:xfrm>
          <a:off x="457200" y="5888736"/>
          <a:ext cx="2834640" cy="1865376"/>
        </p:xfrm>
        <a:graphic>
          <a:graphicData uri="http://schemas.openxmlformats.org/drawingml/2006/table">
            <a:tbl>
              <a:tblPr/>
              <a:tblGrid>
                <a:gridCol w="963778">
                  <a:extLst>
                    <a:ext uri="{9D8B030D-6E8A-4147-A177-3AD203B41FA5}">
                      <a16:colId xmlns:a16="http://schemas.microsoft.com/office/drawing/2014/main" val="20000"/>
                    </a:ext>
                  </a:extLst>
                </a:gridCol>
                <a:gridCol w="510235">
                  <a:extLst>
                    <a:ext uri="{9D8B030D-6E8A-4147-A177-3AD203B41FA5}">
                      <a16:colId xmlns:a16="http://schemas.microsoft.com/office/drawing/2014/main" val="20001"/>
                    </a:ext>
                  </a:extLst>
                </a:gridCol>
                <a:gridCol w="623621">
                  <a:extLst>
                    <a:ext uri="{9D8B030D-6E8A-4147-A177-3AD203B41FA5}">
                      <a16:colId xmlns:a16="http://schemas.microsoft.com/office/drawing/2014/main" val="20002"/>
                    </a:ext>
                  </a:extLst>
                </a:gridCol>
                <a:gridCol w="737006">
                  <a:extLst>
                    <a:ext uri="{9D8B030D-6E8A-4147-A177-3AD203B41FA5}">
                      <a16:colId xmlns:a16="http://schemas.microsoft.com/office/drawing/2014/main" val="20003"/>
                    </a:ext>
                  </a:extLst>
                </a:gridCol>
              </a:tblGrid>
              <a:tr h="310896">
                <a:tc>
                  <a:txBody>
                    <a:bodyP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가동률</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GWh</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매출</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영업이익</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10896">
                <a:tc>
                  <a:txBody>
                    <a:bodyPr/>
                    <a:lstStyle/>
                    <a:p>
                      <a:pPr marL="0" indent="0" algn="ctr">
                        <a:buNone/>
                      </a:pPr>
                      <a:r>
                        <a:rPr lang="en-US" sz="850" b="1" dirty="0">
                          <a:solidFill>
                            <a:srgbClr val="000000"/>
                          </a:solidFill>
                          <a:latin typeface="Malgun Gothic" pitchFamily="34" charset="0"/>
                          <a:ea typeface="Malgun Gothic" pitchFamily="34" charset="-122"/>
                          <a:cs typeface="Malgun Gothic" pitchFamily="34" charset="-120"/>
                        </a:rPr>
                        <a:t>30% (현재)</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12</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1.1</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C00000"/>
                          </a:solidFill>
                          <a:latin typeface="Malgun Gothic" pitchFamily="34" charset="0"/>
                          <a:ea typeface="Malgun Gothic" pitchFamily="34" charset="-122"/>
                          <a:cs typeface="Malgun Gothic" pitchFamily="34" charset="-120"/>
                        </a:rPr>
                        <a:t>-0.9</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ctr">
                        <a:buNone/>
                      </a:pPr>
                      <a:r>
                        <a:rPr lang="en-US" sz="850" b="1" dirty="0">
                          <a:solidFill>
                            <a:srgbClr val="000000"/>
                          </a:solidFill>
                          <a:latin typeface="Malgun Gothic" pitchFamily="34" charset="0"/>
                          <a:ea typeface="Malgun Gothic" pitchFamily="34" charset="-122"/>
                          <a:cs typeface="Malgun Gothic" pitchFamily="34" charset="-120"/>
                        </a:rPr>
                        <a:t>50%</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20</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1.8</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50" dirty="0">
                          <a:solidFill>
                            <a:srgbClr val="C00000"/>
                          </a:solidFill>
                          <a:latin typeface="Malgun Gothic" pitchFamily="34" charset="0"/>
                          <a:ea typeface="Malgun Gothic" pitchFamily="34" charset="-122"/>
                          <a:cs typeface="Malgun Gothic" pitchFamily="34" charset="-120"/>
                        </a:rPr>
                        <a:t>-0.2</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extLst>
                  <a:ext uri="{0D108BD9-81ED-4DB2-BD59-A6C34878D82A}">
                    <a16:rowId xmlns:a16="http://schemas.microsoft.com/office/drawing/2014/main" val="10002"/>
                  </a:ext>
                </a:extLst>
              </a:tr>
              <a:tr h="310896">
                <a:tc>
                  <a:txBody>
                    <a:bodyPr/>
                    <a:lstStyle/>
                    <a:p>
                      <a:pPr marL="0" indent="0" algn="ctr">
                        <a:buNone/>
                      </a:pPr>
                      <a:r>
                        <a:rPr lang="en-US" sz="850" b="1" dirty="0">
                          <a:solidFill>
                            <a:srgbClr val="000000"/>
                          </a:solidFill>
                          <a:latin typeface="Malgun Gothic" pitchFamily="34" charset="0"/>
                          <a:ea typeface="Malgun Gothic" pitchFamily="34" charset="-122"/>
                          <a:cs typeface="Malgun Gothic" pitchFamily="34" charset="-120"/>
                        </a:rPr>
                        <a:t>60% (BEP)</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9DB"/>
                    </a:solidFill>
                  </a:tcPr>
                </a:tc>
                <a:tc>
                  <a:txBody>
                    <a:bodyPr/>
                    <a:lstStyle/>
                    <a:p>
                      <a:pPr marL="0" indent="0" algn="ctr">
                        <a:buNone/>
                      </a:pPr>
                      <a:r>
                        <a:rPr lang="en-US" sz="850" b="1" dirty="0">
                          <a:solidFill>
                            <a:srgbClr val="000000"/>
                          </a:solidFill>
                          <a:latin typeface="Malgun Gothic" pitchFamily="34" charset="0"/>
                          <a:ea typeface="Malgun Gothic" pitchFamily="34" charset="-122"/>
                          <a:cs typeface="Malgun Gothic" pitchFamily="34" charset="-120"/>
                        </a:rPr>
                        <a:t>24</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9DB"/>
                    </a:solidFill>
                  </a:tcPr>
                </a:tc>
                <a:tc>
                  <a:txBody>
                    <a:bodyPr/>
                    <a:lstStyle/>
                    <a:p>
                      <a:pPr marL="0" indent="0" algn="ctr">
                        <a:buNone/>
                      </a:pPr>
                      <a:r>
                        <a:rPr lang="en-US" sz="850" b="1" dirty="0">
                          <a:solidFill>
                            <a:srgbClr val="000000"/>
                          </a:solidFill>
                          <a:latin typeface="Malgun Gothic" pitchFamily="34" charset="0"/>
                          <a:ea typeface="Malgun Gothic" pitchFamily="34" charset="-122"/>
                          <a:cs typeface="Malgun Gothic" pitchFamily="34" charset="-120"/>
                        </a:rPr>
                        <a:t>2.2</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9DB"/>
                    </a:solidFill>
                  </a:tcPr>
                </a:tc>
                <a:tc>
                  <a:txBody>
                    <a:bodyPr/>
                    <a:lstStyle/>
                    <a:p>
                      <a:pPr marL="0" indent="0" algn="ctr">
                        <a:buNone/>
                      </a:pPr>
                      <a:r>
                        <a:rPr lang="en-US" sz="850" b="1" dirty="0">
                          <a:solidFill>
                            <a:srgbClr val="2E7D32"/>
                          </a:solidFill>
                          <a:latin typeface="Malgun Gothic" pitchFamily="34" charset="0"/>
                          <a:ea typeface="Malgun Gothic" pitchFamily="34" charset="-122"/>
                          <a:cs typeface="Malgun Gothic" pitchFamily="34" charset="-120"/>
                        </a:rPr>
                        <a:t>+0.2</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9DB"/>
                    </a:solidFill>
                  </a:tcPr>
                </a:tc>
                <a:extLst>
                  <a:ext uri="{0D108BD9-81ED-4DB2-BD59-A6C34878D82A}">
                    <a16:rowId xmlns:a16="http://schemas.microsoft.com/office/drawing/2014/main" val="10003"/>
                  </a:ext>
                </a:extLst>
              </a:tr>
              <a:tr h="310896">
                <a:tc>
                  <a:txBody>
                    <a:bodyPr/>
                    <a:lstStyle/>
                    <a:p>
                      <a:pPr marL="0" indent="0" algn="ctr">
                        <a:buNone/>
                      </a:pPr>
                      <a:r>
                        <a:rPr lang="en-US" sz="850" b="1" dirty="0">
                          <a:solidFill>
                            <a:srgbClr val="000000"/>
                          </a:solidFill>
                          <a:latin typeface="Malgun Gothic" pitchFamily="34" charset="0"/>
                          <a:ea typeface="Malgun Gothic" pitchFamily="34" charset="-122"/>
                          <a:cs typeface="Malgun Gothic" pitchFamily="34" charset="-120"/>
                        </a:rPr>
                        <a:t>80%</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32</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2.9</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50" dirty="0">
                          <a:solidFill>
                            <a:srgbClr val="2E7D32"/>
                          </a:solidFill>
                          <a:latin typeface="Malgun Gothic" pitchFamily="34" charset="0"/>
                          <a:ea typeface="Malgun Gothic" pitchFamily="34" charset="-122"/>
                          <a:cs typeface="Malgun Gothic" pitchFamily="34" charset="-120"/>
                        </a:rPr>
                        <a:t>+1.9</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extLst>
                  <a:ext uri="{0D108BD9-81ED-4DB2-BD59-A6C34878D82A}">
                    <a16:rowId xmlns:a16="http://schemas.microsoft.com/office/drawing/2014/main" val="10004"/>
                  </a:ext>
                </a:extLst>
              </a:tr>
              <a:tr h="310896">
                <a:tc>
                  <a:txBody>
                    <a:bodyPr/>
                    <a:lstStyle/>
                    <a:p>
                      <a:pPr marL="0" indent="0" algn="ctr">
                        <a:buNone/>
                      </a:pPr>
                      <a:r>
                        <a:rPr lang="en-US" sz="850" b="1" dirty="0">
                          <a:solidFill>
                            <a:srgbClr val="000000"/>
                          </a:solidFill>
                          <a:latin typeface="Malgun Gothic" pitchFamily="34" charset="0"/>
                          <a:ea typeface="Malgun Gothic" pitchFamily="34" charset="-122"/>
                          <a:cs typeface="Malgun Gothic" pitchFamily="34" charset="-120"/>
                        </a:rPr>
                        <a:t>100%</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40</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00000"/>
                          </a:solidFill>
                          <a:latin typeface="Malgun Gothic" pitchFamily="34" charset="0"/>
                          <a:ea typeface="Malgun Gothic" pitchFamily="34" charset="-122"/>
                          <a:cs typeface="Malgun Gothic" pitchFamily="34" charset="-120"/>
                        </a:rPr>
                        <a:t>3.6</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2E7D32"/>
                          </a:solidFill>
                          <a:latin typeface="Malgun Gothic" pitchFamily="34" charset="0"/>
                          <a:ea typeface="Malgun Gothic" pitchFamily="34" charset="-122"/>
                          <a:cs typeface="Malgun Gothic" pitchFamily="34" charset="-120"/>
                        </a:rPr>
                        <a:t>+2.6</a:t>
                      </a:r>
                      <a:endParaRPr lang="en-US" sz="85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ext 13"/>
          <p:cNvSpPr/>
          <p:nvPr/>
        </p:nvSpPr>
        <p:spPr>
          <a:xfrm>
            <a:off x="457200" y="8659368"/>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삼성SDI·ICOK 추정</a:t>
            </a:r>
            <a:endParaRPr lang="en-US" sz="750" dirty="0"/>
          </a:p>
        </p:txBody>
      </p:sp>
      <p:sp>
        <p:nvSpPr>
          <p:cNvPr id="17" name="Text 14"/>
          <p:cNvSpPr/>
          <p:nvPr/>
        </p:nvSpPr>
        <p:spPr>
          <a:xfrm>
            <a:off x="2157984" y="8659368"/>
            <a:ext cx="1133856" cy="201168"/>
          </a:xfrm>
          <a:prstGeom prst="rect">
            <a:avLst/>
          </a:prstGeom>
          <a:noFill/>
          <a:ln/>
        </p:spPr>
        <p:txBody>
          <a:bodyPr wrap="square" lIns="0" tIns="0" rIns="0" bIns="0" rtlCol="0" anchor="ctr"/>
          <a:lstStyle/>
          <a:p>
            <a:pPr marL="0" indent="0" algn="r">
              <a:buNone/>
            </a:pPr>
            <a:r>
              <a:rPr lang="en-US" sz="750" i="1" dirty="0">
                <a:solidFill>
                  <a:srgbClr val="7F7F7F"/>
                </a:solidFill>
                <a:latin typeface="Malgun Gothic" pitchFamily="34" charset="0"/>
                <a:ea typeface="Malgun Gothic" pitchFamily="34" charset="-122"/>
                <a:cs typeface="Malgun Gothic" pitchFamily="34" charset="-120"/>
              </a:rPr>
              <a:t>단위: 조원·GWh</a:t>
            </a:r>
            <a:endParaRPr lang="en-US" sz="750" dirty="0"/>
          </a:p>
        </p:txBody>
      </p:sp>
      <p:sp>
        <p:nvSpPr>
          <p:cNvPr id="18" name="Shape 15"/>
          <p:cNvSpPr/>
          <p:nvPr/>
        </p:nvSpPr>
        <p:spPr>
          <a:xfrm>
            <a:off x="3566160" y="5596128"/>
            <a:ext cx="2834640" cy="256032"/>
          </a:xfrm>
          <a:prstGeom prst="rect">
            <a:avLst/>
          </a:prstGeom>
          <a:solidFill>
            <a:schemeClr val="accent1">
              <a:lumMod val="40000"/>
              <a:lumOff val="60000"/>
            </a:schemeClr>
          </a:solidFill>
          <a:ln/>
        </p:spPr>
        <p:txBody>
          <a:bodyPr/>
          <a:lstStyle/>
          <a:p>
            <a:endParaRPr lang="ko-KR" altLang="en-US"/>
          </a:p>
        </p:txBody>
      </p:sp>
      <p:sp>
        <p:nvSpPr>
          <p:cNvPr id="19" name="Text 16"/>
          <p:cNvSpPr/>
          <p:nvPr/>
        </p:nvSpPr>
        <p:spPr>
          <a:xfrm>
            <a:off x="3621024" y="5596128"/>
            <a:ext cx="2724912" cy="256032"/>
          </a:xfrm>
          <a:prstGeom prst="rect">
            <a:avLst/>
          </a:prstGeom>
          <a:noFill/>
          <a:ln/>
        </p:spPr>
        <p:txBody>
          <a:bodyPr wrap="square" lIns="0" tIns="0" rIns="0" bIns="0" rtlCol="0" anchor="ctr"/>
          <a:lstStyle/>
          <a:p>
            <a:pPr marL="0" indent="0" algn="l">
              <a:buNone/>
            </a:pPr>
            <a:r>
              <a:rPr lang="en-US" sz="900" b="1" dirty="0">
                <a:latin typeface="Malgun Gothic" pitchFamily="34" charset="0"/>
                <a:ea typeface="Malgun Gothic" pitchFamily="34" charset="-122"/>
                <a:cs typeface="Malgun Gothic" pitchFamily="34" charset="-120"/>
              </a:rPr>
              <a:t>[자료16] 가동률별 영업이익(조원)</a:t>
            </a:r>
            <a:endParaRPr lang="en-US" sz="900" dirty="0"/>
          </a:p>
        </p:txBody>
      </p:sp>
      <p:sp>
        <p:nvSpPr>
          <p:cNvPr id="21" name="Text 17"/>
          <p:cNvSpPr/>
          <p:nvPr/>
        </p:nvSpPr>
        <p:spPr>
          <a:xfrm>
            <a:off x="3566160" y="8659368"/>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ICOK 추정</a:t>
            </a:r>
            <a:endParaRPr lang="en-US" sz="750" dirty="0"/>
          </a:p>
        </p:txBody>
      </p:sp>
      <p:sp>
        <p:nvSpPr>
          <p:cNvPr id="22" name="Text 18"/>
          <p:cNvSpPr/>
          <p:nvPr/>
        </p:nvSpPr>
        <p:spPr>
          <a:xfrm>
            <a:off x="5266944" y="8659368"/>
            <a:ext cx="1133856" cy="201168"/>
          </a:xfrm>
          <a:prstGeom prst="rect">
            <a:avLst/>
          </a:prstGeom>
          <a:noFill/>
          <a:ln/>
        </p:spPr>
        <p:txBody>
          <a:bodyPr wrap="square" lIns="0" tIns="0" rIns="0" bIns="0" rtlCol="0" anchor="ctr"/>
          <a:lstStyle/>
          <a:p>
            <a:pPr marL="0" indent="0" algn="r">
              <a:buNone/>
            </a:pPr>
            <a:r>
              <a:rPr lang="en-US" sz="750" i="1" dirty="0">
                <a:solidFill>
                  <a:srgbClr val="7F7F7F"/>
                </a:solidFill>
                <a:latin typeface="Malgun Gothic" pitchFamily="34" charset="0"/>
                <a:ea typeface="Malgun Gothic" pitchFamily="34" charset="-122"/>
                <a:cs typeface="Malgun Gothic" pitchFamily="34" charset="-120"/>
              </a:rPr>
              <a:t>단위: 조원</a:t>
            </a:r>
            <a:endParaRPr lang="en-US" sz="750" dirty="0"/>
          </a:p>
        </p:txBody>
      </p:sp>
      <p:sp>
        <p:nvSpPr>
          <p:cNvPr id="23" name="TextBox 22"/>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12</a:t>
            </a:r>
          </a:p>
        </p:txBody>
      </p:sp>
      <p:pic>
        <p:nvPicPr>
          <p:cNvPr id="24" name="Picture 23" descr="ja16.png"/>
          <p:cNvPicPr>
            <a:picLocks noChangeAspect="1"/>
          </p:cNvPicPr>
          <p:nvPr/>
        </p:nvPicPr>
        <p:blipFill>
          <a:blip r:embed="rId4"/>
          <a:stretch>
            <a:fillRect/>
          </a:stretch>
        </p:blipFill>
        <p:spPr>
          <a:xfrm>
            <a:off x="3566160" y="5888736"/>
            <a:ext cx="2834640" cy="22392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1828800" cy="237744"/>
          </a:xfrm>
          <a:prstGeom prst="rect">
            <a:avLst/>
          </a:prstGeom>
          <a:noFill/>
          <a:ln/>
        </p:spPr>
        <p:txBody>
          <a:bodyPr wrap="square" lIns="0" tIns="0" rIns="0" bIns="0" rtlCol="0" anchor="ctr"/>
          <a:lstStyle/>
          <a:p>
            <a:pPr marL="0" indent="0" algn="l">
              <a:buNone/>
            </a:pPr>
            <a:r>
              <a:rPr lang="en-US" sz="900" b="1" dirty="0">
                <a:solidFill>
                  <a:srgbClr val="1F3864"/>
                </a:solidFill>
                <a:latin typeface="Malgun Gothic" pitchFamily="34" charset="0"/>
                <a:ea typeface="Malgun Gothic" pitchFamily="34" charset="-122"/>
                <a:cs typeface="Malgun Gothic" pitchFamily="34" charset="-120"/>
              </a:rPr>
              <a:t>기업분석</a:t>
            </a:r>
            <a:endParaRPr lang="en-US" sz="900" dirty="0"/>
          </a:p>
        </p:txBody>
      </p:sp>
      <p:sp>
        <p:nvSpPr>
          <p:cNvPr id="3" name="Text 1"/>
          <p:cNvSpPr/>
          <p:nvPr/>
        </p:nvSpPr>
        <p:spPr>
          <a:xfrm>
            <a:off x="2743200" y="182880"/>
            <a:ext cx="3657600" cy="237744"/>
          </a:xfrm>
          <a:prstGeom prst="rect">
            <a:avLst/>
          </a:prstGeom>
          <a:noFill/>
          <a:ln/>
        </p:spPr>
        <p:txBody>
          <a:bodyPr wrap="square" lIns="0" tIns="0" rIns="0" bIns="0" rtlCol="0" anchor="ctr"/>
          <a:lstStyle/>
          <a:p>
            <a:pPr marL="0" indent="0" algn="r">
              <a:buNone/>
            </a:pPr>
            <a:r>
              <a:rPr lang="en-US" sz="900" dirty="0">
                <a:solidFill>
                  <a:srgbClr val="1F3864"/>
                </a:solidFill>
                <a:latin typeface="Malgun Gothic" pitchFamily="34" charset="0"/>
                <a:ea typeface="Malgun Gothic" pitchFamily="34" charset="-122"/>
                <a:cs typeface="Malgun Gothic" pitchFamily="34" charset="-120"/>
              </a:rPr>
              <a:t>Company Research Report  |  </a:t>
            </a:r>
            <a:r>
              <a:rPr lang="en-US" sz="900" b="1" dirty="0">
                <a:solidFill>
                  <a:srgbClr val="1F3864"/>
                </a:solidFill>
                <a:latin typeface="Malgun Gothic" pitchFamily="34" charset="0"/>
                <a:ea typeface="Malgun Gothic" pitchFamily="34" charset="-122"/>
                <a:cs typeface="Malgun Gothic" pitchFamily="34" charset="-120"/>
              </a:rPr>
              <a:t>삼성SDI (006400)</a:t>
            </a:r>
            <a:endParaRPr lang="en-US" sz="900" dirty="0"/>
          </a:p>
        </p:txBody>
      </p:sp>
      <p:sp>
        <p:nvSpPr>
          <p:cNvPr id="4" name="Shape 2"/>
          <p:cNvSpPr/>
          <p:nvPr/>
        </p:nvSpPr>
        <p:spPr>
          <a:xfrm>
            <a:off x="457200" y="457200"/>
            <a:ext cx="5943600" cy="0"/>
          </a:xfrm>
          <a:prstGeom prst="line">
            <a:avLst/>
          </a:prstGeom>
          <a:noFill/>
          <a:ln w="15875">
            <a:solidFill>
              <a:srgbClr val="1F3864"/>
            </a:solidFill>
            <a:prstDash val="solid"/>
          </a:ln>
        </p:spPr>
        <p:txBody>
          <a:bodyPr/>
          <a:lstStyle/>
          <a:p>
            <a:endParaRPr lang="ko-KR" altLang="en-US"/>
          </a:p>
        </p:txBody>
      </p:sp>
      <p:sp>
        <p:nvSpPr>
          <p:cNvPr id="6" name="Text 4"/>
          <p:cNvSpPr/>
          <p:nvPr/>
        </p:nvSpPr>
        <p:spPr>
          <a:xfrm>
            <a:off x="1136709" y="576072"/>
            <a:ext cx="5943600" cy="365760"/>
          </a:xfrm>
          <a:prstGeom prst="rect">
            <a:avLst/>
          </a:prstGeom>
          <a:noFill/>
          <a:ln/>
        </p:spPr>
        <p:txBody>
          <a:bodyPr wrap="square" lIns="0" tIns="0" rIns="0" bIns="0" rtlCol="0" anchor="ctr"/>
          <a:lstStyle/>
          <a:p>
            <a:pPr marL="0" indent="0" algn="l">
              <a:buNone/>
            </a:pPr>
            <a:r>
              <a:rPr lang="en-US" sz="1100" b="1" dirty="0">
                <a:solidFill>
                  <a:srgbClr val="1F3864"/>
                </a:solidFill>
                <a:latin typeface="Malgun Gothic" pitchFamily="34" charset="0"/>
                <a:ea typeface="Malgun Gothic" pitchFamily="34" charset="-122"/>
                <a:cs typeface="Malgun Gothic" pitchFamily="34" charset="-120"/>
              </a:rPr>
              <a:t>2.4  </a:t>
            </a:r>
            <a:r>
              <a:rPr lang="en-US" sz="1100" b="1" dirty="0">
                <a:solidFill>
                  <a:srgbClr val="000000"/>
                </a:solidFill>
                <a:latin typeface="Malgun Gothic" pitchFamily="34" charset="0"/>
                <a:ea typeface="Malgun Gothic" pitchFamily="34" charset="-122"/>
                <a:cs typeface="Malgun Gothic" pitchFamily="34" charset="-120"/>
              </a:rPr>
              <a:t>재무분석</a:t>
            </a:r>
            <a:endParaRPr lang="en-US" sz="1100" dirty="0"/>
          </a:p>
        </p:txBody>
      </p:sp>
      <p:sp>
        <p:nvSpPr>
          <p:cNvPr id="7" name="Text 5"/>
          <p:cNvSpPr/>
          <p:nvPr/>
        </p:nvSpPr>
        <p:spPr>
          <a:xfrm>
            <a:off x="1136709" y="909786"/>
            <a:ext cx="5943600" cy="274320"/>
          </a:xfrm>
          <a:prstGeom prst="rect">
            <a:avLst/>
          </a:prstGeom>
          <a:noFill/>
          <a:ln/>
        </p:spPr>
        <p:txBody>
          <a:bodyPr wrap="square" lIns="0" tIns="0" rIns="0" bIns="0" rtlCol="0" anchor="ctr"/>
          <a:lstStyle/>
          <a:p>
            <a:pPr marL="0" indent="0" algn="l">
              <a:buNone/>
            </a:pPr>
            <a:r>
              <a:rPr lang="en-US" sz="1000" b="1" dirty="0">
                <a:solidFill>
                  <a:srgbClr val="2E5496"/>
                </a:solidFill>
                <a:latin typeface="Malgun Gothic" pitchFamily="34" charset="0"/>
                <a:ea typeface="Malgun Gothic" pitchFamily="34" charset="-122"/>
                <a:cs typeface="Malgun Gothic" pitchFamily="34" charset="-120"/>
              </a:rPr>
              <a:t>2.4.1  </a:t>
            </a:r>
            <a:r>
              <a:rPr lang="en-US" sz="1000" b="1" dirty="0">
                <a:solidFill>
                  <a:srgbClr val="1F3864"/>
                </a:solidFill>
                <a:latin typeface="Malgun Gothic" pitchFamily="34" charset="0"/>
                <a:ea typeface="Malgun Gothic" pitchFamily="34" charset="-122"/>
                <a:cs typeface="Malgun Gothic" pitchFamily="34" charset="-120"/>
              </a:rPr>
              <a:t>수익성 분석 — 2025년 적자 저점, 4Q GPM 21% 회복이 반등 신호</a:t>
            </a:r>
            <a:endParaRPr lang="en-US" sz="1000" dirty="0"/>
          </a:p>
        </p:txBody>
      </p:sp>
      <p:sp>
        <p:nvSpPr>
          <p:cNvPr id="8" name="Text 6"/>
          <p:cNvSpPr/>
          <p:nvPr/>
        </p:nvSpPr>
        <p:spPr>
          <a:xfrm>
            <a:off x="1005840" y="1225296"/>
            <a:ext cx="5349240" cy="1325880"/>
          </a:xfrm>
          <a:prstGeom prst="rect">
            <a:avLst/>
          </a:prstGeom>
          <a:noFill/>
          <a:ln/>
        </p:spPr>
        <p:txBody>
          <a:bodyPr wrap="square" rtlCol="0" anchor="t"/>
          <a:lstStyle/>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영업이익률 7.2%(’23)→2.2%(’24)→-13.0%(’25), 순이익률 9.1%→3.5%→-4.4%로 적자 전환.</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ROA 6.1%→-1.4%, ROE 10.4%→-2.5%. EV·소형 출하 감소 + 가동률 하락 고정비 + 감가상각 증가가 동시 작동.</a:t>
            </a:r>
            <a:endParaRPr lang="en-US" sz="950" dirty="0"/>
          </a:p>
          <a:p>
            <a:pPr marL="152400" indent="-152400" algn="l">
              <a:lnSpc>
                <a:spcPct val="104000"/>
              </a:lnSpc>
              <a:spcAft>
                <a:spcPts val="400"/>
              </a:spcAft>
              <a:buSzPct val="100000"/>
              <a:buChar char="•"/>
            </a:pPr>
            <a:r>
              <a:rPr lang="en-US" sz="1000" b="1" dirty="0">
                <a:solidFill>
                  <a:srgbClr val="2E7D32"/>
                </a:solidFill>
                <a:latin typeface="Malgun Gothic" pitchFamily="34" charset="0"/>
                <a:ea typeface="Malgun Gothic" pitchFamily="34" charset="-122"/>
                <a:cs typeface="Malgun Gothic" pitchFamily="34" charset="-120"/>
              </a:rPr>
              <a:t>다만 4Q 배터리 GPM 약 21% 회복</a:t>
            </a:r>
            <a:r>
              <a:rPr lang="en-US" sz="1000" dirty="0">
                <a:solidFill>
                  <a:srgbClr val="000000"/>
                </a:solidFill>
                <a:latin typeface="Malgun Gothic" pitchFamily="34" charset="0"/>
                <a:ea typeface="Malgun Gothic" pitchFamily="34" charset="-122"/>
                <a:cs typeface="Malgun Gothic" pitchFamily="34" charset="-120"/>
              </a:rPr>
              <a:t> → ESS 믹스 개선의 실효성, 수익성 저점이 ’25년임을 시사.</a:t>
            </a:r>
            <a:endParaRPr lang="en-US" sz="950" dirty="0"/>
          </a:p>
        </p:txBody>
      </p:sp>
      <p:sp>
        <p:nvSpPr>
          <p:cNvPr id="9" name="Text 7"/>
          <p:cNvSpPr/>
          <p:nvPr/>
        </p:nvSpPr>
        <p:spPr>
          <a:xfrm>
            <a:off x="1136709" y="2587752"/>
            <a:ext cx="5943600" cy="274320"/>
          </a:xfrm>
          <a:prstGeom prst="rect">
            <a:avLst/>
          </a:prstGeom>
          <a:noFill/>
          <a:ln/>
        </p:spPr>
        <p:txBody>
          <a:bodyPr wrap="square" lIns="0" tIns="0" rIns="0" bIns="0" rtlCol="0" anchor="ctr"/>
          <a:lstStyle/>
          <a:p>
            <a:pPr marL="0" indent="0" algn="l">
              <a:buNone/>
            </a:pPr>
            <a:r>
              <a:rPr lang="en-US" sz="1000" b="1" dirty="0">
                <a:solidFill>
                  <a:srgbClr val="2E5496"/>
                </a:solidFill>
                <a:latin typeface="Malgun Gothic" pitchFamily="34" charset="0"/>
                <a:ea typeface="Malgun Gothic" pitchFamily="34" charset="-122"/>
                <a:cs typeface="Malgun Gothic" pitchFamily="34" charset="-120"/>
              </a:rPr>
              <a:t>2.4.2  </a:t>
            </a:r>
            <a:r>
              <a:rPr lang="en-US" sz="1000" b="1" dirty="0">
                <a:solidFill>
                  <a:srgbClr val="1F3864"/>
                </a:solidFill>
                <a:latin typeface="Malgun Gothic" pitchFamily="34" charset="0"/>
                <a:ea typeface="Malgun Gothic" pitchFamily="34" charset="-122"/>
                <a:cs typeface="Malgun Gothic" pitchFamily="34" charset="-120"/>
              </a:rPr>
              <a:t>안정성 분석 — 부채는 견조, 부담은 순차입금 상승</a:t>
            </a:r>
            <a:endParaRPr lang="en-US" sz="1000" dirty="0"/>
          </a:p>
        </p:txBody>
      </p:sp>
      <p:sp>
        <p:nvSpPr>
          <p:cNvPr id="10" name="Text 8"/>
          <p:cNvSpPr/>
          <p:nvPr/>
        </p:nvSpPr>
        <p:spPr>
          <a:xfrm>
            <a:off x="1005840" y="2907792"/>
            <a:ext cx="5349240" cy="1325880"/>
          </a:xfrm>
          <a:prstGeom prst="rect">
            <a:avLst/>
          </a:prstGeom>
          <a:noFill/>
          <a:ln/>
        </p:spPr>
        <p:txBody>
          <a:bodyPr wrap="square" rtlCol="0" anchor="t"/>
          <a:lstStyle/>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부채비율 71.0%(’23)→88.2%(’24)→79.3%(’25)로 </a:t>
            </a:r>
            <a:r>
              <a:rPr lang="en-US" sz="1000" b="1" dirty="0">
                <a:solidFill>
                  <a:srgbClr val="000000"/>
                </a:solidFill>
                <a:latin typeface="Malgun Gothic" pitchFamily="34" charset="0"/>
                <a:ea typeface="Malgun Gothic" pitchFamily="34" charset="-122"/>
                <a:cs typeface="Malgun Gothic" pitchFamily="34" charset="-120"/>
              </a:rPr>
              <a:t>100% 미만 유지</a:t>
            </a:r>
            <a:r>
              <a:rPr lang="en-US" sz="1000" dirty="0">
                <a:solidFill>
                  <a:srgbClr val="000000"/>
                </a:solidFill>
                <a:latin typeface="Malgun Gothic" pitchFamily="34" charset="0"/>
                <a:ea typeface="Malgun Gothic" pitchFamily="34" charset="-122"/>
                <a:cs typeface="Malgun Gothic" pitchFamily="34" charset="-120"/>
              </a:rPr>
              <a:t> — LG엔솔·SK온 대비 낮은 그룹 보수적 기조.</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차입금의존도 27%로 위험선(30%) 하회, 다수 현금성 자산 보유로 단기 지급능력 양호.</a:t>
            </a:r>
            <a:endParaRPr lang="en-US" sz="950" dirty="0"/>
          </a:p>
          <a:p>
            <a:pPr marL="152400" indent="-152400" algn="l">
              <a:lnSpc>
                <a:spcPct val="104000"/>
              </a:lnSpc>
              <a:spcAft>
                <a:spcPts val="400"/>
              </a:spcAft>
              <a:buSzPct val="100000"/>
              <a:buChar char="•"/>
            </a:pPr>
            <a:r>
              <a:rPr lang="en-US" sz="1000" b="1" dirty="0">
                <a:solidFill>
                  <a:srgbClr val="C00000"/>
                </a:solidFill>
                <a:latin typeface="Malgun Gothic" pitchFamily="34" charset="0"/>
                <a:ea typeface="Malgun Gothic" pitchFamily="34" charset="-122"/>
                <a:cs typeface="Malgun Gothic" pitchFamily="34" charset="-120"/>
              </a:rPr>
              <a:t>단, 순차입금비율 18.3%→44.5%(’24)→38.1%로 상승</a:t>
            </a:r>
            <a:r>
              <a:rPr lang="en-US" sz="1000" dirty="0">
                <a:solidFill>
                  <a:srgbClr val="000000"/>
                </a:solidFill>
                <a:latin typeface="Malgun Gothic" pitchFamily="34" charset="0"/>
                <a:ea typeface="Malgun Gothic" pitchFamily="34" charset="-122"/>
                <a:cs typeface="Malgun Gothic" pitchFamily="34" charset="-120"/>
              </a:rPr>
              <a:t> — 증설 투자 확대에 따른 부담 증가.</a:t>
            </a:r>
            <a:endParaRPr lang="en-US" sz="950" dirty="0"/>
          </a:p>
        </p:txBody>
      </p:sp>
      <p:sp>
        <p:nvSpPr>
          <p:cNvPr id="13" name="Shape 11"/>
          <p:cNvSpPr/>
          <p:nvPr/>
        </p:nvSpPr>
        <p:spPr>
          <a:xfrm>
            <a:off x="457200" y="5074920"/>
            <a:ext cx="2834640" cy="256032"/>
          </a:xfrm>
          <a:prstGeom prst="rect">
            <a:avLst/>
          </a:prstGeom>
          <a:solidFill>
            <a:schemeClr val="accent1">
              <a:lumMod val="40000"/>
              <a:lumOff val="60000"/>
            </a:schemeClr>
          </a:solidFill>
          <a:ln/>
        </p:spPr>
        <p:txBody>
          <a:bodyPr/>
          <a:lstStyle/>
          <a:p>
            <a:endParaRPr lang="ko-KR" altLang="en-US"/>
          </a:p>
        </p:txBody>
      </p:sp>
      <p:sp>
        <p:nvSpPr>
          <p:cNvPr id="14" name="Text 12"/>
          <p:cNvSpPr/>
          <p:nvPr/>
        </p:nvSpPr>
        <p:spPr>
          <a:xfrm>
            <a:off x="512064" y="5074920"/>
            <a:ext cx="2724912" cy="256032"/>
          </a:xfrm>
          <a:prstGeom prst="rect">
            <a:avLst/>
          </a:prstGeom>
          <a:noFill/>
          <a:ln/>
        </p:spPr>
        <p:txBody>
          <a:bodyPr wrap="square" lIns="0" tIns="0" rIns="0" bIns="0" rtlCol="0" anchor="ctr"/>
          <a:lstStyle/>
          <a:p>
            <a:pPr marL="0" indent="0" algn="l">
              <a:buNone/>
            </a:pPr>
            <a:r>
              <a:rPr lang="en-US" sz="900" b="1" dirty="0">
                <a:latin typeface="Malgun Gothic" pitchFamily="34" charset="0"/>
                <a:ea typeface="Malgun Gothic" pitchFamily="34" charset="-122"/>
                <a:cs typeface="Malgun Gothic" pitchFamily="34" charset="-120"/>
              </a:rPr>
              <a:t>[자료17] 주요 재무비율 추이</a:t>
            </a:r>
            <a:endParaRPr lang="en-US" sz="900" dirty="0"/>
          </a:p>
        </p:txBody>
      </p:sp>
      <p:graphicFrame>
        <p:nvGraphicFramePr>
          <p:cNvPr id="15" name="Table 0"/>
          <p:cNvGraphicFramePr>
            <a:graphicFrameLocks noGrp="1"/>
          </p:cNvGraphicFramePr>
          <p:nvPr/>
        </p:nvGraphicFramePr>
        <p:xfrm>
          <a:off x="457200" y="5367528"/>
          <a:ext cx="2834640" cy="2715768"/>
        </p:xfrm>
        <a:graphic>
          <a:graphicData uri="http://schemas.openxmlformats.org/drawingml/2006/table">
            <a:tbl>
              <a:tblPr/>
              <a:tblGrid>
                <a:gridCol w="1133856">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566928">
                  <a:extLst>
                    <a:ext uri="{9D8B030D-6E8A-4147-A177-3AD203B41FA5}">
                      <a16:colId xmlns:a16="http://schemas.microsoft.com/office/drawing/2014/main" val="20003"/>
                    </a:ext>
                  </a:extLst>
                </a:gridCol>
              </a:tblGrid>
              <a:tr h="301752">
                <a:tc>
                  <a:txBody>
                    <a:bodyPr/>
                    <a:lstStyle/>
                    <a:p>
                      <a:pPr marL="0" indent="0" algn="ctr">
                        <a:buNone/>
                      </a:pPr>
                      <a:r>
                        <a:rPr lang="en-US" sz="800" b="1" dirty="0">
                          <a:solidFill>
                            <a:srgbClr val="FFFFFF"/>
                          </a:solidFill>
                          <a:latin typeface="Malgun Gothic" pitchFamily="34" charset="0"/>
                          <a:ea typeface="Malgun Gothic" pitchFamily="34" charset="-122"/>
                          <a:cs typeface="Malgun Gothic" pitchFamily="34" charset="-120"/>
                        </a:rPr>
                        <a:t>지표</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800" b="1" dirty="0">
                          <a:solidFill>
                            <a:srgbClr val="FFFFFF"/>
                          </a:solidFill>
                          <a:latin typeface="Malgun Gothic" pitchFamily="34" charset="0"/>
                          <a:ea typeface="Malgun Gothic" pitchFamily="34" charset="-122"/>
                          <a:cs typeface="Malgun Gothic" pitchFamily="34" charset="-120"/>
                        </a:rPr>
                        <a:t>2023A</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800" b="1" dirty="0">
                          <a:solidFill>
                            <a:srgbClr val="FFFFFF"/>
                          </a:solidFill>
                          <a:latin typeface="Malgun Gothic" pitchFamily="34" charset="0"/>
                          <a:ea typeface="Malgun Gothic" pitchFamily="34" charset="-122"/>
                          <a:cs typeface="Malgun Gothic" pitchFamily="34" charset="-120"/>
                        </a:rPr>
                        <a:t>2024A</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800" b="1" dirty="0">
                          <a:solidFill>
                            <a:srgbClr val="FFFFFF"/>
                          </a:solidFill>
                          <a:latin typeface="Malgun Gothic" pitchFamily="34" charset="0"/>
                          <a:ea typeface="Malgun Gothic" pitchFamily="34" charset="-122"/>
                          <a:cs typeface="Malgun Gothic" pitchFamily="34" charset="-120"/>
                        </a:rPr>
                        <a:t>2025A</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영업이익률</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7.2%</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2.2%</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C00000"/>
                          </a:solidFill>
                          <a:latin typeface="Malgun Gothic" pitchFamily="34" charset="0"/>
                          <a:ea typeface="Malgun Gothic" pitchFamily="34" charset="-122"/>
                          <a:cs typeface="Malgun Gothic" pitchFamily="34" charset="-120"/>
                        </a:rPr>
                        <a:t>-13.0%</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순이익률</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9.1%</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3.5%</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C00000"/>
                          </a:solidFill>
                          <a:latin typeface="Malgun Gothic" pitchFamily="34" charset="0"/>
                          <a:ea typeface="Malgun Gothic" pitchFamily="34" charset="-122"/>
                          <a:cs typeface="Malgun Gothic" pitchFamily="34" charset="-120"/>
                        </a:rPr>
                        <a:t>-4.4%</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extLst>
                  <a:ext uri="{0D108BD9-81ED-4DB2-BD59-A6C34878D82A}">
                    <a16:rowId xmlns:a16="http://schemas.microsoft.com/office/drawing/2014/main" val="10002"/>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ROA (추정)</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6.1%</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1.5%</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C00000"/>
                          </a:solidFill>
                          <a:latin typeface="Malgun Gothic" pitchFamily="34" charset="0"/>
                          <a:ea typeface="Malgun Gothic" pitchFamily="34" charset="-122"/>
                          <a:cs typeface="Malgun Gothic" pitchFamily="34" charset="-120"/>
                        </a:rPr>
                        <a:t>-1.4%</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ROE (추정)</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10.4%</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2.8%</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C00000"/>
                          </a:solidFill>
                          <a:latin typeface="Malgun Gothic" pitchFamily="34" charset="0"/>
                          <a:ea typeface="Malgun Gothic" pitchFamily="34" charset="-122"/>
                          <a:cs typeface="Malgun Gothic" pitchFamily="34" charset="-120"/>
                        </a:rPr>
                        <a:t>-2.5%</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extLst>
                  <a:ext uri="{0D108BD9-81ED-4DB2-BD59-A6C34878D82A}">
                    <a16:rowId xmlns:a16="http://schemas.microsoft.com/office/drawing/2014/main" val="10004"/>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부채비율</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71.0%</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88.2%</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79.3%</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순차입금비율</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18.3%</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44.5%</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38.1%</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extLst>
                  <a:ext uri="{0D108BD9-81ED-4DB2-BD59-A6C34878D82A}">
                    <a16:rowId xmlns:a16="http://schemas.microsoft.com/office/drawing/2014/main" val="10006"/>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차입금의존도</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n/a</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28.5%</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27.1%</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l">
                        <a:buNone/>
                      </a:pPr>
                      <a:r>
                        <a:rPr lang="en-US" sz="800" b="1" dirty="0">
                          <a:solidFill>
                            <a:srgbClr val="000000"/>
                          </a:solidFill>
                          <a:latin typeface="Malgun Gothic" pitchFamily="34" charset="0"/>
                          <a:ea typeface="Malgun Gothic" pitchFamily="34" charset="-122"/>
                          <a:cs typeface="Malgun Gothic" pitchFamily="34" charset="-120"/>
                        </a:rPr>
                        <a:t>총자산회전율</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0.67회</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0.43회</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tc>
                  <a:txBody>
                    <a:bodyPr/>
                    <a:lstStyle/>
                    <a:p>
                      <a:pPr marL="0" indent="0" algn="ctr">
                        <a:buNone/>
                      </a:pPr>
                      <a:r>
                        <a:rPr lang="en-US" sz="800" dirty="0">
                          <a:solidFill>
                            <a:srgbClr val="000000"/>
                          </a:solidFill>
                          <a:latin typeface="Malgun Gothic" pitchFamily="34" charset="0"/>
                          <a:ea typeface="Malgun Gothic" pitchFamily="34" charset="-122"/>
                          <a:cs typeface="Malgun Gothic" pitchFamily="34" charset="-120"/>
                        </a:rPr>
                        <a:t>0.31회</a:t>
                      </a:r>
                      <a:endParaRPr lang="en-US" sz="800" dirty="0">
                        <a:latin typeface="Malgun Gothic" charset="0"/>
                        <a:ea typeface="Malgun Gothic" charset="0"/>
                        <a:cs typeface="Malgun Gothic"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1FA"/>
                    </a:solidFill>
                  </a:tcPr>
                </a:tc>
                <a:extLst>
                  <a:ext uri="{0D108BD9-81ED-4DB2-BD59-A6C34878D82A}">
                    <a16:rowId xmlns:a16="http://schemas.microsoft.com/office/drawing/2014/main" val="10008"/>
                  </a:ext>
                </a:extLst>
              </a:tr>
            </a:tbl>
          </a:graphicData>
        </a:graphic>
      </p:graphicFrame>
      <p:sp>
        <p:nvSpPr>
          <p:cNvPr id="16" name="Text 13"/>
          <p:cNvSpPr/>
          <p:nvPr/>
        </p:nvSpPr>
        <p:spPr>
          <a:xfrm>
            <a:off x="457200" y="8257032"/>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DART·증권사, ROA/ROE/회전율 ICOK 자체 산정</a:t>
            </a:r>
            <a:endParaRPr lang="en-US" sz="750" dirty="0"/>
          </a:p>
        </p:txBody>
      </p:sp>
      <p:sp>
        <p:nvSpPr>
          <p:cNvPr id="17" name="Shape 14"/>
          <p:cNvSpPr/>
          <p:nvPr/>
        </p:nvSpPr>
        <p:spPr>
          <a:xfrm>
            <a:off x="3566160" y="5074920"/>
            <a:ext cx="2834640" cy="256032"/>
          </a:xfrm>
          <a:prstGeom prst="rect">
            <a:avLst/>
          </a:prstGeom>
          <a:solidFill>
            <a:schemeClr val="accent1">
              <a:lumMod val="40000"/>
              <a:lumOff val="60000"/>
            </a:schemeClr>
          </a:solidFill>
          <a:ln/>
        </p:spPr>
        <p:txBody>
          <a:bodyPr/>
          <a:lstStyle/>
          <a:p>
            <a:endParaRPr lang="ko-KR" altLang="en-US"/>
          </a:p>
        </p:txBody>
      </p:sp>
      <p:sp>
        <p:nvSpPr>
          <p:cNvPr id="18" name="Text 15"/>
          <p:cNvSpPr/>
          <p:nvPr/>
        </p:nvSpPr>
        <p:spPr>
          <a:xfrm>
            <a:off x="3621024" y="5074920"/>
            <a:ext cx="2724912" cy="256032"/>
          </a:xfrm>
          <a:prstGeom prst="rect">
            <a:avLst/>
          </a:prstGeom>
          <a:noFill/>
          <a:ln/>
        </p:spPr>
        <p:txBody>
          <a:bodyPr wrap="square" lIns="0" tIns="0" rIns="0" bIns="0" rtlCol="0" anchor="ctr"/>
          <a:lstStyle/>
          <a:p>
            <a:pPr marL="0" indent="0" algn="l">
              <a:buNone/>
            </a:pPr>
            <a:r>
              <a:rPr lang="en-US" sz="900" b="1" dirty="0">
                <a:solidFill>
                  <a:sysClr val="windowText" lastClr="000000"/>
                </a:solidFill>
                <a:latin typeface="Malgun Gothic" pitchFamily="34" charset="0"/>
                <a:ea typeface="Malgun Gothic" pitchFamily="34" charset="-122"/>
                <a:cs typeface="Malgun Gothic" pitchFamily="34" charset="-120"/>
              </a:rPr>
              <a:t>[자료18] 수익성 지표 추이(%)</a:t>
            </a:r>
            <a:endParaRPr lang="en-US" sz="900" dirty="0">
              <a:solidFill>
                <a:sysClr val="windowText" lastClr="000000"/>
              </a:solidFill>
            </a:endParaRPr>
          </a:p>
        </p:txBody>
      </p:sp>
      <p:sp>
        <p:nvSpPr>
          <p:cNvPr id="20" name="Text 16"/>
          <p:cNvSpPr/>
          <p:nvPr/>
        </p:nvSpPr>
        <p:spPr>
          <a:xfrm>
            <a:off x="3566160" y="8366760"/>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DART, ICOK 자체 산정</a:t>
            </a:r>
            <a:endParaRPr lang="en-US" sz="750" dirty="0"/>
          </a:p>
        </p:txBody>
      </p:sp>
      <p:sp>
        <p:nvSpPr>
          <p:cNvPr id="21" name="Text 17"/>
          <p:cNvSpPr/>
          <p:nvPr/>
        </p:nvSpPr>
        <p:spPr>
          <a:xfrm>
            <a:off x="5266944" y="8366760"/>
            <a:ext cx="1133856" cy="201168"/>
          </a:xfrm>
          <a:prstGeom prst="rect">
            <a:avLst/>
          </a:prstGeom>
          <a:noFill/>
          <a:ln/>
        </p:spPr>
        <p:txBody>
          <a:bodyPr wrap="square" lIns="0" tIns="0" rIns="0" bIns="0" rtlCol="0" anchor="ctr"/>
          <a:lstStyle/>
          <a:p>
            <a:pPr marL="0" indent="0" algn="r">
              <a:buNone/>
            </a:pPr>
            <a:r>
              <a:rPr lang="en-US" sz="750" i="1" dirty="0">
                <a:solidFill>
                  <a:srgbClr val="7F7F7F"/>
                </a:solidFill>
                <a:latin typeface="Malgun Gothic" pitchFamily="34" charset="0"/>
                <a:ea typeface="Malgun Gothic" pitchFamily="34" charset="-122"/>
                <a:cs typeface="Malgun Gothic" pitchFamily="34" charset="-120"/>
              </a:rPr>
              <a:t>단위: %</a:t>
            </a:r>
            <a:endParaRPr lang="en-US" sz="750" dirty="0"/>
          </a:p>
        </p:txBody>
      </p:sp>
      <p:sp>
        <p:nvSpPr>
          <p:cNvPr id="22" name="TextBox 21"/>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13</a:t>
            </a:r>
          </a:p>
        </p:txBody>
      </p:sp>
      <p:pic>
        <p:nvPicPr>
          <p:cNvPr id="23" name="Picture 22" descr="ja18.png"/>
          <p:cNvPicPr>
            <a:picLocks noChangeAspect="1"/>
          </p:cNvPicPr>
          <p:nvPr/>
        </p:nvPicPr>
        <p:blipFill>
          <a:blip r:embed="rId4"/>
          <a:stretch>
            <a:fillRect/>
          </a:stretch>
        </p:blipFill>
        <p:spPr>
          <a:xfrm>
            <a:off x="3566160" y="5367528"/>
            <a:ext cx="2834640" cy="22485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1828800" cy="237744"/>
          </a:xfrm>
          <a:prstGeom prst="rect">
            <a:avLst/>
          </a:prstGeom>
          <a:noFill/>
          <a:ln/>
        </p:spPr>
        <p:txBody>
          <a:bodyPr wrap="square" lIns="0" tIns="0" rIns="0" bIns="0" rtlCol="0" anchor="ctr"/>
          <a:lstStyle/>
          <a:p>
            <a:pPr marL="0" indent="0" algn="l">
              <a:buNone/>
            </a:pPr>
            <a:r>
              <a:rPr lang="en-US" sz="900" b="1" dirty="0">
                <a:solidFill>
                  <a:srgbClr val="1F3864"/>
                </a:solidFill>
                <a:latin typeface="Malgun Gothic" pitchFamily="34" charset="0"/>
                <a:ea typeface="Malgun Gothic" pitchFamily="34" charset="-122"/>
                <a:cs typeface="Malgun Gothic" pitchFamily="34" charset="-120"/>
              </a:rPr>
              <a:t>기업분석</a:t>
            </a:r>
            <a:endParaRPr lang="en-US" sz="900" dirty="0"/>
          </a:p>
        </p:txBody>
      </p:sp>
      <p:sp>
        <p:nvSpPr>
          <p:cNvPr id="3" name="Text 1"/>
          <p:cNvSpPr/>
          <p:nvPr/>
        </p:nvSpPr>
        <p:spPr>
          <a:xfrm>
            <a:off x="2743200" y="182880"/>
            <a:ext cx="3657600" cy="237744"/>
          </a:xfrm>
          <a:prstGeom prst="rect">
            <a:avLst/>
          </a:prstGeom>
          <a:noFill/>
          <a:ln/>
        </p:spPr>
        <p:txBody>
          <a:bodyPr wrap="square" lIns="0" tIns="0" rIns="0" bIns="0" rtlCol="0" anchor="ctr"/>
          <a:lstStyle/>
          <a:p>
            <a:pPr marL="0" indent="0" algn="r">
              <a:buNone/>
            </a:pPr>
            <a:r>
              <a:rPr lang="en-US" sz="900" dirty="0">
                <a:solidFill>
                  <a:srgbClr val="1F3864"/>
                </a:solidFill>
                <a:latin typeface="Malgun Gothic" pitchFamily="34" charset="0"/>
                <a:ea typeface="Malgun Gothic" pitchFamily="34" charset="-122"/>
                <a:cs typeface="Malgun Gothic" pitchFamily="34" charset="-120"/>
              </a:rPr>
              <a:t>Company Research Report  |  </a:t>
            </a:r>
            <a:r>
              <a:rPr lang="en-US" sz="900" b="1" dirty="0">
                <a:solidFill>
                  <a:srgbClr val="1F3864"/>
                </a:solidFill>
                <a:latin typeface="Malgun Gothic" pitchFamily="34" charset="0"/>
                <a:ea typeface="Malgun Gothic" pitchFamily="34" charset="-122"/>
                <a:cs typeface="Malgun Gothic" pitchFamily="34" charset="-120"/>
              </a:rPr>
              <a:t>삼성SDI (006400)</a:t>
            </a:r>
            <a:endParaRPr lang="en-US" sz="900" dirty="0"/>
          </a:p>
        </p:txBody>
      </p:sp>
      <p:sp>
        <p:nvSpPr>
          <p:cNvPr id="4" name="Shape 2"/>
          <p:cNvSpPr/>
          <p:nvPr/>
        </p:nvSpPr>
        <p:spPr>
          <a:xfrm>
            <a:off x="457200" y="457200"/>
            <a:ext cx="5943600" cy="0"/>
          </a:xfrm>
          <a:prstGeom prst="line">
            <a:avLst/>
          </a:prstGeom>
          <a:noFill/>
          <a:ln w="15875">
            <a:solidFill>
              <a:srgbClr val="1F3864"/>
            </a:solidFill>
            <a:prstDash val="solid"/>
          </a:ln>
        </p:spPr>
        <p:txBody>
          <a:bodyPr/>
          <a:lstStyle/>
          <a:p>
            <a:endParaRPr lang="ko-KR" altLang="en-US"/>
          </a:p>
        </p:txBody>
      </p:sp>
      <p:sp>
        <p:nvSpPr>
          <p:cNvPr id="7" name="Text 5"/>
          <p:cNvSpPr/>
          <p:nvPr/>
        </p:nvSpPr>
        <p:spPr>
          <a:xfrm>
            <a:off x="1069848" y="889233"/>
            <a:ext cx="5943600" cy="274320"/>
          </a:xfrm>
          <a:prstGeom prst="rect">
            <a:avLst/>
          </a:prstGeom>
          <a:noFill/>
          <a:ln/>
        </p:spPr>
        <p:txBody>
          <a:bodyPr wrap="square" lIns="0" tIns="0" rIns="0" bIns="0" rtlCol="0" anchor="ctr"/>
          <a:lstStyle/>
          <a:p>
            <a:pPr marL="0" indent="0" algn="l">
              <a:buNone/>
            </a:pPr>
            <a:r>
              <a:rPr lang="en-US" sz="1050" b="1" dirty="0">
                <a:latin typeface="Malgun Gothic" pitchFamily="34" charset="0"/>
                <a:ea typeface="Malgun Gothic" pitchFamily="34" charset="-122"/>
                <a:cs typeface="Malgun Gothic" pitchFamily="34" charset="-120"/>
              </a:rPr>
              <a:t>2.4.3  성장성 분석 — 매출은 줄어도 자산은 늘었다</a:t>
            </a:r>
            <a:endParaRPr lang="en-US" sz="1050" dirty="0"/>
          </a:p>
        </p:txBody>
      </p:sp>
      <p:sp>
        <p:nvSpPr>
          <p:cNvPr id="8" name="Text 6"/>
          <p:cNvSpPr/>
          <p:nvPr/>
        </p:nvSpPr>
        <p:spPr>
          <a:xfrm>
            <a:off x="1005840" y="1225296"/>
            <a:ext cx="5349240" cy="1325880"/>
          </a:xfrm>
          <a:prstGeom prst="rect">
            <a:avLst/>
          </a:prstGeom>
          <a:noFill/>
          <a:ln/>
        </p:spPr>
        <p:txBody>
          <a:bodyPr wrap="square" rtlCol="0" anchor="t"/>
          <a:lstStyle/>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매출성장률 +48.5%(’22) → -22.6%(’24) → -20.0%(’25). 영업이익은 ’24 -77.7% 후 ’25 적자전환.</a:t>
            </a:r>
            <a:endParaRPr lang="en-US" sz="950" dirty="0"/>
          </a:p>
          <a:p>
            <a:pPr marL="152400" indent="-152400" algn="l">
              <a:lnSpc>
                <a:spcPct val="104000"/>
              </a:lnSpc>
              <a:spcAft>
                <a:spcPts val="400"/>
              </a:spcAft>
              <a:buSzPct val="100000"/>
              <a:buChar char="•"/>
            </a:pPr>
            <a:r>
              <a:rPr lang="en-US" sz="1000" b="1" dirty="0">
                <a:solidFill>
                  <a:srgbClr val="000000"/>
                </a:solidFill>
                <a:latin typeface="Malgun Gothic" pitchFamily="34" charset="0"/>
                <a:ea typeface="Malgun Gothic" pitchFamily="34" charset="-122"/>
                <a:cs typeface="Malgun Gothic" pitchFamily="34" charset="-120"/>
              </a:rPr>
              <a:t>반면 총자산은 34조(’23)→약 42조(’25)로 +23% 증가</a:t>
            </a:r>
            <a:r>
              <a:rPr lang="en-US" sz="1000" dirty="0">
                <a:solidFill>
                  <a:srgbClr val="000000"/>
                </a:solidFill>
                <a:latin typeface="Malgun Gothic" pitchFamily="34" charset="0"/>
                <a:ea typeface="Malgun Gothic" pitchFamily="34" charset="-122"/>
                <a:cs typeface="Malgun Gothic" pitchFamily="34" charset="-120"/>
              </a:rPr>
              <a:t> — 헝가리·북미 JV 증설 투자 지속. 단기 감가상각 부담이나 중기 성장 옵션.</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컨센서스: ’26 매출 15.1조, ’27 19.2조(+27%), </a:t>
            </a:r>
            <a:r>
              <a:rPr lang="en-US" sz="1000" b="1" dirty="0">
                <a:solidFill>
                  <a:srgbClr val="2E7D32"/>
                </a:solidFill>
                <a:latin typeface="Malgun Gothic" pitchFamily="34" charset="0"/>
                <a:ea typeface="Malgun Gothic" pitchFamily="34" charset="-122"/>
                <a:cs typeface="Malgun Gothic" pitchFamily="34" charset="-120"/>
              </a:rPr>
              <a:t>’27 영업이익 +1.51조 흑자 전환</a:t>
            </a:r>
            <a:r>
              <a:rPr lang="en-US" sz="1000" dirty="0">
                <a:solidFill>
                  <a:srgbClr val="000000"/>
                </a:solidFill>
                <a:latin typeface="Malgun Gothic" pitchFamily="34" charset="0"/>
                <a:ea typeface="Malgun Gothic" pitchFamily="34" charset="-122"/>
                <a:cs typeface="Malgun Gothic" pitchFamily="34" charset="-120"/>
              </a:rPr>
              <a:t>.</a:t>
            </a:r>
            <a:endParaRPr lang="en-US" sz="950" dirty="0"/>
          </a:p>
        </p:txBody>
      </p:sp>
      <p:sp>
        <p:nvSpPr>
          <p:cNvPr id="9" name="Text 7"/>
          <p:cNvSpPr/>
          <p:nvPr/>
        </p:nvSpPr>
        <p:spPr>
          <a:xfrm>
            <a:off x="1069848" y="2598574"/>
            <a:ext cx="5943600" cy="274320"/>
          </a:xfrm>
          <a:prstGeom prst="rect">
            <a:avLst/>
          </a:prstGeom>
          <a:noFill/>
          <a:ln/>
        </p:spPr>
        <p:txBody>
          <a:bodyPr wrap="square" lIns="0" tIns="0" rIns="0" bIns="0" rtlCol="0" anchor="ctr"/>
          <a:lstStyle/>
          <a:p>
            <a:pPr marL="0" indent="0" algn="l">
              <a:buNone/>
            </a:pPr>
            <a:r>
              <a:rPr lang="en-US" sz="1050" b="1" dirty="0">
                <a:latin typeface="Malgun Gothic" pitchFamily="34" charset="0"/>
                <a:ea typeface="Malgun Gothic" pitchFamily="34" charset="-122"/>
                <a:cs typeface="Malgun Gothic" pitchFamily="34" charset="-120"/>
              </a:rPr>
              <a:t>2.4.4  활동성 분석 — 자산효율 저하가 재무의 핵심 문제</a:t>
            </a:r>
            <a:endParaRPr lang="en-US" sz="1050" dirty="0"/>
          </a:p>
        </p:txBody>
      </p:sp>
      <p:sp>
        <p:nvSpPr>
          <p:cNvPr id="10" name="Text 8"/>
          <p:cNvSpPr/>
          <p:nvPr/>
        </p:nvSpPr>
        <p:spPr>
          <a:xfrm>
            <a:off x="1005840" y="2907792"/>
            <a:ext cx="5349240" cy="1325880"/>
          </a:xfrm>
          <a:prstGeom prst="rect">
            <a:avLst/>
          </a:prstGeom>
          <a:noFill/>
          <a:ln/>
        </p:spPr>
        <p:txBody>
          <a:bodyPr wrap="square" rtlCol="0" anchor="t"/>
          <a:lstStyle/>
          <a:p>
            <a:pPr marL="152400" indent="-152400" algn="l">
              <a:lnSpc>
                <a:spcPct val="104000"/>
              </a:lnSpc>
              <a:spcAft>
                <a:spcPts val="400"/>
              </a:spcAft>
              <a:buSzPct val="100000"/>
              <a:buChar char="•"/>
            </a:pPr>
            <a:r>
              <a:rPr lang="en-US" sz="1000" b="1" dirty="0">
                <a:solidFill>
                  <a:srgbClr val="C00000"/>
                </a:solidFill>
                <a:latin typeface="Malgun Gothic" pitchFamily="34" charset="0"/>
                <a:ea typeface="Malgun Gothic" pitchFamily="34" charset="-122"/>
                <a:cs typeface="Malgun Gothic" pitchFamily="34" charset="-120"/>
              </a:rPr>
              <a:t>총자산회전율 0.67회(’23) → 0.31회(’25)로 절반 이하</a:t>
            </a:r>
            <a:r>
              <a:rPr lang="en-US" sz="1000" dirty="0">
                <a:solidFill>
                  <a:srgbClr val="000000"/>
                </a:solidFill>
                <a:latin typeface="Malgun Gothic" pitchFamily="34" charset="0"/>
                <a:ea typeface="Malgun Gothic" pitchFamily="34" charset="-122"/>
                <a:cs typeface="Malgun Gothic" pitchFamily="34" charset="-120"/>
              </a:rPr>
              <a:t> — 투자 자산이 매출로 회전되지 못함.</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매출 대비 CAPEX ’24년 약 38%(6.27조), 영업현금흐름 -1,367억 → FCF 적자 지속.</a:t>
            </a:r>
            <a:endParaRPr lang="en-US" sz="950" dirty="0"/>
          </a:p>
          <a:p>
            <a:pPr marL="152400" indent="-152400" algn="l">
              <a:lnSpc>
                <a:spcPct val="104000"/>
              </a:lnSpc>
              <a:spcAft>
                <a:spcPts val="400"/>
              </a:spcAft>
              <a:buSzPct val="100000"/>
              <a:buChar char="•"/>
            </a:pPr>
            <a:r>
              <a:rPr lang="en-US" sz="1000" dirty="0">
                <a:solidFill>
                  <a:srgbClr val="000000"/>
                </a:solidFill>
                <a:latin typeface="Malgun Gothic" pitchFamily="34" charset="0"/>
                <a:ea typeface="Malgun Gothic" pitchFamily="34" charset="-122"/>
                <a:cs typeface="Malgun Gothic" pitchFamily="34" charset="-120"/>
              </a:rPr>
              <a:t>’25년 CAPEX 3.27조로 축소(속도 조절). 활동성 회복의 전제는 신규 캐파의 가동률·매출 전환.</a:t>
            </a:r>
            <a:endParaRPr lang="en-US" sz="950" dirty="0"/>
          </a:p>
        </p:txBody>
      </p:sp>
      <p:sp>
        <p:nvSpPr>
          <p:cNvPr id="13" name="Shape 11"/>
          <p:cNvSpPr/>
          <p:nvPr/>
        </p:nvSpPr>
        <p:spPr>
          <a:xfrm>
            <a:off x="457200" y="5074920"/>
            <a:ext cx="2834640" cy="256032"/>
          </a:xfrm>
          <a:prstGeom prst="rect">
            <a:avLst/>
          </a:prstGeom>
          <a:solidFill>
            <a:schemeClr val="accent1">
              <a:lumMod val="40000"/>
              <a:lumOff val="60000"/>
            </a:schemeClr>
          </a:solidFill>
          <a:ln/>
        </p:spPr>
        <p:txBody>
          <a:bodyPr/>
          <a:lstStyle/>
          <a:p>
            <a:endParaRPr lang="ko-KR" altLang="en-US"/>
          </a:p>
        </p:txBody>
      </p:sp>
      <p:sp>
        <p:nvSpPr>
          <p:cNvPr id="14" name="Text 12"/>
          <p:cNvSpPr/>
          <p:nvPr/>
        </p:nvSpPr>
        <p:spPr>
          <a:xfrm>
            <a:off x="512064" y="5074920"/>
            <a:ext cx="2724912" cy="256032"/>
          </a:xfrm>
          <a:prstGeom prst="rect">
            <a:avLst/>
          </a:prstGeom>
          <a:noFill/>
          <a:ln/>
        </p:spPr>
        <p:txBody>
          <a:bodyPr wrap="square" lIns="0" tIns="0" rIns="0" bIns="0" rtlCol="0" anchor="ctr"/>
          <a:lstStyle/>
          <a:p>
            <a:pPr marL="0" indent="0" algn="l">
              <a:buNone/>
            </a:pPr>
            <a:r>
              <a:rPr lang="en-US" sz="900" b="1" dirty="0">
                <a:solidFill>
                  <a:sysClr val="windowText" lastClr="000000"/>
                </a:solidFill>
                <a:latin typeface="Malgun Gothic" pitchFamily="34" charset="0"/>
                <a:ea typeface="Malgun Gothic" pitchFamily="34" charset="-122"/>
                <a:cs typeface="Malgun Gothic" pitchFamily="34" charset="-120"/>
              </a:rPr>
              <a:t>[자료19] 매출·총자산 추이(조원)</a:t>
            </a:r>
            <a:endParaRPr lang="en-US" sz="900" dirty="0">
              <a:solidFill>
                <a:sysClr val="windowText" lastClr="000000"/>
              </a:solidFill>
            </a:endParaRPr>
          </a:p>
        </p:txBody>
      </p:sp>
      <p:sp>
        <p:nvSpPr>
          <p:cNvPr id="16" name="Text 13"/>
          <p:cNvSpPr/>
          <p:nvPr/>
        </p:nvSpPr>
        <p:spPr>
          <a:xfrm>
            <a:off x="457200" y="8366760"/>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DART·증권사 컨센서스, ICOK</a:t>
            </a:r>
            <a:endParaRPr lang="en-US" sz="750" dirty="0"/>
          </a:p>
        </p:txBody>
      </p:sp>
      <p:sp>
        <p:nvSpPr>
          <p:cNvPr id="17" name="Text 14"/>
          <p:cNvSpPr/>
          <p:nvPr/>
        </p:nvSpPr>
        <p:spPr>
          <a:xfrm>
            <a:off x="2157984" y="8366760"/>
            <a:ext cx="1133856" cy="201168"/>
          </a:xfrm>
          <a:prstGeom prst="rect">
            <a:avLst/>
          </a:prstGeom>
          <a:noFill/>
          <a:ln/>
        </p:spPr>
        <p:txBody>
          <a:bodyPr wrap="square" lIns="0" tIns="0" rIns="0" bIns="0" rtlCol="0" anchor="ctr"/>
          <a:lstStyle/>
          <a:p>
            <a:pPr marL="0" indent="0" algn="r">
              <a:buNone/>
            </a:pPr>
            <a:r>
              <a:rPr lang="en-US" sz="750" i="1" dirty="0">
                <a:solidFill>
                  <a:srgbClr val="7F7F7F"/>
                </a:solidFill>
                <a:latin typeface="Malgun Gothic" pitchFamily="34" charset="0"/>
                <a:ea typeface="Malgun Gothic" pitchFamily="34" charset="-122"/>
                <a:cs typeface="Malgun Gothic" pitchFamily="34" charset="-120"/>
              </a:rPr>
              <a:t>단위: 조원</a:t>
            </a:r>
            <a:endParaRPr lang="en-US" sz="750" dirty="0"/>
          </a:p>
        </p:txBody>
      </p:sp>
      <p:sp>
        <p:nvSpPr>
          <p:cNvPr id="18" name="Shape 15"/>
          <p:cNvSpPr/>
          <p:nvPr/>
        </p:nvSpPr>
        <p:spPr>
          <a:xfrm>
            <a:off x="3566160" y="5074920"/>
            <a:ext cx="2834640" cy="256032"/>
          </a:xfrm>
          <a:prstGeom prst="rect">
            <a:avLst/>
          </a:prstGeom>
          <a:solidFill>
            <a:schemeClr val="accent1">
              <a:lumMod val="40000"/>
              <a:lumOff val="60000"/>
            </a:schemeClr>
          </a:solidFill>
          <a:ln/>
        </p:spPr>
        <p:txBody>
          <a:bodyPr/>
          <a:lstStyle/>
          <a:p>
            <a:endParaRPr lang="ko-KR" altLang="en-US"/>
          </a:p>
        </p:txBody>
      </p:sp>
      <p:sp>
        <p:nvSpPr>
          <p:cNvPr id="19" name="Text 16"/>
          <p:cNvSpPr/>
          <p:nvPr/>
        </p:nvSpPr>
        <p:spPr>
          <a:xfrm>
            <a:off x="3621024" y="5074920"/>
            <a:ext cx="2724912" cy="256032"/>
          </a:xfrm>
          <a:prstGeom prst="rect">
            <a:avLst/>
          </a:prstGeom>
          <a:solidFill>
            <a:schemeClr val="accent1">
              <a:lumMod val="40000"/>
              <a:lumOff val="60000"/>
            </a:schemeClr>
          </a:solidFill>
          <a:ln/>
        </p:spPr>
        <p:txBody>
          <a:bodyPr wrap="square" lIns="0" tIns="0" rIns="0" bIns="0" rtlCol="0" anchor="ctr"/>
          <a:lstStyle/>
          <a:p>
            <a:pPr marL="0" indent="0" algn="l">
              <a:buNone/>
            </a:pPr>
            <a:r>
              <a:rPr lang="en-US" sz="900" b="1" dirty="0">
                <a:solidFill>
                  <a:sysClr val="windowText" lastClr="000000"/>
                </a:solidFill>
                <a:latin typeface="Malgun Gothic" pitchFamily="34" charset="0"/>
                <a:ea typeface="Malgun Gothic" pitchFamily="34" charset="-122"/>
                <a:cs typeface="Malgun Gothic" pitchFamily="34" charset="-120"/>
              </a:rPr>
              <a:t>[자료20] CAPEX 추이(조원)</a:t>
            </a:r>
            <a:endParaRPr lang="en-US" sz="900" dirty="0">
              <a:solidFill>
                <a:sysClr val="windowText" lastClr="000000"/>
              </a:solidFill>
            </a:endParaRPr>
          </a:p>
        </p:txBody>
      </p:sp>
      <p:sp>
        <p:nvSpPr>
          <p:cNvPr id="21" name="Text 17"/>
          <p:cNvSpPr/>
          <p:nvPr/>
        </p:nvSpPr>
        <p:spPr>
          <a:xfrm>
            <a:off x="3566160" y="8366760"/>
            <a:ext cx="1757477" cy="201168"/>
          </a:xfrm>
          <a:prstGeom prst="rect">
            <a:avLst/>
          </a:prstGeom>
          <a:noFill/>
          <a:ln/>
        </p:spPr>
        <p:txBody>
          <a:bodyPr wrap="square" lIns="0" tIns="0" rIns="0" bIns="0" rtlCol="0" anchor="ctr"/>
          <a:lstStyle/>
          <a:p>
            <a:pPr marL="0" indent="0" algn="l">
              <a:buNone/>
            </a:pPr>
            <a:r>
              <a:rPr lang="en-US" sz="750" i="1" dirty="0">
                <a:solidFill>
                  <a:srgbClr val="7F7F7F"/>
                </a:solidFill>
                <a:latin typeface="Malgun Gothic" pitchFamily="34" charset="0"/>
                <a:ea typeface="Malgun Gothic" pitchFamily="34" charset="-122"/>
                <a:cs typeface="Malgun Gothic" pitchFamily="34" charset="-120"/>
              </a:rPr>
              <a:t>출처: DART 사업보고서, ICOK</a:t>
            </a:r>
            <a:endParaRPr lang="en-US" sz="750" dirty="0"/>
          </a:p>
        </p:txBody>
      </p:sp>
      <p:sp>
        <p:nvSpPr>
          <p:cNvPr id="22" name="Text 18"/>
          <p:cNvSpPr/>
          <p:nvPr/>
        </p:nvSpPr>
        <p:spPr>
          <a:xfrm>
            <a:off x="5266944" y="8366760"/>
            <a:ext cx="1133856" cy="201168"/>
          </a:xfrm>
          <a:prstGeom prst="rect">
            <a:avLst/>
          </a:prstGeom>
          <a:noFill/>
          <a:ln/>
        </p:spPr>
        <p:txBody>
          <a:bodyPr wrap="square" lIns="0" tIns="0" rIns="0" bIns="0" rtlCol="0" anchor="ctr"/>
          <a:lstStyle/>
          <a:p>
            <a:pPr marL="0" indent="0" algn="r">
              <a:buNone/>
            </a:pPr>
            <a:r>
              <a:rPr lang="en-US" sz="750" i="1" dirty="0">
                <a:solidFill>
                  <a:srgbClr val="7F7F7F"/>
                </a:solidFill>
                <a:latin typeface="Malgun Gothic" pitchFamily="34" charset="0"/>
                <a:ea typeface="Malgun Gothic" pitchFamily="34" charset="-122"/>
                <a:cs typeface="Malgun Gothic" pitchFamily="34" charset="-120"/>
              </a:rPr>
              <a:t>단위: 조원</a:t>
            </a:r>
            <a:endParaRPr lang="en-US" sz="750" dirty="0"/>
          </a:p>
        </p:txBody>
      </p:sp>
      <p:sp>
        <p:nvSpPr>
          <p:cNvPr id="23" name="TextBox 22"/>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14</a:t>
            </a:r>
          </a:p>
        </p:txBody>
      </p:sp>
      <p:pic>
        <p:nvPicPr>
          <p:cNvPr id="24" name="Picture 23" descr="ja19.png"/>
          <p:cNvPicPr>
            <a:picLocks noChangeAspect="1"/>
          </p:cNvPicPr>
          <p:nvPr/>
        </p:nvPicPr>
        <p:blipFill>
          <a:blip r:embed="rId5"/>
          <a:stretch>
            <a:fillRect/>
          </a:stretch>
        </p:blipFill>
        <p:spPr>
          <a:xfrm>
            <a:off x="457200" y="5367528"/>
            <a:ext cx="2834640" cy="2239266"/>
          </a:xfrm>
          <a:prstGeom prst="rect">
            <a:avLst/>
          </a:prstGeom>
        </p:spPr>
      </p:pic>
      <p:pic>
        <p:nvPicPr>
          <p:cNvPr id="25" name="Picture 24" descr="ja20.png"/>
          <p:cNvPicPr>
            <a:picLocks noChangeAspect="1"/>
          </p:cNvPicPr>
          <p:nvPr/>
        </p:nvPicPr>
        <p:blipFill>
          <a:blip r:embed="rId6"/>
          <a:stretch>
            <a:fillRect/>
          </a:stretch>
        </p:blipFill>
        <p:spPr>
          <a:xfrm>
            <a:off x="3566160" y="5367528"/>
            <a:ext cx="2834640" cy="22392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1828800" cy="237744"/>
          </a:xfrm>
          <a:prstGeom prst="rect">
            <a:avLst/>
          </a:prstGeom>
          <a:noFill/>
          <a:ln/>
        </p:spPr>
        <p:txBody>
          <a:bodyPr wrap="square" lIns="0" tIns="0" rIns="0" bIns="0" rtlCol="0" anchor="ctr"/>
          <a:lstStyle/>
          <a:p>
            <a:pPr marL="0" indent="0" algn="l">
              <a:buNone/>
            </a:pPr>
            <a:r>
              <a:rPr lang="en-US" sz="900" b="1" dirty="0">
                <a:solidFill>
                  <a:srgbClr val="1F3864"/>
                </a:solidFill>
                <a:latin typeface="Malgun Gothic" pitchFamily="34" charset="0"/>
                <a:ea typeface="Malgun Gothic" pitchFamily="34" charset="-122"/>
                <a:cs typeface="Malgun Gothic" pitchFamily="34" charset="-120"/>
              </a:rPr>
              <a:t>기업분석</a:t>
            </a:r>
            <a:endParaRPr lang="en-US" sz="900" dirty="0"/>
          </a:p>
        </p:txBody>
      </p:sp>
      <p:sp>
        <p:nvSpPr>
          <p:cNvPr id="3" name="Text 1"/>
          <p:cNvSpPr/>
          <p:nvPr/>
        </p:nvSpPr>
        <p:spPr>
          <a:xfrm>
            <a:off x="2743200" y="182880"/>
            <a:ext cx="3657600" cy="237744"/>
          </a:xfrm>
          <a:prstGeom prst="rect">
            <a:avLst/>
          </a:prstGeom>
          <a:noFill/>
          <a:ln/>
        </p:spPr>
        <p:txBody>
          <a:bodyPr wrap="square" lIns="0" tIns="0" rIns="0" bIns="0" rtlCol="0" anchor="ctr"/>
          <a:lstStyle/>
          <a:p>
            <a:pPr marL="0" indent="0" algn="r">
              <a:buNone/>
            </a:pPr>
            <a:r>
              <a:rPr lang="en-US" sz="900" dirty="0">
                <a:solidFill>
                  <a:srgbClr val="1F3864"/>
                </a:solidFill>
                <a:latin typeface="Malgun Gothic" pitchFamily="34" charset="0"/>
                <a:ea typeface="Malgun Gothic" pitchFamily="34" charset="-122"/>
                <a:cs typeface="Malgun Gothic" pitchFamily="34" charset="-120"/>
              </a:rPr>
              <a:t>Company Research Report  |  </a:t>
            </a:r>
            <a:r>
              <a:rPr lang="en-US" sz="900" b="1" dirty="0">
                <a:solidFill>
                  <a:srgbClr val="1F3864"/>
                </a:solidFill>
                <a:latin typeface="Malgun Gothic" pitchFamily="34" charset="0"/>
                <a:ea typeface="Malgun Gothic" pitchFamily="34" charset="-122"/>
                <a:cs typeface="Malgun Gothic" pitchFamily="34" charset="-120"/>
              </a:rPr>
              <a:t>삼성SDI (006400)</a:t>
            </a:r>
            <a:endParaRPr lang="en-US" sz="900" dirty="0"/>
          </a:p>
        </p:txBody>
      </p:sp>
      <p:sp>
        <p:nvSpPr>
          <p:cNvPr id="4" name="Shape 2"/>
          <p:cNvSpPr/>
          <p:nvPr/>
        </p:nvSpPr>
        <p:spPr>
          <a:xfrm>
            <a:off x="457200" y="457200"/>
            <a:ext cx="5943600" cy="0"/>
          </a:xfrm>
          <a:prstGeom prst="line">
            <a:avLst/>
          </a:prstGeom>
          <a:noFill/>
          <a:ln w="15875">
            <a:solidFill>
              <a:srgbClr val="1F3864"/>
            </a:solidFill>
            <a:prstDash val="solid"/>
          </a:ln>
        </p:spPr>
        <p:txBody>
          <a:bodyPr/>
          <a:lstStyle/>
          <a:p>
            <a:endParaRPr lang="ko-KR" altLang="en-US"/>
          </a:p>
        </p:txBody>
      </p:sp>
      <p:sp>
        <p:nvSpPr>
          <p:cNvPr id="7" name="Text 5"/>
          <p:cNvSpPr/>
          <p:nvPr/>
        </p:nvSpPr>
        <p:spPr>
          <a:xfrm>
            <a:off x="457200" y="932688"/>
            <a:ext cx="5943600" cy="274320"/>
          </a:xfrm>
          <a:prstGeom prst="rect">
            <a:avLst/>
          </a:prstGeom>
          <a:noFill/>
          <a:ln/>
        </p:spPr>
        <p:txBody>
          <a:bodyPr wrap="square" lIns="0" tIns="0" rIns="0" bIns="0" rtlCol="0" anchor="ctr"/>
          <a:lstStyle/>
          <a:p>
            <a:pPr marL="0" indent="0" algn="l">
              <a:buNone/>
            </a:pPr>
            <a:r>
              <a:rPr lang="en-US" sz="1050" b="1" dirty="0">
                <a:latin typeface="Malgun Gothic" pitchFamily="34" charset="0"/>
                <a:ea typeface="Malgun Gothic" pitchFamily="34" charset="-122"/>
                <a:cs typeface="Malgun Gothic" pitchFamily="34" charset="-120"/>
              </a:rPr>
              <a:t>2.4.5  종합 평가 — ‘2026 적자 지속 → 2027 본격 턴어라운드’의 전환기</a:t>
            </a:r>
            <a:endParaRPr lang="en-US" sz="1050" dirty="0"/>
          </a:p>
        </p:txBody>
      </p:sp>
      <p:sp>
        <p:nvSpPr>
          <p:cNvPr id="8" name="Shape 6"/>
          <p:cNvSpPr/>
          <p:nvPr/>
        </p:nvSpPr>
        <p:spPr>
          <a:xfrm>
            <a:off x="457200" y="1371600"/>
            <a:ext cx="2857500" cy="1481328"/>
          </a:xfrm>
          <a:prstGeom prst="rect">
            <a:avLst/>
          </a:prstGeom>
          <a:solidFill>
            <a:srgbClr val="FFFFFF"/>
          </a:solidFill>
          <a:ln w="9525">
            <a:solidFill>
              <a:srgbClr val="1F3864"/>
            </a:solidFill>
            <a:prstDash val="solid"/>
          </a:ln>
          <a:effectLst>
            <a:outerShdw blurRad="50800" dist="19050" dir="5400000" algn="bl" rotWithShape="0">
              <a:srgbClr val="000000">
                <a:alpha val="10000"/>
              </a:srgbClr>
            </a:outerShdw>
          </a:effectLst>
        </p:spPr>
        <p:txBody>
          <a:bodyPr/>
          <a:lstStyle/>
          <a:p>
            <a:endParaRPr lang="ko-KR" altLang="en-US"/>
          </a:p>
        </p:txBody>
      </p:sp>
      <p:sp>
        <p:nvSpPr>
          <p:cNvPr id="9" name="Shape 7"/>
          <p:cNvSpPr/>
          <p:nvPr/>
        </p:nvSpPr>
        <p:spPr>
          <a:xfrm>
            <a:off x="457200" y="1371600"/>
            <a:ext cx="2857500" cy="310896"/>
          </a:xfrm>
          <a:prstGeom prst="rect">
            <a:avLst/>
          </a:prstGeom>
          <a:solidFill>
            <a:srgbClr val="1F3864"/>
          </a:solidFill>
          <a:ln/>
        </p:spPr>
        <p:txBody>
          <a:bodyPr/>
          <a:lstStyle/>
          <a:p>
            <a:endParaRPr lang="ko-KR" altLang="en-US"/>
          </a:p>
        </p:txBody>
      </p:sp>
      <p:sp>
        <p:nvSpPr>
          <p:cNvPr id="10" name="Text 8"/>
          <p:cNvSpPr/>
          <p:nvPr/>
        </p:nvSpPr>
        <p:spPr>
          <a:xfrm>
            <a:off x="548640" y="1371600"/>
            <a:ext cx="267462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Malgun Gothic" pitchFamily="34" charset="0"/>
                <a:ea typeface="Malgun Gothic" pitchFamily="34" charset="-122"/>
                <a:cs typeface="Malgun Gothic" pitchFamily="34" charset="-120"/>
              </a:rPr>
              <a:t>실적 측면</a:t>
            </a:r>
            <a:endParaRPr lang="en-US" sz="1000" dirty="0"/>
          </a:p>
        </p:txBody>
      </p:sp>
      <p:sp>
        <p:nvSpPr>
          <p:cNvPr id="11" name="Text 9"/>
          <p:cNvSpPr/>
          <p:nvPr/>
        </p:nvSpPr>
        <p:spPr>
          <a:xfrm>
            <a:off x="548640" y="1737360"/>
            <a:ext cx="2674620" cy="1060704"/>
          </a:xfrm>
          <a:prstGeom prst="rect">
            <a:avLst/>
          </a:prstGeom>
          <a:noFill/>
          <a:ln/>
        </p:spPr>
        <p:txBody>
          <a:bodyPr wrap="square" lIns="0" tIns="0" rIns="0" bIns="0" rtlCol="0" anchor="t"/>
          <a:lstStyle/>
          <a:p>
            <a:pPr marL="0" indent="0" algn="l">
              <a:lnSpc>
                <a:spcPct val="103000"/>
              </a:lnSpc>
              <a:buNone/>
            </a:pPr>
            <a:r>
              <a:rPr lang="en-US" sz="870" dirty="0">
                <a:solidFill>
                  <a:srgbClr val="1A1A1A"/>
                </a:solidFill>
                <a:latin typeface="Malgun Gothic" pitchFamily="34" charset="0"/>
                <a:ea typeface="Malgun Gothic" pitchFamily="34" charset="-122"/>
                <a:cs typeface="Malgun Gothic" pitchFamily="34" charset="-120"/>
              </a:rPr>
              <a:t>2025년 매출·이익 모두 저점 통과. 분기 적자폭 3Q -5,913억 → 4Q -2,992억으로 절반 축소, ESS 역대 최대 매출 → ‘상저하고’ 회복 출발점.</a:t>
            </a:r>
            <a:endParaRPr lang="en-US" sz="870" dirty="0"/>
          </a:p>
        </p:txBody>
      </p:sp>
      <p:sp>
        <p:nvSpPr>
          <p:cNvPr id="12" name="Shape 10"/>
          <p:cNvSpPr/>
          <p:nvPr/>
        </p:nvSpPr>
        <p:spPr>
          <a:xfrm>
            <a:off x="3543300" y="1371600"/>
            <a:ext cx="2857500" cy="1481328"/>
          </a:xfrm>
          <a:prstGeom prst="rect">
            <a:avLst/>
          </a:prstGeom>
          <a:solidFill>
            <a:srgbClr val="FFFFFF"/>
          </a:solidFill>
          <a:ln w="9525">
            <a:solidFill>
              <a:srgbClr val="1F3864"/>
            </a:solidFill>
            <a:prstDash val="solid"/>
          </a:ln>
          <a:effectLst>
            <a:outerShdw blurRad="50800" dist="19050" dir="5400000" algn="bl" rotWithShape="0">
              <a:srgbClr val="000000">
                <a:alpha val="10000"/>
              </a:srgbClr>
            </a:outerShdw>
          </a:effectLst>
        </p:spPr>
        <p:txBody>
          <a:bodyPr/>
          <a:lstStyle/>
          <a:p>
            <a:endParaRPr lang="ko-KR" altLang="en-US"/>
          </a:p>
        </p:txBody>
      </p:sp>
      <p:sp>
        <p:nvSpPr>
          <p:cNvPr id="13" name="Shape 11"/>
          <p:cNvSpPr/>
          <p:nvPr/>
        </p:nvSpPr>
        <p:spPr>
          <a:xfrm>
            <a:off x="3543300" y="1371600"/>
            <a:ext cx="2857500" cy="310896"/>
          </a:xfrm>
          <a:prstGeom prst="rect">
            <a:avLst/>
          </a:prstGeom>
          <a:solidFill>
            <a:srgbClr val="1F3864"/>
          </a:solidFill>
          <a:ln/>
        </p:spPr>
        <p:txBody>
          <a:bodyPr/>
          <a:lstStyle/>
          <a:p>
            <a:endParaRPr lang="ko-KR" altLang="en-US"/>
          </a:p>
        </p:txBody>
      </p:sp>
      <p:sp>
        <p:nvSpPr>
          <p:cNvPr id="14" name="Text 12"/>
          <p:cNvSpPr/>
          <p:nvPr/>
        </p:nvSpPr>
        <p:spPr>
          <a:xfrm>
            <a:off x="3634740" y="1371600"/>
            <a:ext cx="267462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Malgun Gothic" pitchFamily="34" charset="0"/>
                <a:ea typeface="Malgun Gothic" pitchFamily="34" charset="-122"/>
                <a:cs typeface="Malgun Gothic" pitchFamily="34" charset="-120"/>
              </a:rPr>
              <a:t>가동률 측면</a:t>
            </a:r>
            <a:endParaRPr lang="en-US" sz="1000" dirty="0"/>
          </a:p>
        </p:txBody>
      </p:sp>
      <p:sp>
        <p:nvSpPr>
          <p:cNvPr id="15" name="Text 13"/>
          <p:cNvSpPr/>
          <p:nvPr/>
        </p:nvSpPr>
        <p:spPr>
          <a:xfrm>
            <a:off x="3653028" y="1737360"/>
            <a:ext cx="2638044" cy="1060704"/>
          </a:xfrm>
          <a:prstGeom prst="rect">
            <a:avLst/>
          </a:prstGeom>
          <a:noFill/>
          <a:ln/>
        </p:spPr>
        <p:txBody>
          <a:bodyPr wrap="square" lIns="0" tIns="0" rIns="0" bIns="0" rtlCol="0" anchor="t"/>
          <a:lstStyle/>
          <a:p>
            <a:pPr marL="0" indent="0" algn="l">
              <a:lnSpc>
                <a:spcPct val="103000"/>
              </a:lnSpc>
              <a:buNone/>
            </a:pPr>
            <a:r>
              <a:rPr lang="en-US" sz="870" dirty="0">
                <a:solidFill>
                  <a:srgbClr val="1A1A1A"/>
                </a:solidFill>
                <a:latin typeface="Malgun Gothic" pitchFamily="34" charset="0"/>
                <a:ea typeface="Malgun Gothic" pitchFamily="34" charset="-122"/>
                <a:cs typeface="Malgun Gothic" pitchFamily="34" charset="-120"/>
              </a:rPr>
              <a:t>헝가리 30~40%가 적자 진앙이자 최대 레버리지. BEP 60%, ’26 하반기 70% 도달 시 유럽 EV 흑자 기여 시작. 북미 ESS·LFP 현지화로 AMPC·관세 수혜.</a:t>
            </a:r>
            <a:endParaRPr lang="en-US" sz="870" dirty="0"/>
          </a:p>
        </p:txBody>
      </p:sp>
      <p:sp>
        <p:nvSpPr>
          <p:cNvPr id="16" name="Shape 14"/>
          <p:cNvSpPr/>
          <p:nvPr/>
        </p:nvSpPr>
        <p:spPr>
          <a:xfrm>
            <a:off x="457200" y="3054096"/>
            <a:ext cx="2857500" cy="1481328"/>
          </a:xfrm>
          <a:prstGeom prst="rect">
            <a:avLst/>
          </a:prstGeom>
          <a:solidFill>
            <a:srgbClr val="FFFFFF"/>
          </a:solidFill>
          <a:ln w="9525">
            <a:solidFill>
              <a:srgbClr val="1F3864"/>
            </a:solidFill>
            <a:prstDash val="solid"/>
          </a:ln>
          <a:effectLst>
            <a:outerShdw blurRad="50800" dist="19050" dir="5400000" algn="bl" rotWithShape="0">
              <a:srgbClr val="000000">
                <a:alpha val="10000"/>
              </a:srgbClr>
            </a:outerShdw>
          </a:effectLst>
        </p:spPr>
        <p:txBody>
          <a:bodyPr/>
          <a:lstStyle/>
          <a:p>
            <a:endParaRPr lang="ko-KR" altLang="en-US"/>
          </a:p>
        </p:txBody>
      </p:sp>
      <p:sp>
        <p:nvSpPr>
          <p:cNvPr id="17" name="Shape 15"/>
          <p:cNvSpPr/>
          <p:nvPr/>
        </p:nvSpPr>
        <p:spPr>
          <a:xfrm>
            <a:off x="457200" y="3054096"/>
            <a:ext cx="2857500" cy="310896"/>
          </a:xfrm>
          <a:prstGeom prst="rect">
            <a:avLst/>
          </a:prstGeom>
          <a:solidFill>
            <a:srgbClr val="1F3864"/>
          </a:solidFill>
          <a:ln/>
        </p:spPr>
        <p:txBody>
          <a:bodyPr/>
          <a:lstStyle/>
          <a:p>
            <a:endParaRPr lang="ko-KR" altLang="en-US"/>
          </a:p>
        </p:txBody>
      </p:sp>
      <p:sp>
        <p:nvSpPr>
          <p:cNvPr id="18" name="Text 16"/>
          <p:cNvSpPr/>
          <p:nvPr/>
        </p:nvSpPr>
        <p:spPr>
          <a:xfrm>
            <a:off x="548640" y="3054096"/>
            <a:ext cx="267462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Malgun Gothic" pitchFamily="34" charset="0"/>
                <a:ea typeface="Malgun Gothic" pitchFamily="34" charset="-122"/>
                <a:cs typeface="Malgun Gothic" pitchFamily="34" charset="-120"/>
              </a:rPr>
              <a:t>재무건전성 측면</a:t>
            </a:r>
            <a:endParaRPr lang="en-US" sz="1000" dirty="0"/>
          </a:p>
        </p:txBody>
      </p:sp>
      <p:sp>
        <p:nvSpPr>
          <p:cNvPr id="19" name="Text 17"/>
          <p:cNvSpPr/>
          <p:nvPr/>
        </p:nvSpPr>
        <p:spPr>
          <a:xfrm>
            <a:off x="512064" y="3419856"/>
            <a:ext cx="2692908" cy="1060704"/>
          </a:xfrm>
          <a:prstGeom prst="rect">
            <a:avLst/>
          </a:prstGeom>
          <a:noFill/>
          <a:ln/>
        </p:spPr>
        <p:txBody>
          <a:bodyPr wrap="square" lIns="0" tIns="0" rIns="0" bIns="0" rtlCol="0" anchor="t"/>
          <a:lstStyle/>
          <a:p>
            <a:pPr marL="0" indent="0" algn="l">
              <a:lnSpc>
                <a:spcPct val="103000"/>
              </a:lnSpc>
              <a:buNone/>
            </a:pPr>
            <a:r>
              <a:rPr lang="en-US" sz="870" dirty="0">
                <a:solidFill>
                  <a:srgbClr val="1A1A1A"/>
                </a:solidFill>
                <a:latin typeface="Malgun Gothic" pitchFamily="34" charset="0"/>
                <a:ea typeface="Malgun Gothic" pitchFamily="34" charset="-122"/>
                <a:cs typeface="Malgun Gothic" pitchFamily="34" charset="-120"/>
              </a:rPr>
              <a:t>부채비율 79%·차입금의존도 27%로 안정성 우수. 그러나 총자산회전율 0.67→0.31회 급락 — 자산효율 저하가 구조적 부담. 정상화 트리거는 가동률.</a:t>
            </a:r>
            <a:endParaRPr lang="en-US" sz="870" dirty="0"/>
          </a:p>
        </p:txBody>
      </p:sp>
      <p:sp>
        <p:nvSpPr>
          <p:cNvPr id="20" name="Shape 18"/>
          <p:cNvSpPr/>
          <p:nvPr/>
        </p:nvSpPr>
        <p:spPr>
          <a:xfrm>
            <a:off x="3543300" y="3054096"/>
            <a:ext cx="2857500" cy="1481328"/>
          </a:xfrm>
          <a:prstGeom prst="rect">
            <a:avLst/>
          </a:prstGeom>
          <a:solidFill>
            <a:srgbClr val="FFFFFF"/>
          </a:solidFill>
          <a:ln w="9525">
            <a:solidFill>
              <a:srgbClr val="1F3864"/>
            </a:solidFill>
            <a:prstDash val="solid"/>
          </a:ln>
          <a:effectLst>
            <a:outerShdw blurRad="50800" dist="19050" dir="5400000" algn="bl" rotWithShape="0">
              <a:srgbClr val="000000">
                <a:alpha val="10000"/>
              </a:srgbClr>
            </a:outerShdw>
          </a:effectLst>
        </p:spPr>
        <p:txBody>
          <a:bodyPr/>
          <a:lstStyle/>
          <a:p>
            <a:endParaRPr lang="ko-KR" altLang="en-US"/>
          </a:p>
        </p:txBody>
      </p:sp>
      <p:sp>
        <p:nvSpPr>
          <p:cNvPr id="21" name="Shape 19"/>
          <p:cNvSpPr/>
          <p:nvPr/>
        </p:nvSpPr>
        <p:spPr>
          <a:xfrm>
            <a:off x="3543300" y="3054096"/>
            <a:ext cx="2857500" cy="310896"/>
          </a:xfrm>
          <a:prstGeom prst="rect">
            <a:avLst/>
          </a:prstGeom>
          <a:solidFill>
            <a:srgbClr val="1F3864"/>
          </a:solidFill>
          <a:ln/>
        </p:spPr>
        <p:txBody>
          <a:bodyPr/>
          <a:lstStyle/>
          <a:p>
            <a:endParaRPr lang="ko-KR" altLang="en-US"/>
          </a:p>
        </p:txBody>
      </p:sp>
      <p:sp>
        <p:nvSpPr>
          <p:cNvPr id="22" name="Text 20"/>
          <p:cNvSpPr/>
          <p:nvPr/>
        </p:nvSpPr>
        <p:spPr>
          <a:xfrm>
            <a:off x="3634740" y="3054096"/>
            <a:ext cx="267462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Malgun Gothic" pitchFamily="34" charset="0"/>
                <a:ea typeface="Malgun Gothic" pitchFamily="34" charset="-122"/>
                <a:cs typeface="Malgun Gothic" pitchFamily="34" charset="-120"/>
              </a:rPr>
              <a:t>투자 관점 시사점</a:t>
            </a:r>
            <a:endParaRPr lang="en-US" sz="1000" dirty="0"/>
          </a:p>
        </p:txBody>
      </p:sp>
      <p:sp>
        <p:nvSpPr>
          <p:cNvPr id="23" name="Text 21"/>
          <p:cNvSpPr/>
          <p:nvPr/>
        </p:nvSpPr>
        <p:spPr>
          <a:xfrm>
            <a:off x="3653028" y="3419856"/>
            <a:ext cx="2638044" cy="1060704"/>
          </a:xfrm>
          <a:prstGeom prst="rect">
            <a:avLst/>
          </a:prstGeom>
          <a:noFill/>
          <a:ln/>
        </p:spPr>
        <p:txBody>
          <a:bodyPr wrap="square" lIns="0" tIns="0" rIns="0" bIns="0" rtlCol="0" anchor="t"/>
          <a:lstStyle/>
          <a:p>
            <a:pPr marL="0" indent="0" algn="l">
              <a:lnSpc>
                <a:spcPct val="103000"/>
              </a:lnSpc>
              <a:buNone/>
            </a:pPr>
            <a:r>
              <a:rPr lang="en-US" sz="870" dirty="0">
                <a:solidFill>
                  <a:srgbClr val="1A1A1A"/>
                </a:solidFill>
                <a:latin typeface="Malgun Gothic" pitchFamily="34" charset="0"/>
                <a:ea typeface="Malgun Gothic" pitchFamily="34" charset="-122"/>
                <a:cs typeface="Malgun Gothic" pitchFamily="34" charset="-120"/>
              </a:rPr>
              <a:t>저점 통과·ESS 방어·견조한 안정성은 긍정적. 변수는 EV 회복·ESS 램프업 속도·IRA/AMPC 정책·헝가리 수율. 분기 가동률·ESS OPM·AMPC 수령액을 추적.</a:t>
            </a:r>
            <a:endParaRPr lang="en-US" sz="870" dirty="0"/>
          </a:p>
        </p:txBody>
      </p:sp>
      <p:sp>
        <p:nvSpPr>
          <p:cNvPr id="30" name="TextBox 29"/>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201168"/>
          </a:xfrm>
          <a:prstGeom prst="rect">
            <a:avLst/>
          </a:prstGeom>
          <a:noFill/>
        </p:spPr>
        <p:txBody>
          <a:bodyPr wrap="square" lIns="0" tIns="0" rIns="0" bIns="0" anchor="t">
            <a:spAutoFit/>
          </a:bodyPr>
          <a:lstStyle/>
          <a:p>
            <a:pPr>
              <a:lnSpc>
                <a:spcPct val="112000"/>
              </a:lnSpc>
              <a:spcBef>
                <a:spcPts val="0"/>
              </a:spcBef>
              <a:spcAft>
                <a:spcPts val="500"/>
              </a:spcAft>
            </a:pPr>
            <a:r>
              <a:rPr sz="950" b="1" i="0">
                <a:solidFill>
                  <a:srgbClr val="003A75"/>
                </a:solidFill>
                <a:latin typeface="Malgun Gothic"/>
              </a:rPr>
              <a:t>투자포인트</a:t>
            </a: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2000"/>
              </a:lnSpc>
              <a:spcBef>
                <a:spcPts val="0"/>
              </a:spcBef>
              <a:spcAft>
                <a:spcPts val="500"/>
              </a:spcAft>
            </a:pPr>
            <a:r>
              <a:rPr sz="900" b="0" i="0">
                <a:solidFill>
                  <a:srgbClr val="6B7785"/>
                </a:solidFill>
                <a:latin typeface="Malgun Gothic"/>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11877" y="940268"/>
            <a:ext cx="5943600" cy="426720"/>
          </a:xfrm>
          <a:prstGeom prst="rect">
            <a:avLst/>
          </a:prstGeom>
          <a:noFill/>
        </p:spPr>
        <p:txBody>
          <a:bodyPr wrap="square" lIns="0" tIns="0" rIns="0" bIns="0" anchor="t">
            <a:spAutoFit/>
          </a:bodyPr>
          <a:lstStyle/>
          <a:p>
            <a:pPr>
              <a:lnSpc>
                <a:spcPct val="112000"/>
              </a:lnSpc>
              <a:spcBef>
                <a:spcPts val="0"/>
              </a:spcBef>
              <a:spcAft>
                <a:spcPts val="500"/>
              </a:spcAft>
            </a:pPr>
            <a:endParaRPr lang="en-US" sz="1100" b="1" i="0" dirty="0">
              <a:latin typeface="맑은 고딕" panose="020B0503020000020004" pitchFamily="50" charset="-127"/>
              <a:ea typeface="맑은 고딕" panose="020B0503020000020004" pitchFamily="50" charset="-127"/>
            </a:endParaRPr>
          </a:p>
          <a:p>
            <a:pPr>
              <a:lnSpc>
                <a:spcPct val="112000"/>
              </a:lnSpc>
              <a:spcBef>
                <a:spcPts val="0"/>
              </a:spcBef>
              <a:spcAft>
                <a:spcPts val="500"/>
              </a:spcAft>
            </a:pPr>
            <a:r>
              <a:rPr sz="1100" b="1" i="0" dirty="0">
                <a:latin typeface="맑은 고딕" panose="020B0503020000020004" pitchFamily="50" charset="-127"/>
                <a:ea typeface="맑은 고딕" panose="020B0503020000020004" pitchFamily="50" charset="-127"/>
              </a:rPr>
              <a:t>3.1  </a:t>
            </a:r>
            <a:r>
              <a:rPr sz="1100" b="1" i="0" dirty="0" err="1">
                <a:latin typeface="맑은 고딕" panose="020B0503020000020004" pitchFamily="50" charset="-127"/>
                <a:ea typeface="맑은 고딕" panose="020B0503020000020004" pitchFamily="50" charset="-127"/>
              </a:rPr>
              <a:t>북미</a:t>
            </a:r>
            <a:r>
              <a:rPr sz="1100" b="1" i="0" dirty="0">
                <a:latin typeface="맑은 고딕" panose="020B0503020000020004" pitchFamily="50" charset="-127"/>
                <a:ea typeface="맑은 고딕" panose="020B0503020000020004" pitchFamily="50" charset="-127"/>
              </a:rPr>
              <a:t> ESS·AMPC</a:t>
            </a:r>
          </a:p>
        </p:txBody>
      </p:sp>
      <p:sp>
        <p:nvSpPr>
          <p:cNvPr id="6" name="TextBox 5"/>
          <p:cNvSpPr txBox="1"/>
          <p:nvPr/>
        </p:nvSpPr>
        <p:spPr>
          <a:xfrm>
            <a:off x="1011877" y="1479974"/>
            <a:ext cx="5943600" cy="157223"/>
          </a:xfrm>
          <a:prstGeom prst="rect">
            <a:avLst/>
          </a:prstGeom>
          <a:noFill/>
        </p:spPr>
        <p:txBody>
          <a:bodyPr wrap="square" lIns="0" tIns="0" rIns="0" bIns="0" anchor="t">
            <a:spAutoFit/>
          </a:bodyPr>
          <a:lstStyle/>
          <a:p>
            <a:pPr>
              <a:lnSpc>
                <a:spcPct val="112000"/>
              </a:lnSpc>
              <a:spcBef>
                <a:spcPts val="0"/>
              </a:spcBef>
              <a:spcAft>
                <a:spcPts val="500"/>
              </a:spcAft>
            </a:pPr>
            <a:r>
              <a:rPr sz="1000" b="1" dirty="0" err="1">
                <a:latin typeface="맑은 고딕" panose="020B0503020000020004" pitchFamily="50" charset="-127"/>
                <a:ea typeface="맑은 고딕" panose="020B0503020000020004" pitchFamily="50" charset="-127"/>
              </a:rPr>
              <a:t>미국</a:t>
            </a:r>
            <a:r>
              <a:rPr sz="1000" b="1" dirty="0">
                <a:latin typeface="맑은 고딕" panose="020B0503020000020004" pitchFamily="50" charset="-127"/>
                <a:ea typeface="맑은 고딕" panose="020B0503020000020004" pitchFamily="50" charset="-127"/>
              </a:rPr>
              <a:t> 내 </a:t>
            </a:r>
            <a:r>
              <a:rPr sz="1000" b="1" dirty="0" err="1">
                <a:latin typeface="맑은 고딕" panose="020B0503020000020004" pitchFamily="50" charset="-127"/>
                <a:ea typeface="맑은 고딕" panose="020B0503020000020004" pitchFamily="50" charset="-127"/>
              </a:rPr>
              <a:t>각형</a:t>
            </a:r>
            <a:r>
              <a:rPr sz="1000" b="1" dirty="0">
                <a:latin typeface="맑은 고딕" panose="020B0503020000020004" pitchFamily="50" charset="-127"/>
                <a:ea typeface="맑은 고딕" panose="020B0503020000020004" pitchFamily="50" charset="-127"/>
              </a:rPr>
              <a:t> </a:t>
            </a:r>
            <a:r>
              <a:rPr sz="1000" b="1" dirty="0" err="1">
                <a:latin typeface="맑은 고딕" panose="020B0503020000020004" pitchFamily="50" charset="-127"/>
                <a:ea typeface="맑은 고딕" panose="020B0503020000020004" pitchFamily="50" charset="-127"/>
              </a:rPr>
              <a:t>LFP를</a:t>
            </a:r>
            <a:r>
              <a:rPr sz="1000" b="1" dirty="0">
                <a:latin typeface="맑은 고딕" panose="020B0503020000020004" pitchFamily="50" charset="-127"/>
                <a:ea typeface="맑은 고딕" panose="020B0503020000020004" pitchFamily="50" charset="-127"/>
              </a:rPr>
              <a:t> </a:t>
            </a:r>
            <a:r>
              <a:rPr sz="1000" b="1" dirty="0" err="1">
                <a:latin typeface="맑은 고딕" panose="020B0503020000020004" pitchFamily="50" charset="-127"/>
                <a:ea typeface="맑은 고딕" panose="020B0503020000020004" pitchFamily="50" charset="-127"/>
              </a:rPr>
              <a:t>양산하는</a:t>
            </a:r>
            <a:r>
              <a:rPr sz="1000" b="1" dirty="0">
                <a:latin typeface="맑은 고딕" panose="020B0503020000020004" pitchFamily="50" charset="-127"/>
                <a:ea typeface="맑은 고딕" panose="020B0503020000020004" pitchFamily="50" charset="-127"/>
              </a:rPr>
              <a:t> </a:t>
            </a:r>
            <a:r>
              <a:rPr sz="1000" b="1" dirty="0" err="1">
                <a:latin typeface="맑은 고딕" panose="020B0503020000020004" pitchFamily="50" charset="-127"/>
                <a:ea typeface="맑은 고딕" panose="020B0503020000020004" pitchFamily="50" charset="-127"/>
              </a:rPr>
              <a:t>유일한</a:t>
            </a:r>
            <a:r>
              <a:rPr sz="1000" b="1" dirty="0">
                <a:latin typeface="맑은 고딕" panose="020B0503020000020004" pitchFamily="50" charset="-127"/>
                <a:ea typeface="맑은 고딕" panose="020B0503020000020004" pitchFamily="50" charset="-127"/>
              </a:rPr>
              <a:t> </a:t>
            </a:r>
            <a:r>
              <a:rPr sz="1000" b="1" dirty="0" err="1">
                <a:latin typeface="맑은 고딕" panose="020B0503020000020004" pitchFamily="50" charset="-127"/>
                <a:ea typeface="맑은 고딕" panose="020B0503020000020004" pitchFamily="50" charset="-127"/>
              </a:rPr>
              <a:t>비중국계</a:t>
            </a:r>
            <a:r>
              <a:rPr sz="1000" b="1" dirty="0">
                <a:latin typeface="맑은 고딕" panose="020B0503020000020004" pitchFamily="50" charset="-127"/>
                <a:ea typeface="맑은 고딕" panose="020B0503020000020004" pitchFamily="50" charset="-127"/>
              </a:rPr>
              <a:t> </a:t>
            </a:r>
            <a:r>
              <a:rPr sz="1000" b="1" dirty="0" err="1">
                <a:latin typeface="맑은 고딕" panose="020B0503020000020004" pitchFamily="50" charset="-127"/>
                <a:ea typeface="맑은 고딕" panose="020B0503020000020004" pitchFamily="50" charset="-127"/>
              </a:rPr>
              <a:t>제조사</a:t>
            </a:r>
            <a:r>
              <a:rPr sz="1000" b="1" dirty="0">
                <a:latin typeface="맑은 고딕" panose="020B0503020000020004" pitchFamily="50" charset="-127"/>
                <a:ea typeface="맑은 고딕" panose="020B0503020000020004" pitchFamily="50" charset="-127"/>
              </a:rPr>
              <a:t> — </a:t>
            </a:r>
            <a:r>
              <a:rPr sz="1000" b="1" dirty="0" err="1">
                <a:latin typeface="맑은 고딕" panose="020B0503020000020004" pitchFamily="50" charset="-127"/>
                <a:ea typeface="맑은 고딕" panose="020B0503020000020004" pitchFamily="50" charset="-127"/>
              </a:rPr>
              <a:t>AMPC가</a:t>
            </a:r>
            <a:r>
              <a:rPr sz="1000" b="1" dirty="0">
                <a:latin typeface="맑은 고딕" panose="020B0503020000020004" pitchFamily="50" charset="-127"/>
                <a:ea typeface="맑은 고딕" panose="020B0503020000020004" pitchFamily="50" charset="-127"/>
              </a:rPr>
              <a:t> EV </a:t>
            </a:r>
            <a:r>
              <a:rPr sz="1000" b="1" dirty="0" err="1">
                <a:latin typeface="맑은 고딕" panose="020B0503020000020004" pitchFamily="50" charset="-127"/>
                <a:ea typeface="맑은 고딕" panose="020B0503020000020004" pitchFamily="50" charset="-127"/>
              </a:rPr>
              <a:t>적자를</a:t>
            </a:r>
            <a:r>
              <a:rPr sz="1000" b="1" dirty="0">
                <a:latin typeface="맑은 고딕" panose="020B0503020000020004" pitchFamily="50" charset="-127"/>
                <a:ea typeface="맑은 고딕" panose="020B0503020000020004" pitchFamily="50" charset="-127"/>
              </a:rPr>
              <a:t> </a:t>
            </a:r>
            <a:r>
              <a:rPr sz="1000" b="1" dirty="0" err="1">
                <a:latin typeface="맑은 고딕" panose="020B0503020000020004" pitchFamily="50" charset="-127"/>
                <a:ea typeface="맑은 고딕" panose="020B0503020000020004" pitchFamily="50" charset="-127"/>
              </a:rPr>
              <a:t>직접</a:t>
            </a:r>
            <a:r>
              <a:rPr sz="1000" b="1" dirty="0">
                <a:latin typeface="맑은 고딕" panose="020B0503020000020004" pitchFamily="50" charset="-127"/>
                <a:ea typeface="맑은 고딕" panose="020B0503020000020004" pitchFamily="50" charset="-127"/>
              </a:rPr>
              <a:t> </a:t>
            </a:r>
            <a:r>
              <a:rPr sz="1000" b="1" dirty="0" err="1">
                <a:latin typeface="맑은 고딕" panose="020B0503020000020004" pitchFamily="50" charset="-127"/>
                <a:ea typeface="맑은 고딕" panose="020B0503020000020004" pitchFamily="50" charset="-127"/>
              </a:rPr>
              <a:t>메운다</a:t>
            </a:r>
            <a:endParaRPr sz="1000" b="1" dirty="0">
              <a:latin typeface="맑은 고딕" panose="020B0503020000020004" pitchFamily="50" charset="-127"/>
              <a:ea typeface="맑은 고딕" panose="020B0503020000020004" pitchFamily="50" charset="-127"/>
            </a:endParaRPr>
          </a:p>
        </p:txBody>
      </p:sp>
      <p:sp>
        <p:nvSpPr>
          <p:cNvPr id="7" name="TextBox 6"/>
          <p:cNvSpPr txBox="1"/>
          <p:nvPr/>
        </p:nvSpPr>
        <p:spPr>
          <a:xfrm>
            <a:off x="996341" y="1777096"/>
            <a:ext cx="5468645" cy="2769604"/>
          </a:xfrm>
          <a:prstGeom prst="rect">
            <a:avLst/>
          </a:prstGeom>
          <a:noFill/>
        </p:spPr>
        <p:txBody>
          <a:bodyPr wrap="square" lIns="0" tIns="0" rIns="0" bIns="0" anchor="t">
            <a:spAutoFit/>
          </a:bodyPr>
          <a:lstStyle/>
          <a:p>
            <a:pPr algn="just">
              <a:lnSpc>
                <a:spcPct val="132000"/>
              </a:lnSpc>
              <a:spcBef>
                <a:spcPts val="0"/>
              </a:spcBef>
              <a:spcAft>
                <a:spcPts val="900"/>
              </a:spcAft>
            </a:pPr>
            <a:r>
              <a:rPr sz="900">
                <a:solidFill>
                  <a:srgbClr val="222222"/>
                </a:solidFill>
                <a:latin typeface="맑은 고딕"/>
              </a:rPr>
              <a:t>삼성SDI는 미국 현지에서 각형 LFP 배터리를 양산할 수 있는 유일한 비중국계 제조사다. NCA 기반 SBB 1.7(6.14MWh, 미국 생산)에 이어 2026년 4분기 LFP 기반 SBB 2.0(5.0MWh, 미국 생산)을 양산하면, 미국 대형 ESS 디벨로퍼 AES 등을 고객으로 한 북미 ESS 매출이 본격화된다</a:t>
            </a:r>
            <a:r>
              <a:rPr sz="800">
                <a:solidFill>
                  <a:srgbClr val="6B7785"/>
                </a:solidFill>
                <a:latin typeface="맑은 고딕"/>
              </a:rPr>
              <a:t> [자료21]</a:t>
            </a:r>
            <a:r>
              <a:rPr sz="900">
                <a:solidFill>
                  <a:srgbClr val="222222"/>
                </a:solidFill>
                <a:latin typeface="맑은 고딕"/>
              </a:rPr>
              <a:t>. 이 과정에서 IRA 첨단제조 생산세액공제(AMPC, 셀 $35 + 모듈 $10 = kWh당 $45)가 ESS 출하 증가와 맞물려 빠르게 늘며, EV 부문 적자를 ESS·AMPC로 직접 상쇄하는 손익 구조가 완성된다.</a:t>
            </a:r>
          </a:p>
          <a:p>
            <a:pPr algn="just">
              <a:lnSpc>
                <a:spcPct val="132000"/>
              </a:lnSpc>
              <a:spcBef>
                <a:spcPts val="0"/>
              </a:spcBef>
              <a:spcAft>
                <a:spcPts val="900"/>
              </a:spcAft>
            </a:pPr>
            <a:r>
              <a:rPr sz="900" b="0" i="0" dirty="0">
                <a:solidFill>
                  <a:srgbClr val="222222"/>
                </a:solidFill>
                <a:latin typeface="맑은 고딕" panose="020B0503020000020004" pitchFamily="50" charset="-127"/>
                <a:ea typeface="맑은 고딕" panose="020B0503020000020004" pitchFamily="50" charset="-127"/>
              </a:rPr>
              <a:t>ESS </a:t>
            </a:r>
            <a:r>
              <a:rPr sz="900" b="0" i="0" dirty="0" err="1">
                <a:solidFill>
                  <a:srgbClr val="222222"/>
                </a:solidFill>
                <a:latin typeface="맑은 고딕" panose="020B0503020000020004" pitchFamily="50" charset="-127"/>
                <a:ea typeface="맑은 고딕" panose="020B0503020000020004" pitchFamily="50" charset="-127"/>
              </a:rPr>
              <a:t>출하량은</a:t>
            </a:r>
            <a:r>
              <a:rPr sz="900" b="0" i="0" dirty="0">
                <a:solidFill>
                  <a:srgbClr val="222222"/>
                </a:solidFill>
                <a:latin typeface="맑은 고딕" panose="020B0503020000020004" pitchFamily="50" charset="-127"/>
                <a:ea typeface="맑은 고딕" panose="020B0503020000020004" pitchFamily="50" charset="-127"/>
              </a:rPr>
              <a:t> 2025년 12GWh → 2026년 22GWh → 2027년 30GWh로, ESS </a:t>
            </a:r>
            <a:r>
              <a:rPr sz="900" b="0" i="0" dirty="0" err="1">
                <a:solidFill>
                  <a:srgbClr val="222222"/>
                </a:solidFill>
                <a:latin typeface="맑은 고딕" panose="020B0503020000020004" pitchFamily="50" charset="-127"/>
                <a:ea typeface="맑은 고딕" panose="020B0503020000020004" pitchFamily="50" charset="-127"/>
              </a:rPr>
              <a:t>매출은</a:t>
            </a:r>
            <a:r>
              <a:rPr sz="900" b="0" i="0" dirty="0">
                <a:solidFill>
                  <a:srgbClr val="222222"/>
                </a:solidFill>
                <a:latin typeface="맑은 고딕" panose="020B0503020000020004" pitchFamily="50" charset="-127"/>
                <a:ea typeface="맑은 고딕" panose="020B0503020000020004" pitchFamily="50" charset="-127"/>
              </a:rPr>
              <a:t> 약 3.0조 → 5.0조 → 6.8조원으로 </a:t>
            </a:r>
            <a:r>
              <a:rPr sz="900" b="0" i="0" dirty="0" err="1">
                <a:solidFill>
                  <a:srgbClr val="222222"/>
                </a:solidFill>
                <a:latin typeface="맑은 고딕" panose="020B0503020000020004" pitchFamily="50" charset="-127"/>
                <a:ea typeface="맑은 고딕" panose="020B0503020000020004" pitchFamily="50" charset="-127"/>
              </a:rPr>
              <a:t>확대될</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전망이다</a:t>
            </a:r>
            <a:r>
              <a:rPr sz="800" b="1" i="0" dirty="0">
                <a:solidFill>
                  <a:srgbClr val="6B7785"/>
                </a:solidFill>
                <a:latin typeface="맑은 고딕" panose="020B0503020000020004" pitchFamily="50" charset="-127"/>
                <a:ea typeface="맑은 고딕" panose="020B0503020000020004" pitchFamily="50" charset="-127"/>
              </a:rPr>
              <a:t> [자료22]</a:t>
            </a:r>
            <a:r>
              <a:rPr sz="900" b="0" i="0" dirty="0">
                <a:solidFill>
                  <a:srgbClr val="222222"/>
                </a:solidFill>
                <a:latin typeface="맑은 고딕" panose="020B0503020000020004" pitchFamily="50" charset="-127"/>
                <a:ea typeface="맑은 고딕" panose="020B0503020000020004" pitchFamily="50" charset="-127"/>
              </a:rPr>
              <a:t>. AMPC </a:t>
            </a:r>
            <a:r>
              <a:rPr sz="900" b="0" i="0" dirty="0" err="1">
                <a:solidFill>
                  <a:srgbClr val="222222"/>
                </a:solidFill>
                <a:latin typeface="맑은 고딕" panose="020B0503020000020004" pitchFamily="50" charset="-127"/>
                <a:ea typeface="맑은 고딕" panose="020B0503020000020004" pitchFamily="50" charset="-127"/>
              </a:rPr>
              <a:t>수령액도</a:t>
            </a:r>
            <a:r>
              <a:rPr sz="900" b="0" i="0" dirty="0">
                <a:solidFill>
                  <a:srgbClr val="222222"/>
                </a:solidFill>
                <a:latin typeface="맑은 고딕" panose="020B0503020000020004" pitchFamily="50" charset="-127"/>
                <a:ea typeface="맑은 고딕" panose="020B0503020000020004" pitchFamily="50" charset="-127"/>
              </a:rPr>
              <a:t> 2025년 약 2,750억원 → 2026년 5,100억원 → 2027년 8,000억원 </a:t>
            </a:r>
            <a:r>
              <a:rPr sz="900" b="0" i="0" dirty="0" err="1">
                <a:solidFill>
                  <a:srgbClr val="222222"/>
                </a:solidFill>
                <a:latin typeface="맑은 고딕" panose="020B0503020000020004" pitchFamily="50" charset="-127"/>
                <a:ea typeface="맑은 고딕" panose="020B0503020000020004" pitchFamily="50" charset="-127"/>
              </a:rPr>
              <a:t>규모로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증가하며</a:t>
            </a:r>
            <a:r>
              <a:rPr sz="900" b="0" i="0" dirty="0">
                <a:solidFill>
                  <a:srgbClr val="222222"/>
                </a:solidFill>
                <a:latin typeface="맑은 고딕" panose="020B0503020000020004" pitchFamily="50" charset="-127"/>
                <a:ea typeface="맑은 고딕" panose="020B0503020000020004" pitchFamily="50" charset="-127"/>
              </a:rPr>
              <a:t>(</a:t>
            </a:r>
            <a:r>
              <a:rPr sz="900" b="0" i="0" dirty="0" err="1">
                <a:solidFill>
                  <a:srgbClr val="222222"/>
                </a:solidFill>
                <a:latin typeface="맑은 고딕" panose="020B0503020000020004" pitchFamily="50" charset="-127"/>
                <a:ea typeface="맑은 고딕" panose="020B0503020000020004" pitchFamily="50" charset="-127"/>
              </a:rPr>
              <a:t>현대차증권</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추정</a:t>
            </a:r>
            <a:r>
              <a:rPr sz="900" b="0" i="0" dirty="0">
                <a:solidFill>
                  <a:srgbClr val="222222"/>
                </a:solidFill>
                <a:latin typeface="맑은 고딕" panose="020B0503020000020004" pitchFamily="50" charset="-127"/>
                <a:ea typeface="맑은 고딕" panose="020B0503020000020004" pitchFamily="50" charset="-127"/>
              </a:rPr>
              <a:t>), SBB 2.0 LFP </a:t>
            </a:r>
            <a:r>
              <a:rPr sz="900" b="0" i="0" dirty="0" err="1">
                <a:solidFill>
                  <a:srgbClr val="222222"/>
                </a:solidFill>
                <a:latin typeface="맑은 고딕" panose="020B0503020000020004" pitchFamily="50" charset="-127"/>
                <a:ea typeface="맑은 고딕" panose="020B0503020000020004" pitchFamily="50" charset="-127"/>
              </a:rPr>
              <a:t>라인이</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미국에서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풀가동될</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경우</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연간</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최대</a:t>
            </a:r>
            <a:r>
              <a:rPr sz="900" b="0" i="0" dirty="0">
                <a:solidFill>
                  <a:srgbClr val="222222"/>
                </a:solidFill>
                <a:latin typeface="맑은 고딕" panose="020B0503020000020004" pitchFamily="50" charset="-127"/>
                <a:ea typeface="맑은 고딕" panose="020B0503020000020004" pitchFamily="50" charset="-127"/>
              </a:rPr>
              <a:t> 1조원 </a:t>
            </a:r>
            <a:r>
              <a:rPr sz="900" b="0" i="0" dirty="0" err="1">
                <a:solidFill>
                  <a:srgbClr val="222222"/>
                </a:solidFill>
                <a:latin typeface="맑은 고딕" panose="020B0503020000020004" pitchFamily="50" charset="-127"/>
                <a:ea typeface="맑은 고딕" panose="020B0503020000020004" pitchFamily="50" charset="-127"/>
              </a:rPr>
              <a:t>중반까지</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확대될</a:t>
            </a:r>
            <a:r>
              <a:rPr sz="900" b="0" i="0" dirty="0">
                <a:solidFill>
                  <a:srgbClr val="222222"/>
                </a:solidFill>
                <a:latin typeface="맑은 고딕" panose="020B0503020000020004" pitchFamily="50" charset="-127"/>
                <a:ea typeface="맑은 고딕" panose="020B0503020000020004" pitchFamily="50" charset="-127"/>
              </a:rPr>
              <a:t> 수 </a:t>
            </a:r>
            <a:r>
              <a:rPr sz="900" b="0" i="0" dirty="0" err="1">
                <a:solidFill>
                  <a:srgbClr val="222222"/>
                </a:solidFill>
                <a:latin typeface="맑은 고딕" panose="020B0503020000020004" pitchFamily="50" charset="-127"/>
                <a:ea typeface="맑은 고딕" panose="020B0503020000020004" pitchFamily="50" charset="-127"/>
              </a:rPr>
              <a:t>있다</a:t>
            </a:r>
            <a:r>
              <a:rPr sz="900" b="0" i="0" dirty="0">
                <a:solidFill>
                  <a:srgbClr val="222222"/>
                </a:solidFill>
                <a:latin typeface="맑은 고딕" panose="020B0503020000020004" pitchFamily="50" charset="-127"/>
                <a:ea typeface="맑은 고딕" panose="020B0503020000020004" pitchFamily="50" charset="-127"/>
              </a:rPr>
              <a:t>. 2025년 4분기 </a:t>
            </a:r>
            <a:r>
              <a:rPr sz="900" b="0" i="0" dirty="0" err="1">
                <a:solidFill>
                  <a:srgbClr val="222222"/>
                </a:solidFill>
                <a:latin typeface="맑은 고딕" panose="020B0503020000020004" pitchFamily="50" charset="-127"/>
                <a:ea typeface="맑은 고딕" panose="020B0503020000020004" pitchFamily="50" charset="-127"/>
              </a:rPr>
              <a:t>미국</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공장</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가동에</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따른</a:t>
            </a:r>
            <a:r>
              <a:rPr sz="900" b="0" i="0" dirty="0">
                <a:solidFill>
                  <a:srgbClr val="222222"/>
                </a:solidFill>
                <a:latin typeface="맑은 고딕" panose="020B0503020000020004" pitchFamily="50" charset="-127"/>
                <a:ea typeface="맑은 고딕" panose="020B0503020000020004" pitchFamily="50" charset="-127"/>
              </a:rPr>
              <a:t> AMPC </a:t>
            </a:r>
            <a:r>
              <a:rPr sz="900" b="0" i="0" dirty="0" err="1">
                <a:solidFill>
                  <a:srgbClr val="222222"/>
                </a:solidFill>
                <a:latin typeface="맑은 고딕" panose="020B0503020000020004" pitchFamily="50" charset="-127"/>
                <a:ea typeface="맑은 고딕" panose="020B0503020000020004" pitchFamily="50" charset="-127"/>
              </a:rPr>
              <a:t>수취</a:t>
            </a:r>
            <a:r>
              <a:rPr sz="900" b="0" i="0" dirty="0">
                <a:solidFill>
                  <a:srgbClr val="222222"/>
                </a:solidFill>
                <a:latin typeface="맑은 고딕" panose="020B0503020000020004" pitchFamily="50" charset="-127"/>
                <a:ea typeface="맑은 고딕" panose="020B0503020000020004" pitchFamily="50" charset="-127"/>
              </a:rPr>
              <a:t>(약 798억원)로 ESS </a:t>
            </a:r>
            <a:r>
              <a:rPr sz="900" b="0" i="0" dirty="0" err="1">
                <a:solidFill>
                  <a:srgbClr val="222222"/>
                </a:solidFill>
                <a:latin typeface="맑은 고딕" panose="020B0503020000020004" pitchFamily="50" charset="-127"/>
                <a:ea typeface="맑은 고딕" panose="020B0503020000020004" pitchFamily="50" charset="-127"/>
              </a:rPr>
              <a:t>부문이</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이미</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흑자</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전환한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점은</a:t>
            </a:r>
            <a:r>
              <a:rPr sz="900" b="0" i="0" dirty="0">
                <a:solidFill>
                  <a:srgbClr val="222222"/>
                </a:solidFill>
                <a:latin typeface="맑은 고딕" panose="020B0503020000020004" pitchFamily="50" charset="-127"/>
                <a:ea typeface="맑은 고딕" panose="020B0503020000020004" pitchFamily="50" charset="-127"/>
              </a:rPr>
              <a:t> 이 </a:t>
            </a:r>
            <a:r>
              <a:rPr sz="900" b="0" i="0" dirty="0" err="1">
                <a:solidFill>
                  <a:srgbClr val="222222"/>
                </a:solidFill>
                <a:latin typeface="맑은 고딕" panose="020B0503020000020004" pitchFamily="50" charset="-127"/>
                <a:ea typeface="맑은 고딕" panose="020B0503020000020004" pitchFamily="50" charset="-127"/>
              </a:rPr>
              <a:t>구조가</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작동하기</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시작했음을</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보여준다</a:t>
            </a:r>
            <a:r>
              <a:rPr sz="900" b="0" i="0" dirty="0">
                <a:solidFill>
                  <a:srgbClr val="222222"/>
                </a:solidFill>
                <a:latin typeface="맑은 고딕" panose="020B0503020000020004" pitchFamily="50" charset="-127"/>
                <a:ea typeface="맑은 고딕" panose="020B0503020000020004" pitchFamily="50" charset="-127"/>
              </a:rPr>
              <a:t>.</a:t>
            </a:r>
          </a:p>
          <a:p>
            <a:pPr algn="just">
              <a:lnSpc>
                <a:spcPct val="132000"/>
              </a:lnSpc>
              <a:spcBef>
                <a:spcPts val="0"/>
              </a:spcBef>
              <a:spcAft>
                <a:spcPts val="900"/>
              </a:spcAft>
            </a:pPr>
            <a:r>
              <a:rPr sz="900" b="0" i="0" dirty="0" err="1">
                <a:solidFill>
                  <a:srgbClr val="222222"/>
                </a:solidFill>
                <a:latin typeface="맑은 고딕" panose="020B0503020000020004" pitchFamily="50" charset="-127"/>
                <a:ea typeface="맑은 고딕" panose="020B0503020000020004" pitchFamily="50" charset="-127"/>
              </a:rPr>
              <a:t>미국</a:t>
            </a:r>
            <a:r>
              <a:rPr sz="900" b="0" i="0" dirty="0">
                <a:solidFill>
                  <a:srgbClr val="222222"/>
                </a:solidFill>
                <a:latin typeface="맑은 고딕" panose="020B0503020000020004" pitchFamily="50" charset="-127"/>
                <a:ea typeface="맑은 고딕" panose="020B0503020000020004" pitchFamily="50" charset="-127"/>
              </a:rPr>
              <a:t> ESS </a:t>
            </a:r>
            <a:r>
              <a:rPr sz="900" b="0" i="0" dirty="0" err="1">
                <a:solidFill>
                  <a:srgbClr val="222222"/>
                </a:solidFill>
                <a:latin typeface="맑은 고딕" panose="020B0503020000020004" pitchFamily="50" charset="-127"/>
                <a:ea typeface="맑은 고딕" panose="020B0503020000020004" pitchFamily="50" charset="-127"/>
              </a:rPr>
              <a:t>시장은</a:t>
            </a:r>
            <a:r>
              <a:rPr sz="900" b="0" i="0" dirty="0">
                <a:solidFill>
                  <a:srgbClr val="222222"/>
                </a:solidFill>
                <a:latin typeface="맑은 고딕" panose="020B0503020000020004" pitchFamily="50" charset="-127"/>
                <a:ea typeface="맑은 고딕" panose="020B0503020000020004" pitchFamily="50" charset="-127"/>
              </a:rPr>
              <a:t> AI </a:t>
            </a:r>
            <a:r>
              <a:rPr sz="900" b="0" i="0" dirty="0" err="1">
                <a:solidFill>
                  <a:srgbClr val="222222"/>
                </a:solidFill>
                <a:latin typeface="맑은 고딕" panose="020B0503020000020004" pitchFamily="50" charset="-127"/>
                <a:ea typeface="맑은 고딕" panose="020B0503020000020004" pitchFamily="50" charset="-127"/>
              </a:rPr>
              <a:t>데이터센터발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전력</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수요로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구조적</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고성장</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국면에</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있다</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글로벌</a:t>
            </a:r>
            <a:r>
              <a:rPr sz="900" b="0" i="0" dirty="0">
                <a:solidFill>
                  <a:srgbClr val="222222"/>
                </a:solidFill>
                <a:latin typeface="맑은 고딕" panose="020B0503020000020004" pitchFamily="50" charset="-127"/>
                <a:ea typeface="맑은 고딕" panose="020B0503020000020004" pitchFamily="50" charset="-127"/>
              </a:rPr>
              <a:t> ESS </a:t>
            </a:r>
            <a:r>
              <a:rPr sz="900" b="0" i="0" dirty="0" err="1">
                <a:solidFill>
                  <a:srgbClr val="222222"/>
                </a:solidFill>
                <a:latin typeface="맑은 고딕" panose="020B0503020000020004" pitchFamily="50" charset="-127"/>
                <a:ea typeface="맑은 고딕" panose="020B0503020000020004" pitchFamily="50" charset="-127"/>
              </a:rPr>
              <a:t>시장은</a:t>
            </a:r>
            <a:r>
              <a:rPr sz="900" b="0" i="0" dirty="0">
                <a:solidFill>
                  <a:srgbClr val="222222"/>
                </a:solidFill>
                <a:latin typeface="맑은 고딕" panose="020B0503020000020004" pitchFamily="50" charset="-127"/>
                <a:ea typeface="맑은 고딕" panose="020B0503020000020004" pitchFamily="50" charset="-127"/>
              </a:rPr>
              <a:t> 2024년 399GWh에서 2035년 1,232GWh로 약 3배 </a:t>
            </a:r>
            <a:r>
              <a:rPr sz="900" b="0" i="0" dirty="0" err="1">
                <a:solidFill>
                  <a:srgbClr val="222222"/>
                </a:solidFill>
                <a:latin typeface="맑은 고딕" panose="020B0503020000020004" pitchFamily="50" charset="-127"/>
                <a:ea typeface="맑은 고딕" panose="020B0503020000020004" pitchFamily="50" charset="-127"/>
              </a:rPr>
              <a:t>성장할</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전망이나</a:t>
            </a:r>
            <a:r>
              <a:rPr sz="800" b="1" i="0" dirty="0">
                <a:solidFill>
                  <a:srgbClr val="6B7785"/>
                </a:solidFill>
                <a:latin typeface="맑은 고딕" panose="020B0503020000020004" pitchFamily="50" charset="-127"/>
                <a:ea typeface="맑은 고딕" panose="020B0503020000020004" pitchFamily="50" charset="-127"/>
              </a:rPr>
              <a:t> [자료21]</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미국</a:t>
            </a:r>
            <a:r>
              <a:rPr sz="900" b="0" i="0" dirty="0">
                <a:solidFill>
                  <a:srgbClr val="222222"/>
                </a:solidFill>
                <a:latin typeface="맑은 고딕" panose="020B0503020000020004" pitchFamily="50" charset="-127"/>
                <a:ea typeface="맑은 고딕" panose="020B0503020000020004" pitchFamily="50" charset="-127"/>
              </a:rPr>
              <a:t> 내 </a:t>
            </a:r>
            <a:r>
              <a:rPr sz="900" b="0" i="0" dirty="0" err="1">
                <a:solidFill>
                  <a:srgbClr val="222222"/>
                </a:solidFill>
                <a:latin typeface="맑은 고딕" panose="020B0503020000020004" pitchFamily="50" charset="-127"/>
                <a:ea typeface="맑은 고딕" panose="020B0503020000020004" pitchFamily="50" charset="-127"/>
              </a:rPr>
              <a:t>현지</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생산</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캐파는</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수요의</a:t>
            </a:r>
            <a:r>
              <a:rPr sz="900" b="0" i="0" dirty="0">
                <a:solidFill>
                  <a:srgbClr val="222222"/>
                </a:solidFill>
                <a:latin typeface="맑은 고딕" panose="020B0503020000020004" pitchFamily="50" charset="-127"/>
                <a:ea typeface="맑은 고딕" panose="020B0503020000020004" pitchFamily="50" charset="-127"/>
              </a:rPr>
              <a:t> 약 30%에 </a:t>
            </a:r>
            <a:r>
              <a:rPr sz="900" b="0" i="0" dirty="0" err="1">
                <a:solidFill>
                  <a:srgbClr val="222222"/>
                </a:solidFill>
                <a:latin typeface="맑은 고딕" panose="020B0503020000020004" pitchFamily="50" charset="-127"/>
                <a:ea typeface="맑은 고딕" panose="020B0503020000020004" pitchFamily="50" charset="-127"/>
              </a:rPr>
              <a:t>불과하고</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FEOC·관세</a:t>
            </a:r>
            <a:r>
              <a:rPr sz="900" b="0" i="0" dirty="0">
                <a:solidFill>
                  <a:srgbClr val="222222"/>
                </a:solidFill>
                <a:latin typeface="맑은 고딕" panose="020B0503020000020004" pitchFamily="50" charset="-127"/>
                <a:ea typeface="맑은 고딕" panose="020B0503020000020004" pitchFamily="50" charset="-127"/>
              </a:rPr>
              <a:t> 등 </a:t>
            </a:r>
            <a:r>
              <a:rPr sz="900" b="0" i="0" dirty="0" err="1">
                <a:solidFill>
                  <a:srgbClr val="222222"/>
                </a:solidFill>
                <a:latin typeface="맑은 고딕" panose="020B0503020000020004" pitchFamily="50" charset="-127"/>
                <a:ea typeface="맑은 고딕" panose="020B0503020000020004" pitchFamily="50" charset="-127"/>
              </a:rPr>
              <a:t>탈중국</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규제로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중국산</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진입이</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점진</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제한된다</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비중국계로서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미국에서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각형</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LFP를</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양산할</a:t>
            </a:r>
            <a:r>
              <a:rPr sz="900" b="0" i="0" dirty="0">
                <a:solidFill>
                  <a:srgbClr val="222222"/>
                </a:solidFill>
                <a:latin typeface="맑은 고딕" panose="020B0503020000020004" pitchFamily="50" charset="-127"/>
                <a:ea typeface="맑은 고딕" panose="020B0503020000020004" pitchFamily="50" charset="-127"/>
              </a:rPr>
              <a:t> 수 </a:t>
            </a:r>
            <a:r>
              <a:rPr sz="900" b="0" i="0" dirty="0" err="1">
                <a:solidFill>
                  <a:srgbClr val="222222"/>
                </a:solidFill>
                <a:latin typeface="맑은 고딕" panose="020B0503020000020004" pitchFamily="50" charset="-127"/>
                <a:ea typeface="맑은 고딕" panose="020B0503020000020004" pitchFamily="50" charset="-127"/>
              </a:rPr>
              <a:t>있는</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지위는</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가격이</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아니라</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공급</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가능</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여부</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자체로</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독점적</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수주</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창구를</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여는</a:t>
            </a:r>
            <a:r>
              <a:rPr sz="900" b="0" i="0" dirty="0">
                <a:solidFill>
                  <a:srgbClr val="222222"/>
                </a:solidFill>
                <a:latin typeface="맑은 고딕" panose="020B0503020000020004" pitchFamily="50" charset="-127"/>
                <a:ea typeface="맑은 고딕" panose="020B0503020000020004" pitchFamily="50" charset="-127"/>
              </a:rPr>
              <a:t> </a:t>
            </a:r>
            <a:r>
              <a:rPr sz="900" b="0" i="0" dirty="0" err="1">
                <a:solidFill>
                  <a:srgbClr val="222222"/>
                </a:solidFill>
                <a:latin typeface="맑은 고딕" panose="020B0503020000020004" pitchFamily="50" charset="-127"/>
                <a:ea typeface="맑은 고딕" panose="020B0503020000020004" pitchFamily="50" charset="-127"/>
              </a:rPr>
              <a:t>해자다</a:t>
            </a:r>
            <a:r>
              <a:rPr sz="900" b="0" i="0" dirty="0">
                <a:solidFill>
                  <a:srgbClr val="222222"/>
                </a:solidFill>
                <a:latin typeface="맑은 고딕" panose="020B0503020000020004" pitchFamily="50" charset="-127"/>
                <a:ea typeface="맑은 고딕" panose="020B0503020000020004" pitchFamily="50" charset="-127"/>
              </a:rPr>
              <a:t>.</a:t>
            </a:r>
          </a:p>
        </p:txBody>
      </p:sp>
      <p:sp>
        <p:nvSpPr>
          <p:cNvPr id="12" name="TextBox 10">
            <a:extLst>
              <a:ext uri="{FF2B5EF4-FFF2-40B4-BE49-F238E27FC236}">
                <a16:creationId xmlns:a16="http://schemas.microsoft.com/office/drawing/2014/main" id="{8F678365-7597-13B3-0795-09C81D1A23BF}"/>
              </a:ext>
            </a:extLst>
          </p:cNvPr>
          <p:cNvSpPr txBox="1"/>
          <p:nvPr/>
        </p:nvSpPr>
        <p:spPr>
          <a:xfrm>
            <a:off x="996341" y="759155"/>
            <a:ext cx="4646838" cy="514693"/>
          </a:xfrm>
          <a:prstGeom prst="rect">
            <a:avLst/>
          </a:prstGeom>
        </p:spPr>
        <p:txBody>
          <a:bodyPr lIns="0" tIns="0" rIns="0" bIns="0" rtlCol="0" anchor="t">
            <a:spAutoFit/>
          </a:bodyPr>
          <a:lstStyle/>
          <a:p>
            <a:pPr algn="just">
              <a:lnSpc>
                <a:spcPts val="2093"/>
              </a:lnSpc>
            </a:pPr>
            <a:r>
              <a:rPr lang="en-US" altLang="ko-KR" sz="1395" b="1" dirty="0">
                <a:solidFill>
                  <a:srgbClr val="005EB8"/>
                </a:solidFill>
                <a:latin typeface="맑은 고딕" panose="020B0503020000020004" pitchFamily="50" charset="-127"/>
                <a:ea typeface="맑은 고딕" panose="020B0503020000020004" pitchFamily="50" charset="-127"/>
                <a:cs typeface="Pretendard Bold"/>
                <a:sym typeface="Pretendard Bold"/>
              </a:rPr>
              <a:t>3.</a:t>
            </a:r>
            <a:r>
              <a:rPr lang="ko-KR" altLang="en-US" sz="1395" b="1" dirty="0">
                <a:solidFill>
                  <a:srgbClr val="005EB8"/>
                </a:solidFill>
                <a:latin typeface="맑은 고딕" panose="020B0503020000020004" pitchFamily="50" charset="-127"/>
                <a:ea typeface="맑은 고딕" panose="020B0503020000020004" pitchFamily="50" charset="-127"/>
                <a:cs typeface="Pretendard Bold"/>
                <a:sym typeface="Pretendard Bold"/>
              </a:rPr>
              <a:t> 투자 포인트</a:t>
            </a:r>
            <a:endParaRPr lang="en" altLang="ko-KR" sz="1395" b="1" dirty="0">
              <a:solidFill>
                <a:srgbClr val="005EB8"/>
              </a:solidFill>
              <a:latin typeface="맑은 고딕" panose="020B0503020000020004" pitchFamily="50" charset="-127"/>
              <a:ea typeface="맑은 고딕" panose="020B0503020000020004" pitchFamily="50" charset="-127"/>
              <a:cs typeface="Pretendard Bold"/>
              <a:sym typeface="Pretendard Bold"/>
            </a:endParaRPr>
          </a:p>
          <a:p>
            <a:pPr algn="just">
              <a:lnSpc>
                <a:spcPts val="2093"/>
              </a:lnSpc>
            </a:pPr>
            <a:endParaRPr lang="en-US" sz="1395" b="1" dirty="0">
              <a:solidFill>
                <a:srgbClr val="005EB8"/>
              </a:solidFill>
              <a:latin typeface="맑은 고딕" panose="020B0503020000020004" pitchFamily="50" charset="-127"/>
              <a:ea typeface="맑은 고딕" panose="020B0503020000020004" pitchFamily="50" charset="-127"/>
              <a:cs typeface="Pretendard Bold"/>
              <a:sym typeface="Pretendard Bold"/>
            </a:endParaRPr>
          </a:p>
        </p:txBody>
      </p:sp>
      <p:grpSp>
        <p:nvGrpSpPr>
          <p:cNvPr id="25" name="그룹 24">
            <a:extLst>
              <a:ext uri="{FF2B5EF4-FFF2-40B4-BE49-F238E27FC236}">
                <a16:creationId xmlns:a16="http://schemas.microsoft.com/office/drawing/2014/main" id="{E4372124-FF77-C8AC-32C0-C552CC7B1A01}"/>
              </a:ext>
            </a:extLst>
          </p:cNvPr>
          <p:cNvGrpSpPr/>
          <p:nvPr/>
        </p:nvGrpSpPr>
        <p:grpSpPr>
          <a:xfrm>
            <a:off x="780900" y="4646776"/>
            <a:ext cx="5403150" cy="2378743"/>
            <a:chOff x="371700" y="5033142"/>
            <a:chExt cx="5581214" cy="2750746"/>
          </a:xfrm>
        </p:grpSpPr>
        <p:sp>
          <p:nvSpPr>
            <p:cNvPr id="14" name="Rectangle 5">
              <a:extLst>
                <a:ext uri="{FF2B5EF4-FFF2-40B4-BE49-F238E27FC236}">
                  <a16:creationId xmlns:a16="http://schemas.microsoft.com/office/drawing/2014/main" id="{00766CF9-8B72-0D8F-F2AB-9CF49869C614}"/>
                </a:ext>
              </a:extLst>
            </p:cNvPr>
            <p:cNvSpPr>
              <a:spLocks/>
            </p:cNvSpPr>
            <p:nvPr/>
          </p:nvSpPr>
          <p:spPr>
            <a:xfrm>
              <a:off x="402336" y="5033142"/>
              <a:ext cx="4194829" cy="256264"/>
            </a:xfrm>
            <a:prstGeom prst="rect">
              <a:avLst/>
            </a:prstGeom>
            <a:solidFill>
              <a:schemeClr val="accent1">
                <a:lumMod val="40000"/>
                <a:lumOff val="6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4E9FD55E-70E8-D3F6-1523-6A1F486E8545}"/>
                </a:ext>
              </a:extLst>
            </p:cNvPr>
            <p:cNvSpPr txBox="1">
              <a:spLocks/>
            </p:cNvSpPr>
            <p:nvPr/>
          </p:nvSpPr>
          <p:spPr>
            <a:xfrm>
              <a:off x="457200" y="5090020"/>
              <a:ext cx="5347483" cy="141514"/>
            </a:xfrm>
            <a:prstGeom prst="rect">
              <a:avLst/>
            </a:prstGeom>
            <a:noFill/>
          </p:spPr>
          <p:txBody>
            <a:bodyPr wrap="square" lIns="0" tIns="0" rIns="0" bIns="0" anchor="ctr">
              <a:spAutoFit/>
            </a:bodyPr>
            <a:lstStyle/>
            <a:p>
              <a:pPr>
                <a:lnSpc>
                  <a:spcPct val="112000"/>
                </a:lnSpc>
                <a:spcBef>
                  <a:spcPts val="0"/>
                </a:spcBef>
                <a:spcAft>
                  <a:spcPts val="0"/>
                </a:spcAft>
              </a:pPr>
              <a:r>
                <a:rPr sz="900" b="1" i="0" dirty="0">
                  <a:solidFill>
                    <a:sysClr val="windowText" lastClr="000000"/>
                  </a:solidFill>
                  <a:latin typeface="Malgun Gothic"/>
                </a:rPr>
                <a:t>자료21. </a:t>
              </a:r>
              <a:r>
                <a:rPr sz="900" b="1" i="0" dirty="0" err="1">
                  <a:solidFill>
                    <a:sysClr val="windowText" lastClr="000000"/>
                  </a:solidFill>
                  <a:latin typeface="Malgun Gothic"/>
                </a:rPr>
                <a:t>삼성SDI</a:t>
              </a:r>
              <a:r>
                <a:rPr sz="900" b="1" i="0" dirty="0">
                  <a:solidFill>
                    <a:sysClr val="windowText" lastClr="000000"/>
                  </a:solidFill>
                  <a:latin typeface="Malgun Gothic"/>
                </a:rPr>
                <a:t> SBB </a:t>
              </a:r>
              <a:r>
                <a:rPr sz="900" b="1" i="0" dirty="0" err="1">
                  <a:solidFill>
                    <a:sysClr val="windowText" lastClr="000000"/>
                  </a:solidFill>
                  <a:latin typeface="Malgun Gothic"/>
                </a:rPr>
                <a:t>라인업</a:t>
              </a:r>
              <a:r>
                <a:rPr sz="900" b="1" i="0" dirty="0">
                  <a:solidFill>
                    <a:sysClr val="windowText" lastClr="000000"/>
                  </a:solidFill>
                  <a:latin typeface="Malgun Gothic"/>
                </a:rPr>
                <a:t> (SBB 1.5→2.0)</a:t>
              </a:r>
            </a:p>
          </p:txBody>
        </p:sp>
        <p:sp>
          <p:nvSpPr>
            <p:cNvPr id="22" name="TextBox 21">
              <a:extLst>
                <a:ext uri="{FF2B5EF4-FFF2-40B4-BE49-F238E27FC236}">
                  <a16:creationId xmlns:a16="http://schemas.microsoft.com/office/drawing/2014/main" id="{BDF65B31-8AA5-ECA7-F1CF-6B40F7A36E54}"/>
                </a:ext>
              </a:extLst>
            </p:cNvPr>
            <p:cNvSpPr txBox="1">
              <a:spLocks/>
            </p:cNvSpPr>
            <p:nvPr/>
          </p:nvSpPr>
          <p:spPr>
            <a:xfrm>
              <a:off x="371700" y="7665971"/>
              <a:ext cx="5581214" cy="117917"/>
            </a:xfrm>
            <a:prstGeom prst="rect">
              <a:avLst/>
            </a:prstGeom>
            <a:noFill/>
          </p:spPr>
          <p:txBody>
            <a:bodyPr wrap="square" lIns="0" tIns="0" rIns="0" bIns="0" anchor="t">
              <a:spAutoFit/>
            </a:bodyPr>
            <a:lstStyle/>
            <a:p>
              <a:pPr>
                <a:lnSpc>
                  <a:spcPct val="112000"/>
                </a:lnSpc>
                <a:spcBef>
                  <a:spcPts val="0"/>
                </a:spcBef>
                <a:spcAft>
                  <a:spcPts val="0"/>
                </a:spcAft>
              </a:pPr>
              <a:r>
                <a:rPr sz="750" b="0" i="1" dirty="0" err="1">
                  <a:solidFill>
                    <a:srgbClr val="6B7785"/>
                  </a:solidFill>
                  <a:latin typeface="Malgun Gothic"/>
                </a:rPr>
                <a:t>출처</a:t>
              </a:r>
              <a:r>
                <a:rPr sz="750" b="0" i="1" dirty="0">
                  <a:solidFill>
                    <a:srgbClr val="6B7785"/>
                  </a:solidFill>
                  <a:latin typeface="Malgun Gothic"/>
                </a:rPr>
                <a:t>: </a:t>
              </a:r>
              <a:r>
                <a:rPr sz="750" b="0" i="1" dirty="0" err="1">
                  <a:solidFill>
                    <a:srgbClr val="6B7785"/>
                  </a:solidFill>
                  <a:latin typeface="Malgun Gothic"/>
                </a:rPr>
                <a:t>삼성SDI</a:t>
              </a:r>
              <a:r>
                <a:rPr sz="750" b="0" i="1" dirty="0">
                  <a:solidFill>
                    <a:srgbClr val="6B7785"/>
                  </a:solidFill>
                  <a:latin typeface="Malgun Gothic"/>
                </a:rPr>
                <a:t>(</a:t>
              </a:r>
              <a:r>
                <a:rPr sz="750" b="0" i="1" dirty="0" err="1">
                  <a:solidFill>
                    <a:srgbClr val="6B7785"/>
                  </a:solidFill>
                  <a:latin typeface="Malgun Gothic"/>
                </a:rPr>
                <a:t>인터배터리</a:t>
              </a:r>
              <a:r>
                <a:rPr sz="750" b="0" i="1" dirty="0">
                  <a:solidFill>
                    <a:srgbClr val="6B7785"/>
                  </a:solidFill>
                  <a:latin typeface="Malgun Gothic"/>
                </a:rPr>
                <a:t> 2026), </a:t>
              </a:r>
              <a:r>
                <a:rPr sz="750" b="0" i="1" dirty="0" err="1">
                  <a:solidFill>
                    <a:srgbClr val="6B7785"/>
                  </a:solidFill>
                  <a:latin typeface="Malgun Gothic"/>
                </a:rPr>
                <a:t>하나증권</a:t>
              </a:r>
              <a:r>
                <a:rPr sz="750" b="0" i="1" dirty="0">
                  <a:solidFill>
                    <a:srgbClr val="6B7785"/>
                  </a:solidFill>
                  <a:latin typeface="Malgun Gothic"/>
                </a:rPr>
                <a:t> p.6~7, ICOK</a:t>
              </a:r>
            </a:p>
          </p:txBody>
        </p:sp>
        <p:pic>
          <p:nvPicPr>
            <p:cNvPr id="24" name="그림 23">
              <a:extLst>
                <a:ext uri="{FF2B5EF4-FFF2-40B4-BE49-F238E27FC236}">
                  <a16:creationId xmlns:a16="http://schemas.microsoft.com/office/drawing/2014/main" id="{BEED8410-1014-A29E-1ECD-7B301D119E3F}"/>
                </a:ext>
              </a:extLst>
            </p:cNvPr>
            <p:cNvPicPr>
              <a:picLocks noChangeAspect="1"/>
            </p:cNvPicPr>
            <p:nvPr/>
          </p:nvPicPr>
          <p:blipFill>
            <a:blip r:embed="rId2"/>
            <a:stretch>
              <a:fillRect/>
            </a:stretch>
          </p:blipFill>
          <p:spPr>
            <a:xfrm>
              <a:off x="402336" y="5297025"/>
              <a:ext cx="4194829" cy="2361328"/>
            </a:xfrm>
            <a:prstGeom prst="rect">
              <a:avLst/>
            </a:prstGeom>
          </p:spPr>
        </p:pic>
      </p:grpSp>
      <p:grpSp>
        <p:nvGrpSpPr>
          <p:cNvPr id="26" name="그룹 25">
            <a:extLst>
              <a:ext uri="{FF2B5EF4-FFF2-40B4-BE49-F238E27FC236}">
                <a16:creationId xmlns:a16="http://schemas.microsoft.com/office/drawing/2014/main" id="{42E7F6F9-BBC1-15A1-20D1-9E8F8515310C}"/>
              </a:ext>
            </a:extLst>
          </p:cNvPr>
          <p:cNvGrpSpPr/>
          <p:nvPr/>
        </p:nvGrpSpPr>
        <p:grpSpPr>
          <a:xfrm>
            <a:off x="764291" y="7218807"/>
            <a:ext cx="5431226" cy="2319722"/>
            <a:chOff x="438912" y="4700016"/>
            <a:chExt cx="5980176" cy="3976896"/>
          </a:xfrm>
        </p:grpSpPr>
        <p:sp>
          <p:nvSpPr>
            <p:cNvPr id="27" name="Rectangle 10">
              <a:extLst>
                <a:ext uri="{FF2B5EF4-FFF2-40B4-BE49-F238E27FC236}">
                  <a16:creationId xmlns:a16="http://schemas.microsoft.com/office/drawing/2014/main" id="{4EB21A37-B33A-7C76-3B45-FD76E4093EB3}"/>
                </a:ext>
              </a:extLst>
            </p:cNvPr>
            <p:cNvSpPr/>
            <p:nvPr/>
          </p:nvSpPr>
          <p:spPr>
            <a:xfrm>
              <a:off x="457200" y="4700016"/>
              <a:ext cx="5943600" cy="274320"/>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a:extLst>
                <a:ext uri="{FF2B5EF4-FFF2-40B4-BE49-F238E27FC236}">
                  <a16:creationId xmlns:a16="http://schemas.microsoft.com/office/drawing/2014/main" id="{7EB024BD-0C41-D59F-F187-7BA722E53B29}"/>
                </a:ext>
              </a:extLst>
            </p:cNvPr>
            <p:cNvSpPr txBox="1"/>
            <p:nvPr/>
          </p:nvSpPr>
          <p:spPr>
            <a:xfrm>
              <a:off x="530352" y="4766419"/>
              <a:ext cx="5797296" cy="141514"/>
            </a:xfrm>
            <a:prstGeom prst="rect">
              <a:avLst/>
            </a:prstGeom>
            <a:solidFill>
              <a:schemeClr val="accent1">
                <a:lumMod val="40000"/>
                <a:lumOff val="60000"/>
              </a:schemeClr>
            </a:solidFill>
          </p:spPr>
          <p:txBody>
            <a:bodyPr wrap="square" lIns="0" tIns="0" rIns="0" bIns="0" anchor="ctr">
              <a:spAutoFit/>
            </a:bodyPr>
            <a:lstStyle/>
            <a:p>
              <a:pPr>
                <a:lnSpc>
                  <a:spcPct val="112000"/>
                </a:lnSpc>
                <a:spcBef>
                  <a:spcPts val="0"/>
                </a:spcBef>
                <a:spcAft>
                  <a:spcPts val="0"/>
                </a:spcAft>
              </a:pPr>
              <a:r>
                <a:rPr sz="900" b="1" i="0">
                  <a:latin typeface="Malgun Gothic"/>
                </a:rPr>
                <a:t>자료22. ESS 출하량·매출 추정</a:t>
              </a:r>
            </a:p>
          </p:txBody>
        </p:sp>
        <p:sp>
          <p:nvSpPr>
            <p:cNvPr id="29" name="Rectangle 12">
              <a:extLst>
                <a:ext uri="{FF2B5EF4-FFF2-40B4-BE49-F238E27FC236}">
                  <a16:creationId xmlns:a16="http://schemas.microsoft.com/office/drawing/2014/main" id="{317EF3E0-05FB-C052-10E9-2B158379D1B5}"/>
                </a:ext>
              </a:extLst>
            </p:cNvPr>
            <p:cNvSpPr/>
            <p:nvPr/>
          </p:nvSpPr>
          <p:spPr>
            <a:xfrm>
              <a:off x="438912" y="4992624"/>
              <a:ext cx="5980176" cy="3419112"/>
            </a:xfrm>
            <a:prstGeom prst="rect">
              <a:avLst/>
            </a:prstGeom>
            <a:solidFill>
              <a:srgbClr val="FFFFFF"/>
            </a:solidFill>
            <a:ln w="12700">
              <a:solidFill>
                <a:srgbClr val="AAB3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D7EB0C0D-2511-C99D-55C5-77632690C198}"/>
                </a:ext>
              </a:extLst>
            </p:cNvPr>
            <p:cNvSpPr txBox="1"/>
            <p:nvPr/>
          </p:nvSpPr>
          <p:spPr>
            <a:xfrm>
              <a:off x="457200" y="8439168"/>
              <a:ext cx="5943600" cy="237744"/>
            </a:xfrm>
            <a:prstGeom prst="rect">
              <a:avLst/>
            </a:prstGeom>
            <a:noFill/>
          </p:spPr>
          <p:txBody>
            <a:bodyPr wrap="square" lIns="0" tIns="0" rIns="0" bIns="0" anchor="t">
              <a:spAutoFit/>
            </a:bodyPr>
            <a:lstStyle/>
            <a:p>
              <a:pPr>
                <a:lnSpc>
                  <a:spcPct val="112000"/>
                </a:lnSpc>
                <a:spcBef>
                  <a:spcPts val="0"/>
                </a:spcBef>
                <a:spcAft>
                  <a:spcPts val="0"/>
                </a:spcAft>
              </a:pPr>
              <a:r>
                <a:rPr sz="750" b="0" i="1">
                  <a:solidFill>
                    <a:srgbClr val="6B7785"/>
                  </a:solidFill>
                  <a:latin typeface="Malgun Gothic"/>
                </a:rPr>
                <a:t>출처: NH투자증권 p.34, 현대차증권 p.5, ICOK</a:t>
              </a:r>
            </a:p>
          </p:txBody>
        </p:sp>
      </p:grpSp>
      <p:sp>
        <p:nvSpPr>
          <p:cNvPr id="32" name="TextBox 31"/>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16</a:t>
            </a:r>
          </a:p>
        </p:txBody>
      </p:sp>
      <p:graphicFrame>
        <p:nvGraphicFramePr>
          <p:cNvPr id="9" name="Table 32">
            <a:extLst>
              <a:ext uri="{FF2B5EF4-FFF2-40B4-BE49-F238E27FC236}">
                <a16:creationId xmlns:a16="http://schemas.microsoft.com/office/drawing/2014/main" id="{166FF556-D378-677F-4CDB-7E830D8F393C}"/>
              </a:ext>
            </a:extLst>
          </p:cNvPr>
          <p:cNvGraphicFramePr>
            <a:graphicFrameLocks noGrp="1"/>
          </p:cNvGraphicFramePr>
          <p:nvPr>
            <p:extLst>
              <p:ext uri="{D42A27DB-BD31-4B8C-83A1-F6EECF244321}">
                <p14:modId xmlns:p14="http://schemas.microsoft.com/office/powerpoint/2010/main" val="1231571849"/>
              </p:ext>
            </p:extLst>
          </p:nvPr>
        </p:nvGraphicFramePr>
        <p:xfrm>
          <a:off x="764291" y="7417550"/>
          <a:ext cx="5431226" cy="1966301"/>
        </p:xfrm>
        <a:graphic>
          <a:graphicData uri="http://schemas.openxmlformats.org/drawingml/2006/table">
            <a:tbl>
              <a:tblPr>
                <a:tableStyleId>{5C22544A-7EE6-4342-B048-85BDC9FD1C3A}</a:tableStyleId>
              </a:tblPr>
              <a:tblGrid>
                <a:gridCol w="2172491">
                  <a:extLst>
                    <a:ext uri="{9D8B030D-6E8A-4147-A177-3AD203B41FA5}">
                      <a16:colId xmlns:a16="http://schemas.microsoft.com/office/drawing/2014/main" val="20000"/>
                    </a:ext>
                  </a:extLst>
                </a:gridCol>
                <a:gridCol w="1086245">
                  <a:extLst>
                    <a:ext uri="{9D8B030D-6E8A-4147-A177-3AD203B41FA5}">
                      <a16:colId xmlns:a16="http://schemas.microsoft.com/office/drawing/2014/main" val="20001"/>
                    </a:ext>
                  </a:extLst>
                </a:gridCol>
                <a:gridCol w="1086245">
                  <a:extLst>
                    <a:ext uri="{9D8B030D-6E8A-4147-A177-3AD203B41FA5}">
                      <a16:colId xmlns:a16="http://schemas.microsoft.com/office/drawing/2014/main" val="20002"/>
                    </a:ext>
                  </a:extLst>
                </a:gridCol>
                <a:gridCol w="1086245">
                  <a:extLst>
                    <a:ext uri="{9D8B030D-6E8A-4147-A177-3AD203B41FA5}">
                      <a16:colId xmlns:a16="http://schemas.microsoft.com/office/drawing/2014/main" val="20003"/>
                    </a:ext>
                  </a:extLst>
                </a:gridCol>
              </a:tblGrid>
              <a:tr h="417839">
                <a:tc>
                  <a:txBody>
                    <a:bodyPr/>
                    <a:lstStyle/>
                    <a:p>
                      <a:pPr algn="ctr"/>
                      <a:r>
                        <a:rPr sz="950" b="1" dirty="0" err="1">
                          <a:solidFill>
                            <a:schemeClr val="tx1"/>
                          </a:solidFill>
                          <a:latin typeface="맑은 고딕"/>
                        </a:rPr>
                        <a:t>구분</a:t>
                      </a:r>
                      <a:endParaRPr sz="950" b="1" dirty="0">
                        <a:solidFill>
                          <a:schemeClr val="tx1"/>
                        </a:solidFill>
                        <a:latin typeface="맑은 고딕"/>
                      </a:endParaRPr>
                    </a:p>
                  </a:txBody>
                  <a:tcPr marL="54864" marR="36576" marT="9144" marB="9144" anchor="ctr">
                    <a:solidFill>
                      <a:schemeClr val="accent1">
                        <a:lumMod val="40000"/>
                        <a:lumOff val="60000"/>
                      </a:schemeClr>
                    </a:solidFill>
                  </a:tcPr>
                </a:tc>
                <a:tc>
                  <a:txBody>
                    <a:bodyPr/>
                    <a:lstStyle/>
                    <a:p>
                      <a:pPr algn="ctr"/>
                      <a:r>
                        <a:rPr sz="950" b="1" dirty="0">
                          <a:solidFill>
                            <a:schemeClr val="tx1"/>
                          </a:solidFill>
                          <a:latin typeface="맑은 고딕"/>
                        </a:rPr>
                        <a:t>2025A</a:t>
                      </a:r>
                    </a:p>
                  </a:txBody>
                  <a:tcPr marL="54864" marR="36576" marT="9144" marB="9144" anchor="ctr">
                    <a:solidFill>
                      <a:schemeClr val="accent1">
                        <a:lumMod val="40000"/>
                        <a:lumOff val="60000"/>
                      </a:schemeClr>
                    </a:solidFill>
                  </a:tcPr>
                </a:tc>
                <a:tc>
                  <a:txBody>
                    <a:bodyPr/>
                    <a:lstStyle/>
                    <a:p>
                      <a:pPr algn="ctr"/>
                      <a:r>
                        <a:rPr sz="950" b="1" dirty="0">
                          <a:solidFill>
                            <a:schemeClr val="tx1"/>
                          </a:solidFill>
                          <a:latin typeface="맑은 고딕"/>
                        </a:rPr>
                        <a:t>2026F</a:t>
                      </a:r>
                    </a:p>
                  </a:txBody>
                  <a:tcPr marL="54864" marR="36576" marT="9144" marB="9144" anchor="ctr">
                    <a:solidFill>
                      <a:schemeClr val="accent1">
                        <a:lumMod val="40000"/>
                        <a:lumOff val="60000"/>
                      </a:schemeClr>
                    </a:solidFill>
                  </a:tcPr>
                </a:tc>
                <a:tc>
                  <a:txBody>
                    <a:bodyPr/>
                    <a:lstStyle/>
                    <a:p>
                      <a:pPr algn="ctr"/>
                      <a:r>
                        <a:rPr sz="950" b="1" dirty="0">
                          <a:solidFill>
                            <a:schemeClr val="tx1"/>
                          </a:solidFill>
                          <a:latin typeface="맑은 고딕"/>
                        </a:rPr>
                        <a:t>2027F</a:t>
                      </a:r>
                    </a:p>
                  </a:txBody>
                  <a:tcPr marL="54864" marR="36576" marT="9144" marB="9144" anchor="ctr">
                    <a:solidFill>
                      <a:schemeClr val="accent1">
                        <a:lumMod val="40000"/>
                        <a:lumOff val="60000"/>
                      </a:schemeClr>
                    </a:solidFill>
                  </a:tcPr>
                </a:tc>
                <a:extLst>
                  <a:ext uri="{0D108BD9-81ED-4DB2-BD59-A6C34878D82A}">
                    <a16:rowId xmlns:a16="http://schemas.microsoft.com/office/drawing/2014/main" val="10000"/>
                  </a:ext>
                </a:extLst>
              </a:tr>
              <a:tr h="516154">
                <a:tc>
                  <a:txBody>
                    <a:bodyPr/>
                    <a:lstStyle/>
                    <a:p>
                      <a:pPr algn="l"/>
                      <a:r>
                        <a:rPr sz="950" b="0" dirty="0">
                          <a:solidFill>
                            <a:srgbClr val="222222"/>
                          </a:solidFill>
                          <a:latin typeface="맑은 고딕"/>
                        </a:rPr>
                        <a:t>ESS </a:t>
                      </a:r>
                      <a:r>
                        <a:rPr sz="950" b="0" dirty="0" err="1">
                          <a:solidFill>
                            <a:srgbClr val="222222"/>
                          </a:solidFill>
                          <a:latin typeface="맑은 고딕"/>
                        </a:rPr>
                        <a:t>출하량</a:t>
                      </a:r>
                      <a:r>
                        <a:rPr sz="950" b="0" dirty="0">
                          <a:solidFill>
                            <a:srgbClr val="222222"/>
                          </a:solidFill>
                          <a:latin typeface="맑은 고딕"/>
                        </a:rPr>
                        <a:t> (GWh)</a:t>
                      </a:r>
                    </a:p>
                  </a:txBody>
                  <a:tcPr marL="54864" marR="36576" marT="9144" marB="9144" anchor="ctr">
                    <a:solidFill>
                      <a:srgbClr val="FFFFFF"/>
                    </a:solidFill>
                  </a:tcPr>
                </a:tc>
                <a:tc>
                  <a:txBody>
                    <a:bodyPr/>
                    <a:lstStyle/>
                    <a:p>
                      <a:pPr algn="ctr"/>
                      <a:r>
                        <a:rPr sz="950" b="0">
                          <a:solidFill>
                            <a:srgbClr val="222222"/>
                          </a:solidFill>
                          <a:latin typeface="맑은 고딕"/>
                        </a:rPr>
                        <a:t>12</a:t>
                      </a:r>
                    </a:p>
                  </a:txBody>
                  <a:tcPr marL="54864" marR="36576" marT="9144" marB="9144" anchor="ctr">
                    <a:solidFill>
                      <a:srgbClr val="FFFFFF"/>
                    </a:solidFill>
                  </a:tcPr>
                </a:tc>
                <a:tc>
                  <a:txBody>
                    <a:bodyPr/>
                    <a:lstStyle/>
                    <a:p>
                      <a:pPr algn="ctr"/>
                      <a:r>
                        <a:rPr sz="950" b="0">
                          <a:solidFill>
                            <a:srgbClr val="222222"/>
                          </a:solidFill>
                          <a:latin typeface="맑은 고딕"/>
                        </a:rPr>
                        <a:t>22</a:t>
                      </a:r>
                    </a:p>
                  </a:txBody>
                  <a:tcPr marL="54864" marR="36576" marT="9144" marB="9144" anchor="ctr">
                    <a:solidFill>
                      <a:srgbClr val="FFFFFF"/>
                    </a:solidFill>
                  </a:tcPr>
                </a:tc>
                <a:tc>
                  <a:txBody>
                    <a:bodyPr/>
                    <a:lstStyle/>
                    <a:p>
                      <a:pPr algn="ctr"/>
                      <a:r>
                        <a:rPr sz="950" b="0">
                          <a:solidFill>
                            <a:srgbClr val="222222"/>
                          </a:solidFill>
                          <a:latin typeface="맑은 고딕"/>
                        </a:rPr>
                        <a:t>30</a:t>
                      </a:r>
                    </a:p>
                  </a:txBody>
                  <a:tcPr marL="54864" marR="36576" marT="9144" marB="9144" anchor="ctr">
                    <a:solidFill>
                      <a:srgbClr val="FFFFFF"/>
                    </a:solidFill>
                  </a:tcPr>
                </a:tc>
                <a:extLst>
                  <a:ext uri="{0D108BD9-81ED-4DB2-BD59-A6C34878D82A}">
                    <a16:rowId xmlns:a16="http://schemas.microsoft.com/office/drawing/2014/main" val="10001"/>
                  </a:ext>
                </a:extLst>
              </a:tr>
              <a:tr h="516154">
                <a:tc>
                  <a:txBody>
                    <a:bodyPr/>
                    <a:lstStyle/>
                    <a:p>
                      <a:pPr algn="l"/>
                      <a:r>
                        <a:rPr sz="950" b="0">
                          <a:solidFill>
                            <a:srgbClr val="222222"/>
                          </a:solidFill>
                          <a:latin typeface="맑은 고딕"/>
                        </a:rPr>
                        <a:t>ESS 매출 (조원)</a:t>
                      </a:r>
                    </a:p>
                  </a:txBody>
                  <a:tcPr marL="54864" marR="36576" marT="9144" marB="9144" anchor="ctr">
                    <a:solidFill>
                      <a:srgbClr val="EEF1F6"/>
                    </a:solidFill>
                  </a:tcPr>
                </a:tc>
                <a:tc>
                  <a:txBody>
                    <a:bodyPr/>
                    <a:lstStyle/>
                    <a:p>
                      <a:pPr algn="ctr"/>
                      <a:r>
                        <a:rPr sz="950" b="0">
                          <a:solidFill>
                            <a:srgbClr val="222222"/>
                          </a:solidFill>
                          <a:latin typeface="맑은 고딕"/>
                        </a:rPr>
                        <a:t>3.0</a:t>
                      </a:r>
                    </a:p>
                  </a:txBody>
                  <a:tcPr marL="54864" marR="36576" marT="9144" marB="9144" anchor="ctr">
                    <a:solidFill>
                      <a:srgbClr val="EEF1F6"/>
                    </a:solidFill>
                  </a:tcPr>
                </a:tc>
                <a:tc>
                  <a:txBody>
                    <a:bodyPr/>
                    <a:lstStyle/>
                    <a:p>
                      <a:pPr algn="ctr"/>
                      <a:r>
                        <a:rPr sz="950" b="0">
                          <a:solidFill>
                            <a:srgbClr val="222222"/>
                          </a:solidFill>
                          <a:latin typeface="맑은 고딕"/>
                        </a:rPr>
                        <a:t>5.0</a:t>
                      </a:r>
                    </a:p>
                  </a:txBody>
                  <a:tcPr marL="54864" marR="36576" marT="9144" marB="9144" anchor="ctr">
                    <a:solidFill>
                      <a:srgbClr val="EEF1F6"/>
                    </a:solidFill>
                  </a:tcPr>
                </a:tc>
                <a:tc>
                  <a:txBody>
                    <a:bodyPr/>
                    <a:lstStyle/>
                    <a:p>
                      <a:pPr algn="ctr"/>
                      <a:r>
                        <a:rPr sz="950" b="0">
                          <a:solidFill>
                            <a:srgbClr val="222222"/>
                          </a:solidFill>
                          <a:latin typeface="맑은 고딕"/>
                        </a:rPr>
                        <a:t>6.8</a:t>
                      </a:r>
                    </a:p>
                  </a:txBody>
                  <a:tcPr marL="54864" marR="36576" marT="9144" marB="9144" anchor="ctr">
                    <a:solidFill>
                      <a:srgbClr val="EEF1F6"/>
                    </a:solidFill>
                  </a:tcPr>
                </a:tc>
                <a:extLst>
                  <a:ext uri="{0D108BD9-81ED-4DB2-BD59-A6C34878D82A}">
                    <a16:rowId xmlns:a16="http://schemas.microsoft.com/office/drawing/2014/main" val="10002"/>
                  </a:ext>
                </a:extLst>
              </a:tr>
              <a:tr h="516154">
                <a:tc>
                  <a:txBody>
                    <a:bodyPr/>
                    <a:lstStyle/>
                    <a:p>
                      <a:pPr algn="l"/>
                      <a:r>
                        <a:rPr sz="950" b="0">
                          <a:solidFill>
                            <a:srgbClr val="222222"/>
                          </a:solidFill>
                          <a:latin typeface="맑은 고딕"/>
                        </a:rPr>
                        <a:t>AMPC 수령액 (억원)</a:t>
                      </a:r>
                    </a:p>
                  </a:txBody>
                  <a:tcPr marL="54864" marR="36576" marT="9144" marB="9144" anchor="ctr">
                    <a:solidFill>
                      <a:srgbClr val="FFFFFF"/>
                    </a:solidFill>
                  </a:tcPr>
                </a:tc>
                <a:tc>
                  <a:txBody>
                    <a:bodyPr/>
                    <a:lstStyle/>
                    <a:p>
                      <a:pPr algn="ctr"/>
                      <a:r>
                        <a:rPr sz="950" b="0">
                          <a:solidFill>
                            <a:srgbClr val="222222"/>
                          </a:solidFill>
                          <a:latin typeface="맑은 고딕"/>
                        </a:rPr>
                        <a:t>2,750</a:t>
                      </a:r>
                    </a:p>
                  </a:txBody>
                  <a:tcPr marL="54864" marR="36576" marT="9144" marB="9144" anchor="ctr">
                    <a:solidFill>
                      <a:srgbClr val="FFFFFF"/>
                    </a:solidFill>
                  </a:tcPr>
                </a:tc>
                <a:tc>
                  <a:txBody>
                    <a:bodyPr/>
                    <a:lstStyle/>
                    <a:p>
                      <a:pPr algn="ctr"/>
                      <a:r>
                        <a:rPr sz="950" b="0">
                          <a:solidFill>
                            <a:srgbClr val="222222"/>
                          </a:solidFill>
                          <a:latin typeface="맑은 고딕"/>
                        </a:rPr>
                        <a:t>5,140</a:t>
                      </a:r>
                    </a:p>
                  </a:txBody>
                  <a:tcPr marL="54864" marR="36576" marT="9144" marB="9144" anchor="ctr">
                    <a:solidFill>
                      <a:srgbClr val="FFFFFF"/>
                    </a:solidFill>
                  </a:tcPr>
                </a:tc>
                <a:tc>
                  <a:txBody>
                    <a:bodyPr/>
                    <a:lstStyle/>
                    <a:p>
                      <a:pPr algn="ctr"/>
                      <a:r>
                        <a:rPr sz="950" b="0" dirty="0">
                          <a:solidFill>
                            <a:srgbClr val="222222"/>
                          </a:solidFill>
                          <a:latin typeface="맑은 고딕"/>
                        </a:rPr>
                        <a:t>8,070</a:t>
                      </a:r>
                    </a:p>
                  </a:txBody>
                  <a:tcPr marL="54864" marR="36576" marT="9144" marB="9144"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201168"/>
          </a:xfrm>
          <a:prstGeom prst="rect">
            <a:avLst/>
          </a:prstGeom>
          <a:noFill/>
        </p:spPr>
        <p:txBody>
          <a:bodyPr wrap="square" lIns="0" tIns="0" rIns="0" bIns="0" anchor="t">
            <a:spAutoFit/>
          </a:bodyPr>
          <a:lstStyle/>
          <a:p>
            <a:pPr>
              <a:lnSpc>
                <a:spcPct val="112000"/>
              </a:lnSpc>
              <a:spcBef>
                <a:spcPts val="0"/>
              </a:spcBef>
              <a:spcAft>
                <a:spcPts val="500"/>
              </a:spcAft>
            </a:pPr>
            <a:r>
              <a:rPr sz="950" b="1" i="0">
                <a:solidFill>
                  <a:srgbClr val="003A75"/>
                </a:solidFill>
                <a:latin typeface="Malgun Gothic"/>
              </a:rPr>
              <a:t>투자포인트</a:t>
            </a: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2000"/>
              </a:lnSpc>
              <a:spcBef>
                <a:spcPts val="0"/>
              </a:spcBef>
              <a:spcAft>
                <a:spcPts val="500"/>
              </a:spcAft>
            </a:pPr>
            <a:r>
              <a:rPr sz="900" b="0" i="0">
                <a:solidFill>
                  <a:srgbClr val="6B7785"/>
                </a:solidFill>
                <a:latin typeface="Malgun Gothic"/>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맑은 고딕" panose="020B0503020000020004" pitchFamily="50" charset="-127"/>
              <a:ea typeface="맑은 고딕" panose="020B0503020000020004" pitchFamily="50" charset="-127"/>
            </a:endParaRPr>
          </a:p>
        </p:txBody>
      </p:sp>
      <p:sp>
        <p:nvSpPr>
          <p:cNvPr id="5" name="TextBox 4"/>
          <p:cNvSpPr txBox="1"/>
          <p:nvPr/>
        </p:nvSpPr>
        <p:spPr>
          <a:xfrm>
            <a:off x="1043126" y="849718"/>
            <a:ext cx="5943600" cy="172996"/>
          </a:xfrm>
          <a:prstGeom prst="rect">
            <a:avLst/>
          </a:prstGeom>
          <a:noFill/>
        </p:spPr>
        <p:txBody>
          <a:bodyPr wrap="square" lIns="0" tIns="0" rIns="0" bIns="0" anchor="t">
            <a:spAutoFit/>
          </a:bodyPr>
          <a:lstStyle/>
          <a:p>
            <a:pPr>
              <a:lnSpc>
                <a:spcPct val="112000"/>
              </a:lnSpc>
              <a:spcBef>
                <a:spcPts val="0"/>
              </a:spcBef>
              <a:spcAft>
                <a:spcPts val="500"/>
              </a:spcAft>
            </a:pPr>
            <a:r>
              <a:rPr sz="1100" b="1" i="0" dirty="0">
                <a:latin typeface="맑은 고딕" panose="020B0503020000020004" pitchFamily="50" charset="-127"/>
                <a:ea typeface="맑은 고딕" panose="020B0503020000020004" pitchFamily="50" charset="-127"/>
              </a:rPr>
              <a:t>3.2  </a:t>
            </a:r>
            <a:r>
              <a:rPr sz="1100" b="1" i="0" dirty="0" err="1">
                <a:latin typeface="맑은 고딕" panose="020B0503020000020004" pitchFamily="50" charset="-127"/>
                <a:ea typeface="맑은 고딕" panose="020B0503020000020004" pitchFamily="50" charset="-127"/>
              </a:rPr>
              <a:t>헝가리</a:t>
            </a:r>
            <a:r>
              <a:rPr sz="1100" b="1" i="0" dirty="0">
                <a:latin typeface="맑은 고딕" panose="020B0503020000020004" pitchFamily="50" charset="-127"/>
                <a:ea typeface="맑은 고딕" panose="020B0503020000020004" pitchFamily="50" charset="-127"/>
              </a:rPr>
              <a:t> </a:t>
            </a:r>
            <a:r>
              <a:rPr sz="1100" b="1" i="0" dirty="0" err="1">
                <a:latin typeface="맑은 고딕" panose="020B0503020000020004" pitchFamily="50" charset="-127"/>
                <a:ea typeface="맑은 고딕" panose="020B0503020000020004" pitchFamily="50" charset="-127"/>
              </a:rPr>
              <a:t>가동률</a:t>
            </a:r>
            <a:r>
              <a:rPr sz="1100" b="1" i="0" dirty="0">
                <a:latin typeface="맑은 고딕" panose="020B0503020000020004" pitchFamily="50" charset="-127"/>
                <a:ea typeface="맑은 고딕" panose="020B0503020000020004" pitchFamily="50" charset="-127"/>
              </a:rPr>
              <a:t> </a:t>
            </a:r>
            <a:r>
              <a:rPr sz="1100" b="1" i="0" dirty="0" err="1">
                <a:latin typeface="맑은 고딕" panose="020B0503020000020004" pitchFamily="50" charset="-127"/>
                <a:ea typeface="맑은 고딕" panose="020B0503020000020004" pitchFamily="50" charset="-127"/>
              </a:rPr>
              <a:t>정상화</a:t>
            </a:r>
            <a:endParaRPr sz="1100" b="1" i="0" dirty="0">
              <a:latin typeface="맑은 고딕" panose="020B0503020000020004" pitchFamily="50" charset="-127"/>
              <a:ea typeface="맑은 고딕" panose="020B0503020000020004" pitchFamily="50" charset="-127"/>
            </a:endParaRPr>
          </a:p>
        </p:txBody>
      </p:sp>
      <p:sp>
        <p:nvSpPr>
          <p:cNvPr id="6" name="TextBox 5"/>
          <p:cNvSpPr txBox="1"/>
          <p:nvPr/>
        </p:nvSpPr>
        <p:spPr>
          <a:xfrm>
            <a:off x="1018712" y="1133338"/>
            <a:ext cx="5943600" cy="165110"/>
          </a:xfrm>
          <a:prstGeom prst="rect">
            <a:avLst/>
          </a:prstGeom>
          <a:noFill/>
        </p:spPr>
        <p:txBody>
          <a:bodyPr wrap="square" lIns="0" tIns="0" rIns="0" bIns="0" anchor="t">
            <a:spAutoFit/>
          </a:bodyPr>
          <a:lstStyle/>
          <a:p>
            <a:pPr>
              <a:lnSpc>
                <a:spcPct val="112000"/>
              </a:lnSpc>
              <a:spcBef>
                <a:spcPts val="0"/>
              </a:spcBef>
              <a:spcAft>
                <a:spcPts val="500"/>
              </a:spcAft>
            </a:pPr>
            <a:r>
              <a:rPr sz="1050" b="1" dirty="0" err="1">
                <a:latin typeface="맑은 고딕" panose="020B0503020000020004" pitchFamily="50" charset="-127"/>
                <a:ea typeface="맑은 고딕" panose="020B0503020000020004" pitchFamily="50" charset="-127"/>
              </a:rPr>
              <a:t>고정비</a:t>
            </a:r>
            <a:r>
              <a:rPr sz="1050" b="1" dirty="0">
                <a:latin typeface="맑은 고딕" panose="020B0503020000020004" pitchFamily="50" charset="-127"/>
                <a:ea typeface="맑은 고딕" panose="020B0503020000020004" pitchFamily="50" charset="-127"/>
              </a:rPr>
              <a:t> </a:t>
            </a:r>
            <a:r>
              <a:rPr sz="1050" b="1" dirty="0" err="1">
                <a:latin typeface="맑은 고딕" panose="020B0503020000020004" pitchFamily="50" charset="-127"/>
                <a:ea typeface="맑은 고딕" panose="020B0503020000020004" pitchFamily="50" charset="-127"/>
              </a:rPr>
              <a:t>레버리지</a:t>
            </a:r>
            <a:r>
              <a:rPr sz="1050" b="1" dirty="0">
                <a:latin typeface="맑은 고딕" panose="020B0503020000020004" pitchFamily="50" charset="-127"/>
                <a:ea typeface="맑은 고딕" panose="020B0503020000020004" pitchFamily="50" charset="-127"/>
              </a:rPr>
              <a:t> — </a:t>
            </a:r>
            <a:r>
              <a:rPr sz="1050" b="1" dirty="0" err="1">
                <a:latin typeface="맑은 고딕" panose="020B0503020000020004" pitchFamily="50" charset="-127"/>
                <a:ea typeface="맑은 고딕" panose="020B0503020000020004" pitchFamily="50" charset="-127"/>
              </a:rPr>
              <a:t>가동률이</a:t>
            </a:r>
            <a:r>
              <a:rPr sz="1050" b="1" dirty="0">
                <a:latin typeface="맑은 고딕" panose="020B0503020000020004" pitchFamily="50" charset="-127"/>
                <a:ea typeface="맑은 고딕" panose="020B0503020000020004" pitchFamily="50" charset="-127"/>
              </a:rPr>
              <a:t> </a:t>
            </a:r>
            <a:r>
              <a:rPr sz="1050" b="1" dirty="0" err="1">
                <a:latin typeface="맑은 고딕" panose="020B0503020000020004" pitchFamily="50" charset="-127"/>
                <a:ea typeface="맑은 고딕" panose="020B0503020000020004" pitchFamily="50" charset="-127"/>
              </a:rPr>
              <a:t>회복되는</a:t>
            </a:r>
            <a:r>
              <a:rPr sz="1050" b="1" dirty="0">
                <a:latin typeface="맑은 고딕" panose="020B0503020000020004" pitchFamily="50" charset="-127"/>
                <a:ea typeface="맑은 고딕" panose="020B0503020000020004" pitchFamily="50" charset="-127"/>
              </a:rPr>
              <a:t> </a:t>
            </a:r>
            <a:r>
              <a:rPr sz="1050" b="1" dirty="0" err="1">
                <a:latin typeface="맑은 고딕" panose="020B0503020000020004" pitchFamily="50" charset="-127"/>
                <a:ea typeface="맑은 고딕" panose="020B0503020000020004" pitchFamily="50" charset="-127"/>
              </a:rPr>
              <a:t>만큼</a:t>
            </a:r>
            <a:r>
              <a:rPr sz="1050" b="1" dirty="0">
                <a:latin typeface="맑은 고딕" panose="020B0503020000020004" pitchFamily="50" charset="-127"/>
                <a:ea typeface="맑은 고딕" panose="020B0503020000020004" pitchFamily="50" charset="-127"/>
              </a:rPr>
              <a:t> EV </a:t>
            </a:r>
            <a:r>
              <a:rPr sz="1050" b="1" dirty="0" err="1">
                <a:latin typeface="맑은 고딕" panose="020B0503020000020004" pitchFamily="50" charset="-127"/>
                <a:ea typeface="맑은 고딕" panose="020B0503020000020004" pitchFamily="50" charset="-127"/>
              </a:rPr>
              <a:t>손익이</a:t>
            </a:r>
            <a:r>
              <a:rPr sz="1050" b="1" dirty="0">
                <a:latin typeface="맑은 고딕" panose="020B0503020000020004" pitchFamily="50" charset="-127"/>
                <a:ea typeface="맑은 고딕" panose="020B0503020000020004" pitchFamily="50" charset="-127"/>
              </a:rPr>
              <a:t> </a:t>
            </a:r>
            <a:r>
              <a:rPr sz="1050" b="1" dirty="0" err="1">
                <a:latin typeface="맑은 고딕" panose="020B0503020000020004" pitchFamily="50" charset="-127"/>
                <a:ea typeface="맑은 고딕" panose="020B0503020000020004" pitchFamily="50" charset="-127"/>
              </a:rPr>
              <a:t>가팔라진다</a:t>
            </a:r>
            <a:endParaRPr sz="1050" b="1" dirty="0">
              <a:latin typeface="맑은 고딕" panose="020B0503020000020004" pitchFamily="50" charset="-127"/>
              <a:ea typeface="맑은 고딕" panose="020B0503020000020004" pitchFamily="50" charset="-127"/>
            </a:endParaRPr>
          </a:p>
        </p:txBody>
      </p:sp>
      <p:sp>
        <p:nvSpPr>
          <p:cNvPr id="7" name="TextBox 6"/>
          <p:cNvSpPr txBox="1"/>
          <p:nvPr/>
        </p:nvSpPr>
        <p:spPr>
          <a:xfrm>
            <a:off x="980983" y="1409072"/>
            <a:ext cx="5419817" cy="3458126"/>
          </a:xfrm>
          <a:prstGeom prst="rect">
            <a:avLst/>
          </a:prstGeom>
          <a:noFill/>
        </p:spPr>
        <p:txBody>
          <a:bodyPr wrap="square" lIns="0" tIns="0" rIns="0" bIns="0" anchor="t">
            <a:spAutoFit/>
          </a:bodyPr>
          <a:lstStyle/>
          <a:p>
            <a:pPr algn="just">
              <a:lnSpc>
                <a:spcPct val="132000"/>
              </a:lnSpc>
              <a:spcBef>
                <a:spcPts val="0"/>
              </a:spcBef>
              <a:spcAft>
                <a:spcPts val="900"/>
              </a:spcAft>
            </a:pPr>
            <a:r>
              <a:rPr sz="1000" b="1" i="0" dirty="0">
                <a:solidFill>
                  <a:srgbClr val="003A75"/>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헝가리</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괴드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공장은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연산</a:t>
            </a:r>
            <a:r>
              <a:rPr sz="1000" b="0" i="0" dirty="0">
                <a:solidFill>
                  <a:srgbClr val="222222"/>
                </a:solidFill>
                <a:latin typeface="맑은 고딕" panose="020B0503020000020004" pitchFamily="50" charset="-127"/>
                <a:ea typeface="맑은 고딕" panose="020B0503020000020004" pitchFamily="50" charset="-127"/>
              </a:rPr>
              <a:t> 40GWh+ </a:t>
            </a:r>
            <a:r>
              <a:rPr sz="1000" b="0" i="0" dirty="0" err="1">
                <a:solidFill>
                  <a:srgbClr val="222222"/>
                </a:solidFill>
                <a:latin typeface="맑은 고딕" panose="020B0503020000020004" pitchFamily="50" charset="-127"/>
                <a:ea typeface="맑은 고딕" panose="020B0503020000020004" pitchFamily="50" charset="-127"/>
              </a:rPr>
              <a:t>규모의</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고정비를</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가진</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거점으로</a:t>
            </a:r>
            <a:r>
              <a:rPr sz="1000" b="0" i="0" dirty="0">
                <a:solidFill>
                  <a:srgbClr val="222222"/>
                </a:solidFill>
                <a:latin typeface="맑은 고딕" panose="020B0503020000020004" pitchFamily="50" charset="-127"/>
                <a:ea typeface="맑은 고딕" panose="020B0503020000020004" pitchFamily="50" charset="-127"/>
              </a:rPr>
              <a:t>, 2025년 </a:t>
            </a:r>
            <a:r>
              <a:rPr sz="1000" b="0" i="0" dirty="0" err="1">
                <a:solidFill>
                  <a:srgbClr val="222222"/>
                </a:solidFill>
                <a:latin typeface="맑은 고딕" panose="020B0503020000020004" pitchFamily="50" charset="-127"/>
                <a:ea typeface="맑은 고딕" panose="020B0503020000020004" pitchFamily="50" charset="-127"/>
              </a:rPr>
              <a:t>가동률이</a:t>
            </a:r>
            <a:r>
              <a:rPr sz="1000" b="0" i="0" dirty="0">
                <a:solidFill>
                  <a:srgbClr val="222222"/>
                </a:solidFill>
                <a:latin typeface="맑은 고딕" panose="020B0503020000020004" pitchFamily="50" charset="-127"/>
                <a:ea typeface="맑은 고딕" panose="020B0503020000020004" pitchFamily="50" charset="-127"/>
              </a:rPr>
              <a:t> 30~40%로 </a:t>
            </a:r>
            <a:r>
              <a:rPr sz="1000" b="0" i="0" dirty="0" err="1">
                <a:solidFill>
                  <a:srgbClr val="222222"/>
                </a:solidFill>
                <a:latin typeface="맑은 고딕" panose="020B0503020000020004" pitchFamily="50" charset="-127"/>
                <a:ea typeface="맑은 고딕" panose="020B0503020000020004" pitchFamily="50" charset="-127"/>
              </a:rPr>
              <a:t>급락하며</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분기당</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수천억원</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손실의</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원인이</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됐다</a:t>
            </a:r>
            <a:r>
              <a:rPr sz="1000" b="0" i="0" dirty="0">
                <a:solidFill>
                  <a:srgbClr val="222222"/>
                </a:solidFill>
                <a:latin typeface="맑은 고딕" panose="020B0503020000020004" pitchFamily="50" charset="-127"/>
                <a:ea typeface="맑은 고딕" panose="020B0503020000020004" pitchFamily="50" charset="-127"/>
              </a:rPr>
              <a:t>(</a:t>
            </a:r>
            <a:r>
              <a:rPr sz="1000" b="0" i="0" dirty="0" err="1">
                <a:solidFill>
                  <a:srgbClr val="222222"/>
                </a:solidFill>
                <a:latin typeface="맑은 고딕" panose="020B0503020000020004" pitchFamily="50" charset="-127"/>
                <a:ea typeface="맑은 고딕" panose="020B0503020000020004" pitchFamily="50" charset="-127"/>
              </a:rPr>
              <a:t>헝가리·중대형</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가동률은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미공시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신한·현대차</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추정</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기준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그러나</a:t>
            </a:r>
            <a:r>
              <a:rPr sz="1000" b="0" i="0" dirty="0">
                <a:solidFill>
                  <a:srgbClr val="222222"/>
                </a:solidFill>
                <a:latin typeface="맑은 고딕" panose="020B0503020000020004" pitchFamily="50" charset="-127"/>
                <a:ea typeface="맑은 고딕" panose="020B0503020000020004" pitchFamily="50" charset="-127"/>
              </a:rPr>
              <a:t> 2026년 </a:t>
            </a:r>
            <a:r>
              <a:rPr sz="1000" b="0" i="0" dirty="0" err="1">
                <a:solidFill>
                  <a:srgbClr val="222222"/>
                </a:solidFill>
                <a:latin typeface="맑은 고딕" panose="020B0503020000020004" pitchFamily="50" charset="-127"/>
                <a:ea typeface="맑은 고딕" panose="020B0503020000020004" pitchFamily="50" charset="-127"/>
              </a:rPr>
              <a:t>상반기</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현대차</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신규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프로젝트와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하반기</a:t>
            </a:r>
            <a:r>
              <a:rPr sz="1000" b="0" i="0" dirty="0">
                <a:solidFill>
                  <a:srgbClr val="222222"/>
                </a:solidFill>
                <a:latin typeface="맑은 고딕" panose="020B0503020000020004" pitchFamily="50" charset="-127"/>
                <a:ea typeface="맑은 고딕" panose="020B0503020000020004" pitchFamily="50" charset="-127"/>
              </a:rPr>
              <a:t> BMW </a:t>
            </a:r>
            <a:r>
              <a:rPr sz="1000" b="0" i="0" dirty="0" err="1">
                <a:solidFill>
                  <a:srgbClr val="222222"/>
                </a:solidFill>
                <a:latin typeface="맑은 고딕" panose="020B0503020000020004" pitchFamily="50" charset="-127"/>
                <a:ea typeface="맑은 고딕" panose="020B0503020000020004" pitchFamily="50" charset="-127"/>
              </a:rPr>
              <a:t>신규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라인</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공급이</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더해지면</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가동률이</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단계적으로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회복되고</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고정비</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레버리지가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작동해</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가동률</a:t>
            </a:r>
            <a:r>
              <a:rPr sz="1000" b="0" i="0" dirty="0">
                <a:solidFill>
                  <a:srgbClr val="222222"/>
                </a:solidFill>
                <a:latin typeface="맑은 고딕" panose="020B0503020000020004" pitchFamily="50" charset="-127"/>
                <a:ea typeface="맑은 고딕" panose="020B0503020000020004" pitchFamily="50" charset="-127"/>
              </a:rPr>
              <a:t> 70~80% </a:t>
            </a:r>
            <a:r>
              <a:rPr sz="1000" b="0" i="0" dirty="0" err="1">
                <a:solidFill>
                  <a:srgbClr val="222222"/>
                </a:solidFill>
                <a:latin typeface="맑은 고딕" panose="020B0503020000020004" pitchFamily="50" charset="-127"/>
                <a:ea typeface="맑은 고딕" panose="020B0503020000020004" pitchFamily="50" charset="-127"/>
              </a:rPr>
              <a:t>구간부터</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유럽</a:t>
            </a:r>
            <a:r>
              <a:rPr sz="1000" b="0" i="0" dirty="0">
                <a:solidFill>
                  <a:srgbClr val="222222"/>
                </a:solidFill>
                <a:latin typeface="맑은 고딕" panose="020B0503020000020004" pitchFamily="50" charset="-127"/>
                <a:ea typeface="맑은 고딕" panose="020B0503020000020004" pitchFamily="50" charset="-127"/>
              </a:rPr>
              <a:t> EV </a:t>
            </a:r>
            <a:r>
              <a:rPr sz="1000" b="0" i="0" dirty="0" err="1">
                <a:solidFill>
                  <a:srgbClr val="222222"/>
                </a:solidFill>
                <a:latin typeface="맑은 고딕" panose="020B0503020000020004" pitchFamily="50" charset="-127"/>
                <a:ea typeface="맑은 고딕" panose="020B0503020000020004" pitchFamily="50" charset="-127"/>
              </a:rPr>
              <a:t>부문이</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흑자로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전환되기</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시작한다</a:t>
            </a:r>
            <a:r>
              <a:rPr sz="1000" b="0" i="0" dirty="0">
                <a:solidFill>
                  <a:srgbClr val="222222"/>
                </a:solidFill>
                <a:latin typeface="맑은 고딕" panose="020B0503020000020004" pitchFamily="50" charset="-127"/>
                <a:ea typeface="맑은 고딕" panose="020B0503020000020004" pitchFamily="50" charset="-127"/>
              </a:rPr>
              <a:t>.</a:t>
            </a:r>
          </a:p>
          <a:p>
            <a:pPr algn="just">
              <a:lnSpc>
                <a:spcPct val="132000"/>
              </a:lnSpc>
              <a:spcBef>
                <a:spcPts val="0"/>
              </a:spcBef>
              <a:spcAft>
                <a:spcPts val="900"/>
              </a:spcAft>
            </a:pPr>
            <a:r>
              <a:rPr sz="1000">
                <a:solidFill>
                  <a:srgbClr val="222222"/>
                </a:solidFill>
                <a:latin typeface="맑은 고딕"/>
              </a:rPr>
              <a:t>가동률에 따른 손익 민감도는 가파르다. 고정비를 약 1.0조원으로 가정할 때 가동률 30%에서 영업이익 -0.9조원이나, 60%에서 +0.2조원으로 손익분기를 넘고 80%에서 +1.9조, 100%에서 +2.6조원에 이른다</a:t>
            </a:r>
            <a:r>
              <a:rPr sz="900">
                <a:solidFill>
                  <a:srgbClr val="6B7785"/>
                </a:solidFill>
                <a:latin typeface="맑은 고딕"/>
              </a:rPr>
              <a:t> [자료23]</a:t>
            </a:r>
            <a:r>
              <a:rPr sz="1000">
                <a:solidFill>
                  <a:srgbClr val="222222"/>
                </a:solidFill>
                <a:latin typeface="맑은 고딕"/>
              </a:rPr>
              <a:t>. 손익분기 가동률은 약 55~60% 구간으로, 회복 초기에 이익 개선 폭이 가장 크다. 실제로 중대형전지 영업적자는 2025년 분기 최대 -5,810억원을 정점으로 축소 흐름에 진입했으며</a:t>
            </a:r>
            <a:r>
              <a:rPr sz="900">
                <a:solidFill>
                  <a:srgbClr val="6B7785"/>
                </a:solidFill>
                <a:latin typeface="맑은 고딕"/>
              </a:rPr>
              <a:t> [자료24]</a:t>
            </a:r>
            <a:r>
              <a:rPr sz="1000">
                <a:solidFill>
                  <a:srgbClr val="222222"/>
                </a:solidFill>
                <a:latin typeface="맑은 고딕"/>
              </a:rPr>
              <a:t>, 2026년 가동률 회복과 함께 적자 축소가 본격화될 전망이다(신한·현대차 추정).</a:t>
            </a:r>
          </a:p>
          <a:p>
            <a:pPr algn="just">
              <a:lnSpc>
                <a:spcPct val="132000"/>
              </a:lnSpc>
              <a:spcBef>
                <a:spcPts val="0"/>
              </a:spcBef>
              <a:spcAft>
                <a:spcPts val="900"/>
              </a:spcAft>
            </a:pPr>
            <a:r>
              <a:rPr sz="1000" b="0" i="0" dirty="0" err="1">
                <a:solidFill>
                  <a:srgbClr val="222222"/>
                </a:solidFill>
                <a:latin typeface="맑은 고딕" panose="020B0503020000020004" pitchFamily="50" charset="-127"/>
                <a:ea typeface="맑은 고딕" panose="020B0503020000020004" pitchFamily="50" charset="-127"/>
              </a:rPr>
              <a:t>회복은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일회성이</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아니라</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제도적으로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고정돼</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있다</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현대차</a:t>
            </a:r>
            <a:r>
              <a:rPr sz="1000" b="0" i="0" dirty="0">
                <a:solidFill>
                  <a:srgbClr val="222222"/>
                </a:solidFill>
                <a:latin typeface="맑은 고딕" panose="020B0503020000020004" pitchFamily="50" charset="-127"/>
                <a:ea typeface="맑은 고딕" panose="020B0503020000020004" pitchFamily="50" charset="-127"/>
              </a:rPr>
              <a:t> 7년 </a:t>
            </a:r>
            <a:r>
              <a:rPr sz="1000" b="0" i="0" dirty="0" err="1">
                <a:solidFill>
                  <a:srgbClr val="222222"/>
                </a:solidFill>
                <a:latin typeface="맑은 고딕" panose="020B0503020000020004" pitchFamily="50" charset="-127"/>
                <a:ea typeface="맑은 고딕" panose="020B0503020000020004" pitchFamily="50" charset="-127"/>
              </a:rPr>
              <a:t>장기계약</a:t>
            </a:r>
            <a:r>
              <a:rPr sz="1000" b="0" i="0" dirty="0">
                <a:solidFill>
                  <a:srgbClr val="222222"/>
                </a:solidFill>
                <a:latin typeface="맑은 고딕" panose="020B0503020000020004" pitchFamily="50" charset="-127"/>
                <a:ea typeface="맑은 고딕" panose="020B0503020000020004" pitchFamily="50" charset="-127"/>
              </a:rPr>
              <a:t>(2026~2032)과 BMW </a:t>
            </a:r>
            <a:r>
              <a:rPr sz="1000" b="0" i="0" dirty="0" err="1">
                <a:solidFill>
                  <a:srgbClr val="222222"/>
                </a:solidFill>
                <a:latin typeface="맑은 고딕" panose="020B0503020000020004" pitchFamily="50" charset="-127"/>
                <a:ea typeface="맑은 고딕" panose="020B0503020000020004" pitchFamily="50" charset="-127"/>
              </a:rPr>
              <a:t>노이에</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클라세</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플랫폼향</a:t>
            </a:r>
            <a:r>
              <a:rPr sz="1000" b="0" i="0" dirty="0">
                <a:solidFill>
                  <a:srgbClr val="222222"/>
                </a:solidFill>
                <a:latin typeface="맑은 고딕" panose="020B0503020000020004" pitchFamily="50" charset="-127"/>
                <a:ea typeface="맑은 고딕" panose="020B0503020000020004" pitchFamily="50" charset="-127"/>
              </a:rPr>
              <a:t> 46파이(2027~)</a:t>
            </a:r>
            <a:r>
              <a:rPr sz="1000" b="0" i="0" dirty="0" err="1">
                <a:solidFill>
                  <a:srgbClr val="222222"/>
                </a:solidFill>
                <a:latin typeface="맑은 고딕" panose="020B0503020000020004" pitchFamily="50" charset="-127"/>
                <a:ea typeface="맑은 고딕" panose="020B0503020000020004" pitchFamily="50" charset="-127"/>
              </a:rPr>
              <a:t>라는</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이중</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고정</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수주가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가동률</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회복의</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바닥을</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받친다</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또한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남는</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라인을</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ESS용으로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전환·투입할</a:t>
            </a:r>
            <a:r>
              <a:rPr sz="1000" b="0" i="0" dirty="0">
                <a:solidFill>
                  <a:srgbClr val="222222"/>
                </a:solidFill>
                <a:latin typeface="맑은 고딕" panose="020B0503020000020004" pitchFamily="50" charset="-127"/>
                <a:ea typeface="맑은 고딕" panose="020B0503020000020004" pitchFamily="50" charset="-127"/>
              </a:rPr>
              <a:t> 수 </a:t>
            </a:r>
            <a:r>
              <a:rPr sz="1000" b="0" i="0" dirty="0" err="1">
                <a:solidFill>
                  <a:srgbClr val="222222"/>
                </a:solidFill>
                <a:latin typeface="맑은 고딕" panose="020B0503020000020004" pitchFamily="50" charset="-127"/>
                <a:ea typeface="맑은 고딕" panose="020B0503020000020004" pitchFamily="50" charset="-127"/>
              </a:rPr>
              <a:t>있어</a:t>
            </a:r>
            <a:r>
              <a:rPr sz="1000" b="0" i="0" dirty="0">
                <a:solidFill>
                  <a:srgbClr val="222222"/>
                </a:solidFill>
                <a:latin typeface="맑은 고딕" panose="020B0503020000020004" pitchFamily="50" charset="-127"/>
                <a:ea typeface="맑은 고딕" panose="020B0503020000020004" pitchFamily="50" charset="-127"/>
              </a:rPr>
              <a:t> EV </a:t>
            </a:r>
            <a:r>
              <a:rPr sz="1000" b="0" i="0" dirty="0" err="1">
                <a:solidFill>
                  <a:srgbClr val="222222"/>
                </a:solidFill>
                <a:latin typeface="맑은 고딕" panose="020B0503020000020004" pitchFamily="50" charset="-127"/>
                <a:ea typeface="맑은 고딕" panose="020B0503020000020004" pitchFamily="50" charset="-127"/>
              </a:rPr>
              <a:t>수요</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공백</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구간에도</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가동률을</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방어하며</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고정비를</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희석한다</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프리미엄</a:t>
            </a:r>
            <a:r>
              <a:rPr sz="1000" b="0" i="0" dirty="0">
                <a:solidFill>
                  <a:srgbClr val="222222"/>
                </a:solidFill>
                <a:latin typeface="맑은 고딕" panose="020B0503020000020004" pitchFamily="50" charset="-127"/>
                <a:ea typeface="맑은 고딕" panose="020B0503020000020004" pitchFamily="50" charset="-127"/>
              </a:rPr>
              <a:t> OEM </a:t>
            </a:r>
            <a:r>
              <a:rPr sz="1000" b="0" i="0" dirty="0" err="1">
                <a:solidFill>
                  <a:srgbClr val="222222"/>
                </a:solidFill>
                <a:latin typeface="맑은 고딕" panose="020B0503020000020004" pitchFamily="50" charset="-127"/>
                <a:ea typeface="맑은 고딕" panose="020B0503020000020004" pitchFamily="50" charset="-127"/>
              </a:rPr>
              <a:t>전용</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하이니켈</a:t>
            </a:r>
            <a:r>
              <a:rPr sz="1000" b="0" i="0" dirty="0">
                <a:solidFill>
                  <a:srgbClr val="222222"/>
                </a:solidFill>
                <a:latin typeface="맑은 고딕" panose="020B0503020000020004" pitchFamily="50" charset="-127"/>
                <a:ea typeface="맑은 고딕" panose="020B0503020000020004" pitchFamily="50" charset="-127"/>
              </a:rPr>
              <a:t>(P5/P6) </a:t>
            </a:r>
            <a:r>
              <a:rPr sz="1000" b="0" i="0" dirty="0" err="1">
                <a:solidFill>
                  <a:srgbClr val="222222"/>
                </a:solidFill>
                <a:latin typeface="맑은 고딕" panose="020B0503020000020004" pitchFamily="50" charset="-127"/>
                <a:ea typeface="맑은 고딕" panose="020B0503020000020004" pitchFamily="50" charset="-127"/>
              </a:rPr>
              <a:t>거점이라는</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점은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중국</a:t>
            </a:r>
            <a:r>
              <a:rPr sz="1000" b="0" i="0" dirty="0">
                <a:solidFill>
                  <a:srgbClr val="222222"/>
                </a:solidFill>
                <a:latin typeface="맑은 고딕" panose="020B0503020000020004" pitchFamily="50" charset="-127"/>
                <a:ea typeface="맑은 고딕" panose="020B0503020000020004" pitchFamily="50" charset="-127"/>
              </a:rPr>
              <a:t> LFP </a:t>
            </a:r>
            <a:r>
              <a:rPr sz="1000" b="0" i="0" dirty="0" err="1">
                <a:solidFill>
                  <a:srgbClr val="222222"/>
                </a:solidFill>
                <a:latin typeface="맑은 고딕" panose="020B0503020000020004" pitchFamily="50" charset="-127"/>
                <a:ea typeface="맑은 고딕" panose="020B0503020000020004" pitchFamily="50" charset="-127"/>
              </a:rPr>
              <a:t>저가</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공세</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속에서</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ASP·수익성을</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지키는</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구조적</a:t>
            </a:r>
            <a:r>
              <a:rPr sz="1000" b="0" i="0" dirty="0">
                <a:solidFill>
                  <a:srgbClr val="222222"/>
                </a:solidFill>
                <a:latin typeface="맑은 고딕" panose="020B0503020000020004" pitchFamily="50" charset="-127"/>
                <a:ea typeface="맑은 고딕" panose="020B0503020000020004" pitchFamily="50" charset="-127"/>
              </a:rPr>
              <a:t> </a:t>
            </a:r>
            <a:r>
              <a:rPr sz="1000" b="0" i="0" dirty="0" err="1">
                <a:solidFill>
                  <a:srgbClr val="222222"/>
                </a:solidFill>
                <a:latin typeface="맑은 고딕" panose="020B0503020000020004" pitchFamily="50" charset="-127"/>
                <a:ea typeface="맑은 고딕" panose="020B0503020000020004" pitchFamily="50" charset="-127"/>
              </a:rPr>
              <a:t>해자다</a:t>
            </a:r>
            <a:r>
              <a:rPr sz="1000" b="0" i="0" dirty="0">
                <a:solidFill>
                  <a:srgbClr val="222222"/>
                </a:solidFill>
                <a:latin typeface="맑은 고딕" panose="020B0503020000020004" pitchFamily="50" charset="-127"/>
                <a:ea typeface="맑은 고딕" panose="020B0503020000020004" pitchFamily="50" charset="-127"/>
              </a:rPr>
              <a:t>.</a:t>
            </a:r>
          </a:p>
        </p:txBody>
      </p:sp>
      <p:grpSp>
        <p:nvGrpSpPr>
          <p:cNvPr id="23" name="그룹 22">
            <a:extLst>
              <a:ext uri="{FF2B5EF4-FFF2-40B4-BE49-F238E27FC236}">
                <a16:creationId xmlns:a16="http://schemas.microsoft.com/office/drawing/2014/main" id="{719E81A1-21D1-2548-4CFF-8601E8735D7D}"/>
              </a:ext>
            </a:extLst>
          </p:cNvPr>
          <p:cNvGrpSpPr/>
          <p:nvPr/>
        </p:nvGrpSpPr>
        <p:grpSpPr>
          <a:xfrm>
            <a:off x="1018712" y="7300448"/>
            <a:ext cx="4896034" cy="2325789"/>
            <a:chOff x="457200" y="5007482"/>
            <a:chExt cx="5943600" cy="3075432"/>
          </a:xfrm>
        </p:grpSpPr>
        <p:sp>
          <p:nvSpPr>
            <p:cNvPr id="14" name="Rectangle 7">
              <a:extLst>
                <a:ext uri="{FF2B5EF4-FFF2-40B4-BE49-F238E27FC236}">
                  <a16:creationId xmlns:a16="http://schemas.microsoft.com/office/drawing/2014/main" id="{A04CD456-6396-8890-A561-BFD992811130}"/>
                </a:ext>
              </a:extLst>
            </p:cNvPr>
            <p:cNvSpPr/>
            <p:nvPr/>
          </p:nvSpPr>
          <p:spPr>
            <a:xfrm>
              <a:off x="457200" y="5007482"/>
              <a:ext cx="5943600" cy="274320"/>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B8898197-3F48-22B3-AF80-BD7C62F903DC}"/>
                </a:ext>
              </a:extLst>
            </p:cNvPr>
            <p:cNvSpPr txBox="1"/>
            <p:nvPr/>
          </p:nvSpPr>
          <p:spPr>
            <a:xfrm>
              <a:off x="511901" y="5055394"/>
              <a:ext cx="5656693" cy="187126"/>
            </a:xfrm>
            <a:prstGeom prst="rect">
              <a:avLst/>
            </a:prstGeom>
            <a:noFill/>
          </p:spPr>
          <p:txBody>
            <a:bodyPr wrap="square" lIns="0" tIns="0" rIns="0" bIns="0" anchor="ctr">
              <a:spAutoFit/>
            </a:bodyPr>
            <a:lstStyle/>
            <a:p>
              <a:pPr>
                <a:lnSpc>
                  <a:spcPct val="112000"/>
                </a:lnSpc>
                <a:spcBef>
                  <a:spcPts val="0"/>
                </a:spcBef>
                <a:spcAft>
                  <a:spcPts val="0"/>
                </a:spcAft>
              </a:pPr>
              <a:r>
                <a:rPr sz="900" b="1" i="0" dirty="0">
                  <a:solidFill>
                    <a:sysClr val="windowText" lastClr="000000"/>
                  </a:solidFill>
                  <a:latin typeface="Malgun Gothic"/>
                </a:rPr>
                <a:t>자료24. </a:t>
              </a:r>
              <a:r>
                <a:rPr sz="900" b="1" i="0" dirty="0" err="1">
                  <a:solidFill>
                    <a:sysClr val="windowText" lastClr="000000"/>
                  </a:solidFill>
                  <a:latin typeface="Malgun Gothic"/>
                </a:rPr>
                <a:t>사업부별</a:t>
              </a:r>
              <a:r>
                <a:rPr sz="900" b="1" i="0" dirty="0">
                  <a:solidFill>
                    <a:sysClr val="windowText" lastClr="000000"/>
                  </a:solidFill>
                  <a:latin typeface="Malgun Gothic"/>
                </a:rPr>
                <a:t> </a:t>
              </a:r>
              <a:r>
                <a:rPr sz="900" b="1" i="0" dirty="0" err="1">
                  <a:solidFill>
                    <a:sysClr val="windowText" lastClr="000000"/>
                  </a:solidFill>
                  <a:latin typeface="Malgun Gothic"/>
                </a:rPr>
                <a:t>영업이익</a:t>
              </a:r>
              <a:r>
                <a:rPr sz="900" b="1" i="0" dirty="0">
                  <a:solidFill>
                    <a:sysClr val="windowText" lastClr="000000"/>
                  </a:solidFill>
                  <a:latin typeface="Malgun Gothic"/>
                </a:rPr>
                <a:t> </a:t>
              </a:r>
              <a:r>
                <a:rPr sz="900" b="1" i="0" dirty="0" err="1">
                  <a:solidFill>
                    <a:sysClr val="windowText" lastClr="000000"/>
                  </a:solidFill>
                  <a:latin typeface="Malgun Gothic"/>
                </a:rPr>
                <a:t>추이</a:t>
              </a:r>
              <a:r>
                <a:rPr sz="900" b="1" i="0" dirty="0">
                  <a:solidFill>
                    <a:sysClr val="windowText" lastClr="000000"/>
                  </a:solidFill>
                  <a:latin typeface="Malgun Gothic"/>
                </a:rPr>
                <a:t> (</a:t>
              </a:r>
              <a:r>
                <a:rPr sz="900" b="1" i="0" dirty="0" err="1">
                  <a:solidFill>
                    <a:sysClr val="windowText" lastClr="000000"/>
                  </a:solidFill>
                  <a:latin typeface="Malgun Gothic"/>
                </a:rPr>
                <a:t>적자축소→흑전</a:t>
              </a:r>
              <a:r>
                <a:rPr sz="900" b="1" i="0" dirty="0">
                  <a:solidFill>
                    <a:sysClr val="windowText" lastClr="000000"/>
                  </a:solidFill>
                  <a:latin typeface="Malgun Gothic"/>
                </a:rPr>
                <a:t>)</a:t>
              </a:r>
            </a:p>
          </p:txBody>
        </p:sp>
        <p:sp>
          <p:nvSpPr>
            <p:cNvPr id="18" name="Rectangle 9">
              <a:extLst>
                <a:ext uri="{FF2B5EF4-FFF2-40B4-BE49-F238E27FC236}">
                  <a16:creationId xmlns:a16="http://schemas.microsoft.com/office/drawing/2014/main" id="{BD0C6B81-2031-1656-E876-8F98A6C04F24}"/>
                </a:ext>
              </a:extLst>
            </p:cNvPr>
            <p:cNvSpPr/>
            <p:nvPr/>
          </p:nvSpPr>
          <p:spPr>
            <a:xfrm>
              <a:off x="1399031" y="5300091"/>
              <a:ext cx="4059936" cy="2517648"/>
            </a:xfrm>
            <a:prstGeom prst="rect">
              <a:avLst/>
            </a:prstGeom>
            <a:solidFill>
              <a:srgbClr val="FFFFFF"/>
            </a:solidFill>
            <a:ln w="12700">
              <a:solidFill>
                <a:srgbClr val="AAB3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0" descr="자료4.png">
              <a:extLst>
                <a:ext uri="{FF2B5EF4-FFF2-40B4-BE49-F238E27FC236}">
                  <a16:creationId xmlns:a16="http://schemas.microsoft.com/office/drawing/2014/main" id="{61E9107A-BE3B-C9A6-5C11-09229E6A876E}"/>
                </a:ext>
              </a:extLst>
            </p:cNvPr>
            <p:cNvPicPr>
              <a:picLocks noChangeAspect="1"/>
            </p:cNvPicPr>
            <p:nvPr/>
          </p:nvPicPr>
          <p:blipFill>
            <a:blip r:embed="rId2"/>
            <a:stretch>
              <a:fillRect/>
            </a:stretch>
          </p:blipFill>
          <p:spPr>
            <a:xfrm>
              <a:off x="1417319" y="5318378"/>
              <a:ext cx="4023360" cy="2481072"/>
            </a:xfrm>
            <a:prstGeom prst="rect">
              <a:avLst/>
            </a:prstGeom>
          </p:spPr>
        </p:pic>
        <p:sp>
          <p:nvSpPr>
            <p:cNvPr id="22" name="TextBox 21">
              <a:extLst>
                <a:ext uri="{FF2B5EF4-FFF2-40B4-BE49-F238E27FC236}">
                  <a16:creationId xmlns:a16="http://schemas.microsoft.com/office/drawing/2014/main" id="{4D906F19-C2DF-01E5-CF90-889FD9DC1925}"/>
                </a:ext>
              </a:extLst>
            </p:cNvPr>
            <p:cNvSpPr txBox="1"/>
            <p:nvPr/>
          </p:nvSpPr>
          <p:spPr>
            <a:xfrm>
              <a:off x="457200" y="7845170"/>
              <a:ext cx="5943600" cy="237744"/>
            </a:xfrm>
            <a:prstGeom prst="rect">
              <a:avLst/>
            </a:prstGeom>
            <a:noFill/>
          </p:spPr>
          <p:txBody>
            <a:bodyPr wrap="square" lIns="0" tIns="0" rIns="0" bIns="0" anchor="t">
              <a:spAutoFit/>
            </a:bodyPr>
            <a:lstStyle/>
            <a:p>
              <a:pPr>
                <a:lnSpc>
                  <a:spcPct val="112000"/>
                </a:lnSpc>
                <a:spcBef>
                  <a:spcPts val="0"/>
                </a:spcBef>
                <a:spcAft>
                  <a:spcPts val="0"/>
                </a:spcAft>
              </a:pPr>
              <a:r>
                <a:rPr sz="750" b="0" i="1" dirty="0" err="1">
                  <a:solidFill>
                    <a:srgbClr val="6B7785"/>
                  </a:solidFill>
                  <a:latin typeface="Malgun Gothic"/>
                </a:rPr>
                <a:t>출처</a:t>
              </a:r>
              <a:r>
                <a:rPr sz="750" b="0" i="1" dirty="0">
                  <a:solidFill>
                    <a:srgbClr val="6B7785"/>
                  </a:solidFill>
                  <a:latin typeface="Malgun Gothic"/>
                </a:rPr>
                <a:t>: </a:t>
              </a:r>
              <a:r>
                <a:rPr sz="750" b="0" i="1" dirty="0" err="1">
                  <a:solidFill>
                    <a:srgbClr val="6B7785"/>
                  </a:solidFill>
                  <a:latin typeface="Malgun Gothic"/>
                </a:rPr>
                <a:t>신한투자증권</a:t>
              </a:r>
              <a:r>
                <a:rPr sz="750" b="0" i="1" dirty="0">
                  <a:solidFill>
                    <a:srgbClr val="6B7785"/>
                  </a:solidFill>
                  <a:latin typeface="Malgun Gothic"/>
                </a:rPr>
                <a:t> p.3, ICOK</a:t>
              </a:r>
            </a:p>
          </p:txBody>
        </p:sp>
      </p:grpSp>
      <p:sp>
        <p:nvSpPr>
          <p:cNvPr id="13" name="Rectangle 7">
            <a:extLst>
              <a:ext uri="{FF2B5EF4-FFF2-40B4-BE49-F238E27FC236}">
                <a16:creationId xmlns:a16="http://schemas.microsoft.com/office/drawing/2014/main" id="{5AB5E221-CF91-6EC6-79CE-F225492D8FBD}"/>
              </a:ext>
            </a:extLst>
          </p:cNvPr>
          <p:cNvSpPr/>
          <p:nvPr/>
        </p:nvSpPr>
        <p:spPr>
          <a:xfrm>
            <a:off x="915139" y="5060632"/>
            <a:ext cx="4896034" cy="207454"/>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a:extLst>
              <a:ext uri="{FF2B5EF4-FFF2-40B4-BE49-F238E27FC236}">
                <a16:creationId xmlns:a16="http://schemas.microsoft.com/office/drawing/2014/main" id="{CF703E7B-B71F-8F85-FE82-C05E35214325}"/>
              </a:ext>
            </a:extLst>
          </p:cNvPr>
          <p:cNvSpPr txBox="1"/>
          <p:nvPr/>
        </p:nvSpPr>
        <p:spPr>
          <a:xfrm>
            <a:off x="980983" y="5095343"/>
            <a:ext cx="5761839" cy="141514"/>
          </a:xfrm>
          <a:prstGeom prst="rect">
            <a:avLst/>
          </a:prstGeom>
          <a:noFill/>
        </p:spPr>
        <p:txBody>
          <a:bodyPr wrap="square" lIns="0" tIns="0" rIns="0" bIns="0" anchor="ctr">
            <a:spAutoFit/>
          </a:bodyPr>
          <a:lstStyle/>
          <a:p>
            <a:pPr>
              <a:lnSpc>
                <a:spcPct val="112000"/>
              </a:lnSpc>
              <a:spcBef>
                <a:spcPts val="0"/>
              </a:spcBef>
              <a:spcAft>
                <a:spcPts val="0"/>
              </a:spcAft>
            </a:pPr>
            <a:r>
              <a:rPr sz="900" b="1" i="0" dirty="0">
                <a:solidFill>
                  <a:sysClr val="windowText" lastClr="000000"/>
                </a:solidFill>
                <a:latin typeface="Malgun Gothic"/>
              </a:rPr>
              <a:t>자료</a:t>
            </a:r>
            <a:r>
              <a:rPr lang="en-US" sz="900" b="1" i="0" dirty="0">
                <a:solidFill>
                  <a:sysClr val="windowText" lastClr="000000"/>
                </a:solidFill>
                <a:latin typeface="Malgun Gothic"/>
              </a:rPr>
              <a:t>23</a:t>
            </a:r>
            <a:r>
              <a:rPr sz="900" b="1" i="0" dirty="0">
                <a:solidFill>
                  <a:sysClr val="windowText" lastClr="000000"/>
                </a:solidFill>
                <a:latin typeface="Malgun Gothic"/>
              </a:rPr>
              <a:t>. </a:t>
            </a:r>
            <a:r>
              <a:rPr lang="ko-KR" altLang="en-US" sz="900" b="1" i="0" dirty="0">
                <a:solidFill>
                  <a:sysClr val="windowText" lastClr="000000"/>
                </a:solidFill>
                <a:latin typeface="Malgun Gothic"/>
              </a:rPr>
              <a:t>헝가리 공장 가동률 회복 </a:t>
            </a:r>
            <a:r>
              <a:rPr lang="en-US" altLang="ko-KR" sz="900" b="1" i="0" dirty="0">
                <a:solidFill>
                  <a:sysClr val="windowText" lastClr="000000"/>
                </a:solidFill>
                <a:latin typeface="Malgun Gothic"/>
                <a:sym typeface="Wingdings" panose="05000000000000000000" pitchFamily="2" charset="2"/>
              </a:rPr>
              <a:t> </a:t>
            </a:r>
            <a:r>
              <a:rPr lang="ko-KR" altLang="en-US" sz="900" b="1" i="0" dirty="0">
                <a:solidFill>
                  <a:sysClr val="windowText" lastClr="000000"/>
                </a:solidFill>
                <a:latin typeface="Malgun Gothic"/>
                <a:sym typeface="Wingdings" panose="05000000000000000000" pitchFamily="2" charset="2"/>
              </a:rPr>
              <a:t>영업이익 개선</a:t>
            </a:r>
            <a:endParaRPr sz="900" b="1" i="0" dirty="0">
              <a:solidFill>
                <a:sysClr val="windowText" lastClr="000000"/>
              </a:solidFill>
              <a:latin typeface="Malgun Gothic"/>
            </a:endParaRPr>
          </a:p>
        </p:txBody>
      </p:sp>
      <p:sp>
        <p:nvSpPr>
          <p:cNvPr id="17" name="TextBox 16">
            <a:extLst>
              <a:ext uri="{FF2B5EF4-FFF2-40B4-BE49-F238E27FC236}">
                <a16:creationId xmlns:a16="http://schemas.microsoft.com/office/drawing/2014/main" id="{9AC8AD73-AEF3-4391-9B20-CA7C1A56B3AC}"/>
              </a:ext>
            </a:extLst>
          </p:cNvPr>
          <p:cNvSpPr txBox="1"/>
          <p:nvPr/>
        </p:nvSpPr>
        <p:spPr>
          <a:xfrm>
            <a:off x="980983" y="6931921"/>
            <a:ext cx="5654040" cy="215444"/>
          </a:xfrm>
          <a:prstGeom prst="rect">
            <a:avLst/>
          </a:prstGeom>
          <a:noFill/>
        </p:spPr>
        <p:txBody>
          <a:bodyPr wrap="square" rtlCol="0">
            <a:spAutoFit/>
          </a:bodyPr>
          <a:lstStyle/>
          <a:p>
            <a:r>
              <a:rPr lang="ko-KR" altLang="en-US" sz="800" i="1" dirty="0">
                <a:solidFill>
                  <a:schemeClr val="tx1">
                    <a:lumMod val="50000"/>
                    <a:lumOff val="50000"/>
                  </a:schemeClr>
                </a:solidFill>
                <a:latin typeface="+mj-ea"/>
                <a:ea typeface="+mj-ea"/>
              </a:rPr>
              <a:t>출처</a:t>
            </a:r>
            <a:r>
              <a:rPr lang="en-US" altLang="ko-KR" sz="800" i="1" dirty="0">
                <a:solidFill>
                  <a:schemeClr val="tx1">
                    <a:lumMod val="50000"/>
                    <a:lumOff val="50000"/>
                  </a:schemeClr>
                </a:solidFill>
                <a:latin typeface="+mj-ea"/>
                <a:ea typeface="+mj-ea"/>
              </a:rPr>
              <a:t>: </a:t>
            </a:r>
            <a:r>
              <a:rPr lang="ko-KR" altLang="en-US" sz="800" i="1" dirty="0">
                <a:solidFill>
                  <a:schemeClr val="tx1">
                    <a:lumMod val="50000"/>
                    <a:lumOff val="50000"/>
                  </a:schemeClr>
                </a:solidFill>
                <a:latin typeface="+mj-ea"/>
                <a:ea typeface="+mj-ea"/>
              </a:rPr>
              <a:t>삼성</a:t>
            </a:r>
            <a:r>
              <a:rPr lang="en-US" altLang="ko-KR" sz="800" i="1" dirty="0">
                <a:solidFill>
                  <a:schemeClr val="tx1">
                    <a:lumMod val="50000"/>
                    <a:lumOff val="50000"/>
                  </a:schemeClr>
                </a:solidFill>
                <a:latin typeface="+mj-ea"/>
                <a:ea typeface="+mj-ea"/>
              </a:rPr>
              <a:t>SDI </a:t>
            </a:r>
            <a:r>
              <a:rPr lang="ko-KR" altLang="en-US" sz="800" i="1" dirty="0">
                <a:solidFill>
                  <a:schemeClr val="tx1">
                    <a:lumMod val="50000"/>
                    <a:lumOff val="50000"/>
                  </a:schemeClr>
                </a:solidFill>
                <a:latin typeface="+mj-ea"/>
                <a:ea typeface="+mj-ea"/>
              </a:rPr>
              <a:t>공시</a:t>
            </a:r>
            <a:r>
              <a:rPr lang="en-US" altLang="ko-KR" sz="800" i="1" dirty="0">
                <a:solidFill>
                  <a:schemeClr val="tx1">
                    <a:lumMod val="50000"/>
                    <a:lumOff val="50000"/>
                  </a:schemeClr>
                </a:solidFill>
                <a:latin typeface="+mj-ea"/>
                <a:ea typeface="+mj-ea"/>
              </a:rPr>
              <a:t>,</a:t>
            </a:r>
            <a:r>
              <a:rPr lang="ko-KR" altLang="en-US" sz="800" i="1" dirty="0">
                <a:solidFill>
                  <a:schemeClr val="tx1">
                    <a:lumMod val="50000"/>
                    <a:lumOff val="50000"/>
                  </a:schemeClr>
                </a:solidFill>
                <a:latin typeface="+mj-ea"/>
                <a:ea typeface="+mj-ea"/>
              </a:rPr>
              <a:t> </a:t>
            </a:r>
            <a:r>
              <a:rPr lang="en-US" altLang="ko-KR" sz="800" i="1">
                <a:solidFill>
                  <a:schemeClr val="tx1">
                    <a:lumMod val="50000"/>
                    <a:lumOff val="50000"/>
                  </a:schemeClr>
                </a:solidFill>
                <a:latin typeface="+mj-ea"/>
                <a:ea typeface="+mj-ea"/>
              </a:rPr>
              <a:t>ICOK</a:t>
            </a:r>
            <a:endParaRPr lang="en-KR" sz="800" i="1" dirty="0">
              <a:solidFill>
                <a:schemeClr val="tx1">
                  <a:lumMod val="50000"/>
                  <a:lumOff val="50000"/>
                </a:schemeClr>
              </a:solidFill>
              <a:latin typeface="+mj-ea"/>
              <a:ea typeface="+mj-ea"/>
            </a:endParaRPr>
          </a:p>
        </p:txBody>
      </p:sp>
      <p:sp>
        <p:nvSpPr>
          <p:cNvPr id="24" name="TextBox 23"/>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17</a:t>
            </a:r>
          </a:p>
        </p:txBody>
      </p:sp>
      <p:pic>
        <p:nvPicPr>
          <p:cNvPr id="25" name="Picture 24" descr="ja23.png"/>
          <p:cNvPicPr>
            <a:picLocks noChangeAspect="1"/>
          </p:cNvPicPr>
          <p:nvPr/>
        </p:nvPicPr>
        <p:blipFill>
          <a:blip r:embed="rId4"/>
          <a:stretch>
            <a:fillRect/>
          </a:stretch>
        </p:blipFill>
        <p:spPr>
          <a:xfrm>
            <a:off x="1063772" y="5268086"/>
            <a:ext cx="4282727" cy="188119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150362"/>
          </a:xfrm>
          <a:prstGeom prst="rect">
            <a:avLst/>
          </a:prstGeom>
          <a:noFill/>
        </p:spPr>
        <p:txBody>
          <a:bodyPr wrap="square" lIns="0" tIns="0" rIns="0" bIns="0" anchor="t">
            <a:spAutoFit/>
          </a:bodyPr>
          <a:lstStyle/>
          <a:p>
            <a:pPr>
              <a:lnSpc>
                <a:spcPct val="112000"/>
              </a:lnSpc>
              <a:spcBef>
                <a:spcPts val="0"/>
              </a:spcBef>
              <a:spcAft>
                <a:spcPts val="500"/>
              </a:spcAft>
            </a:pPr>
            <a:r>
              <a:rPr sz="950" b="1" i="0">
                <a:solidFill>
                  <a:srgbClr val="003A75"/>
                </a:solidFill>
                <a:latin typeface="+mj-ea"/>
                <a:ea typeface="+mj-ea"/>
              </a:rPr>
              <a:t>투자포인트</a:t>
            </a:r>
          </a:p>
        </p:txBody>
      </p:sp>
      <p:sp>
        <p:nvSpPr>
          <p:cNvPr id="3" name="TextBox 2"/>
          <p:cNvSpPr txBox="1"/>
          <p:nvPr/>
        </p:nvSpPr>
        <p:spPr>
          <a:xfrm>
            <a:off x="2743200" y="384048"/>
            <a:ext cx="3657600" cy="142411"/>
          </a:xfrm>
          <a:prstGeom prst="rect">
            <a:avLst/>
          </a:prstGeom>
          <a:noFill/>
        </p:spPr>
        <p:txBody>
          <a:bodyPr wrap="square" lIns="0" tIns="0" rIns="0" bIns="0" anchor="t">
            <a:spAutoFit/>
          </a:bodyPr>
          <a:lstStyle/>
          <a:p>
            <a:pPr algn="r">
              <a:lnSpc>
                <a:spcPct val="112000"/>
              </a:lnSpc>
              <a:spcBef>
                <a:spcPts val="0"/>
              </a:spcBef>
              <a:spcAft>
                <a:spcPts val="500"/>
              </a:spcAft>
            </a:pPr>
            <a:r>
              <a:rPr sz="900" b="0" i="0">
                <a:solidFill>
                  <a:srgbClr val="6B7785"/>
                </a:solidFill>
                <a:latin typeface="+mj-ea"/>
                <a:ea typeface="+mj-ea"/>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ea"/>
              <a:ea typeface="+mj-ea"/>
            </a:endParaRPr>
          </a:p>
        </p:txBody>
      </p:sp>
      <p:sp>
        <p:nvSpPr>
          <p:cNvPr id="5" name="TextBox 4"/>
          <p:cNvSpPr txBox="1"/>
          <p:nvPr/>
        </p:nvSpPr>
        <p:spPr>
          <a:xfrm>
            <a:off x="1140781" y="822960"/>
            <a:ext cx="5943600" cy="174087"/>
          </a:xfrm>
          <a:prstGeom prst="rect">
            <a:avLst/>
          </a:prstGeom>
          <a:noFill/>
        </p:spPr>
        <p:txBody>
          <a:bodyPr wrap="square" lIns="0" tIns="0" rIns="0" bIns="0" anchor="t">
            <a:spAutoFit/>
          </a:bodyPr>
          <a:lstStyle/>
          <a:p>
            <a:pPr>
              <a:lnSpc>
                <a:spcPct val="112000"/>
              </a:lnSpc>
              <a:spcBef>
                <a:spcPts val="0"/>
              </a:spcBef>
              <a:spcAft>
                <a:spcPts val="500"/>
              </a:spcAft>
            </a:pPr>
            <a:r>
              <a:rPr sz="1100" b="1" i="0" dirty="0">
                <a:latin typeface="+mj-ea"/>
                <a:ea typeface="+mj-ea"/>
              </a:rPr>
              <a:t>3.3  46파이·신규 </a:t>
            </a:r>
            <a:r>
              <a:rPr sz="1100" b="1" i="0" dirty="0" err="1">
                <a:latin typeface="+mj-ea"/>
                <a:ea typeface="+mj-ea"/>
              </a:rPr>
              <a:t>플랫폼</a:t>
            </a:r>
            <a:endParaRPr sz="1100" b="1" i="0" dirty="0">
              <a:latin typeface="+mj-ea"/>
              <a:ea typeface="+mj-ea"/>
            </a:endParaRPr>
          </a:p>
        </p:txBody>
      </p:sp>
      <p:sp>
        <p:nvSpPr>
          <p:cNvPr id="6" name="TextBox 5"/>
          <p:cNvSpPr txBox="1"/>
          <p:nvPr/>
        </p:nvSpPr>
        <p:spPr>
          <a:xfrm>
            <a:off x="1140781" y="1087715"/>
            <a:ext cx="5943600" cy="166136"/>
          </a:xfrm>
          <a:prstGeom prst="rect">
            <a:avLst/>
          </a:prstGeom>
          <a:noFill/>
        </p:spPr>
        <p:txBody>
          <a:bodyPr wrap="square" lIns="0" tIns="0" rIns="0" bIns="0" anchor="t">
            <a:spAutoFit/>
          </a:bodyPr>
          <a:lstStyle/>
          <a:p>
            <a:pPr>
              <a:lnSpc>
                <a:spcPct val="112000"/>
              </a:lnSpc>
              <a:spcBef>
                <a:spcPts val="0"/>
              </a:spcBef>
              <a:spcAft>
                <a:spcPts val="500"/>
              </a:spcAft>
            </a:pPr>
            <a:r>
              <a:rPr sz="1050" b="1" dirty="0" err="1">
                <a:latin typeface="+mj-ea"/>
                <a:ea typeface="+mj-ea"/>
              </a:rPr>
              <a:t>국내</a:t>
            </a:r>
            <a:r>
              <a:rPr sz="1050" b="1" dirty="0">
                <a:latin typeface="+mj-ea"/>
                <a:ea typeface="+mj-ea"/>
              </a:rPr>
              <a:t> </a:t>
            </a:r>
            <a:r>
              <a:rPr sz="1050" b="1" dirty="0" err="1">
                <a:latin typeface="+mj-ea"/>
                <a:ea typeface="+mj-ea"/>
              </a:rPr>
              <a:t>최선두</a:t>
            </a:r>
            <a:r>
              <a:rPr sz="1050" b="1" dirty="0">
                <a:latin typeface="+mj-ea"/>
                <a:ea typeface="+mj-ea"/>
              </a:rPr>
              <a:t> 46파이 </a:t>
            </a:r>
            <a:r>
              <a:rPr sz="1050" b="1" dirty="0" err="1">
                <a:latin typeface="+mj-ea"/>
                <a:ea typeface="+mj-ea"/>
              </a:rPr>
              <a:t>양산</a:t>
            </a:r>
            <a:r>
              <a:rPr sz="1050" b="1" dirty="0">
                <a:latin typeface="+mj-ea"/>
                <a:ea typeface="+mj-ea"/>
              </a:rPr>
              <a:t> — </a:t>
            </a:r>
            <a:r>
              <a:rPr sz="1050" b="1" dirty="0" err="1">
                <a:latin typeface="+mj-ea"/>
                <a:ea typeface="+mj-ea"/>
              </a:rPr>
              <a:t>마이크로모빌리티에서</a:t>
            </a:r>
            <a:r>
              <a:rPr sz="1050" b="1" dirty="0">
                <a:latin typeface="+mj-ea"/>
                <a:ea typeface="+mj-ea"/>
              </a:rPr>
              <a:t> </a:t>
            </a:r>
            <a:r>
              <a:rPr sz="1050" b="1" dirty="0" err="1">
                <a:latin typeface="+mj-ea"/>
                <a:ea typeface="+mj-ea"/>
              </a:rPr>
              <a:t>EV로</a:t>
            </a:r>
            <a:r>
              <a:rPr sz="1050" b="1" dirty="0">
                <a:latin typeface="+mj-ea"/>
                <a:ea typeface="+mj-ea"/>
              </a:rPr>
              <a:t> </a:t>
            </a:r>
            <a:r>
              <a:rPr sz="1050" b="1" dirty="0" err="1">
                <a:latin typeface="+mj-ea"/>
                <a:ea typeface="+mj-ea"/>
              </a:rPr>
              <a:t>단계적</a:t>
            </a:r>
            <a:r>
              <a:rPr sz="1050" b="1" dirty="0">
                <a:latin typeface="+mj-ea"/>
                <a:ea typeface="+mj-ea"/>
              </a:rPr>
              <a:t> </a:t>
            </a:r>
            <a:r>
              <a:rPr sz="1050" b="1" dirty="0" err="1">
                <a:latin typeface="+mj-ea"/>
                <a:ea typeface="+mj-ea"/>
              </a:rPr>
              <a:t>확장</a:t>
            </a:r>
            <a:endParaRPr sz="1050" b="1" dirty="0">
              <a:latin typeface="+mj-ea"/>
              <a:ea typeface="+mj-ea"/>
            </a:endParaRPr>
          </a:p>
        </p:txBody>
      </p:sp>
      <p:sp>
        <p:nvSpPr>
          <p:cNvPr id="7" name="TextBox 6"/>
          <p:cNvSpPr txBox="1"/>
          <p:nvPr/>
        </p:nvSpPr>
        <p:spPr>
          <a:xfrm>
            <a:off x="1049341" y="1420427"/>
            <a:ext cx="5260019" cy="3662221"/>
          </a:xfrm>
          <a:prstGeom prst="rect">
            <a:avLst/>
          </a:prstGeom>
          <a:noFill/>
        </p:spPr>
        <p:txBody>
          <a:bodyPr wrap="square" lIns="0" tIns="0" rIns="0" bIns="0" anchor="t">
            <a:spAutoFit/>
          </a:bodyPr>
          <a:lstStyle/>
          <a:p>
            <a:pPr algn="just">
              <a:lnSpc>
                <a:spcPct val="132000"/>
              </a:lnSpc>
              <a:spcBef>
                <a:spcPts val="0"/>
              </a:spcBef>
              <a:spcAft>
                <a:spcPts val="900"/>
              </a:spcAft>
            </a:pPr>
            <a:r>
              <a:rPr sz="1000">
                <a:solidFill>
                  <a:srgbClr val="222222"/>
                </a:solidFill>
                <a:latin typeface="맑은 고딕"/>
              </a:rPr>
              <a:t> 삼성SDI는 국내 업체 중 가장 먼저 46파이(4695) 원형 전지를 양산한 선행 주자다. 사업보고서상 마이크로모빌리티(M-Mobility)용 46파이 셀은 2024~2025년 개발 완료(양산 진입)됐고, EV(xEV)용 46파이는 개발 진행 단계로 EV향 본격 양산은 그 다음 단계다</a:t>
            </a:r>
            <a:r>
              <a:rPr sz="900">
                <a:solidFill>
                  <a:srgbClr val="6B7785"/>
                </a:solidFill>
                <a:latin typeface="맑은 고딕"/>
              </a:rPr>
              <a:t> [자료25]</a:t>
            </a:r>
            <a:r>
              <a:rPr sz="1000">
                <a:solidFill>
                  <a:srgbClr val="222222"/>
                </a:solidFill>
                <a:latin typeface="맑은 고딕"/>
              </a:rPr>
              <a:t>. 탭리스 구조·신공법으로 급속충전·장수명·고출력을 확보했고, BMW 노이에 클라세 채택이 본격화되면 헝가리 괴드의 46파이 EV 거점 전환과 함께 2027년 이후 신규 플랫폼 수혜가 가시화된다.</a:t>
            </a:r>
          </a:p>
          <a:p>
            <a:pPr algn="just">
              <a:lnSpc>
                <a:spcPct val="132000"/>
              </a:lnSpc>
              <a:spcBef>
                <a:spcPts val="0"/>
              </a:spcBef>
              <a:spcAft>
                <a:spcPts val="900"/>
              </a:spcAft>
            </a:pPr>
            <a:r>
              <a:rPr sz="1000" b="0" i="0" dirty="0">
                <a:solidFill>
                  <a:srgbClr val="222222"/>
                </a:solidFill>
                <a:latin typeface="+mj-ea"/>
                <a:ea typeface="+mj-ea"/>
              </a:rPr>
              <a:t>46파이는 </a:t>
            </a:r>
            <a:r>
              <a:rPr sz="1000" b="0" i="0" dirty="0" err="1">
                <a:solidFill>
                  <a:srgbClr val="222222"/>
                </a:solidFill>
                <a:latin typeface="+mj-ea"/>
                <a:ea typeface="+mj-ea"/>
              </a:rPr>
              <a:t>차세대</a:t>
            </a:r>
            <a:r>
              <a:rPr sz="1000" b="0" i="0" dirty="0">
                <a:solidFill>
                  <a:srgbClr val="222222"/>
                </a:solidFill>
                <a:latin typeface="+mj-ea"/>
                <a:ea typeface="+mj-ea"/>
              </a:rPr>
              <a:t> </a:t>
            </a:r>
            <a:r>
              <a:rPr sz="1000" b="0" i="0" dirty="0" err="1">
                <a:solidFill>
                  <a:srgbClr val="222222"/>
                </a:solidFill>
                <a:latin typeface="+mj-ea"/>
                <a:ea typeface="+mj-ea"/>
              </a:rPr>
              <a:t>표준</a:t>
            </a:r>
            <a:r>
              <a:rPr sz="1000" b="0" i="0" dirty="0">
                <a:solidFill>
                  <a:srgbClr val="222222"/>
                </a:solidFill>
                <a:latin typeface="+mj-ea"/>
                <a:ea typeface="+mj-ea"/>
              </a:rPr>
              <a:t> </a:t>
            </a:r>
            <a:r>
              <a:rPr sz="1000" b="0" i="0" dirty="0" err="1">
                <a:solidFill>
                  <a:srgbClr val="222222"/>
                </a:solidFill>
                <a:latin typeface="+mj-ea"/>
                <a:ea typeface="+mj-ea"/>
              </a:rPr>
              <a:t>폼팩터로</a:t>
            </a:r>
            <a:r>
              <a:rPr sz="1000" b="0" i="0" dirty="0">
                <a:solidFill>
                  <a:srgbClr val="222222"/>
                </a:solidFill>
                <a:latin typeface="+mj-ea"/>
                <a:ea typeface="+mj-ea"/>
              </a:rPr>
              <a:t> </a:t>
            </a:r>
            <a:r>
              <a:rPr sz="1000" b="0" i="0" dirty="0" err="1">
                <a:solidFill>
                  <a:srgbClr val="222222"/>
                </a:solidFill>
                <a:latin typeface="+mj-ea"/>
                <a:ea typeface="+mj-ea"/>
              </a:rPr>
              <a:t>자리잡고</a:t>
            </a:r>
            <a:r>
              <a:rPr sz="1000" b="0" i="0" dirty="0">
                <a:solidFill>
                  <a:srgbClr val="222222"/>
                </a:solidFill>
                <a:latin typeface="+mj-ea"/>
                <a:ea typeface="+mj-ea"/>
              </a:rPr>
              <a:t> </a:t>
            </a:r>
            <a:r>
              <a:rPr sz="1000" b="0" i="0" dirty="0" err="1">
                <a:solidFill>
                  <a:srgbClr val="222222"/>
                </a:solidFill>
                <a:latin typeface="+mj-ea"/>
                <a:ea typeface="+mj-ea"/>
              </a:rPr>
              <a:t>있다</a:t>
            </a:r>
            <a:r>
              <a:rPr sz="1000" b="0" i="0" dirty="0">
                <a:solidFill>
                  <a:srgbClr val="222222"/>
                </a:solidFill>
                <a:latin typeface="+mj-ea"/>
                <a:ea typeface="+mj-ea"/>
              </a:rPr>
              <a:t>. </a:t>
            </a:r>
            <a:r>
              <a:rPr sz="1000" b="0" i="0" dirty="0" err="1">
                <a:solidFill>
                  <a:srgbClr val="222222"/>
                </a:solidFill>
                <a:latin typeface="+mj-ea"/>
                <a:ea typeface="+mj-ea"/>
              </a:rPr>
              <a:t>시장</a:t>
            </a:r>
            <a:r>
              <a:rPr sz="1000" b="0" i="0" dirty="0">
                <a:solidFill>
                  <a:srgbClr val="222222"/>
                </a:solidFill>
                <a:latin typeface="+mj-ea"/>
                <a:ea typeface="+mj-ea"/>
              </a:rPr>
              <a:t> </a:t>
            </a:r>
            <a:r>
              <a:rPr sz="1000" b="0" i="0" dirty="0" err="1">
                <a:solidFill>
                  <a:srgbClr val="222222"/>
                </a:solidFill>
                <a:latin typeface="+mj-ea"/>
                <a:ea typeface="+mj-ea"/>
              </a:rPr>
              <a:t>규모는</a:t>
            </a:r>
            <a:r>
              <a:rPr sz="1000" b="0" i="0" dirty="0">
                <a:solidFill>
                  <a:srgbClr val="222222"/>
                </a:solidFill>
                <a:latin typeface="+mj-ea"/>
                <a:ea typeface="+mj-ea"/>
              </a:rPr>
              <a:t> 2026년 155GWh에서 2030년 650GWh로 </a:t>
            </a:r>
            <a:r>
              <a:rPr sz="1000" b="0" i="0" dirty="0" err="1">
                <a:solidFill>
                  <a:srgbClr val="222222"/>
                </a:solidFill>
                <a:latin typeface="+mj-ea"/>
                <a:ea typeface="+mj-ea"/>
              </a:rPr>
              <a:t>연평균</a:t>
            </a:r>
            <a:r>
              <a:rPr sz="1000" b="0" i="0" dirty="0">
                <a:solidFill>
                  <a:srgbClr val="222222"/>
                </a:solidFill>
                <a:latin typeface="+mj-ea"/>
                <a:ea typeface="+mj-ea"/>
              </a:rPr>
              <a:t> 33% </a:t>
            </a:r>
            <a:r>
              <a:rPr sz="1000" b="0" i="0" dirty="0" err="1">
                <a:solidFill>
                  <a:srgbClr val="222222"/>
                </a:solidFill>
                <a:latin typeface="+mj-ea"/>
                <a:ea typeface="+mj-ea"/>
              </a:rPr>
              <a:t>성장할</a:t>
            </a:r>
            <a:r>
              <a:rPr sz="1000" b="0" i="0" dirty="0">
                <a:solidFill>
                  <a:srgbClr val="222222"/>
                </a:solidFill>
                <a:latin typeface="+mj-ea"/>
                <a:ea typeface="+mj-ea"/>
              </a:rPr>
              <a:t> </a:t>
            </a:r>
            <a:r>
              <a:rPr sz="1000" b="0" i="0" dirty="0" err="1">
                <a:solidFill>
                  <a:srgbClr val="222222"/>
                </a:solidFill>
                <a:latin typeface="+mj-ea"/>
                <a:ea typeface="+mj-ea"/>
              </a:rPr>
              <a:t>전망이며</a:t>
            </a:r>
            <a:r>
              <a:rPr sz="1000" b="0" i="0" dirty="0">
                <a:solidFill>
                  <a:srgbClr val="222222"/>
                </a:solidFill>
                <a:latin typeface="+mj-ea"/>
                <a:ea typeface="+mj-ea"/>
              </a:rPr>
              <a:t>(</a:t>
            </a:r>
            <a:r>
              <a:rPr sz="1000" b="0" i="0" dirty="0" err="1">
                <a:solidFill>
                  <a:srgbClr val="222222"/>
                </a:solidFill>
                <a:latin typeface="+mj-ea"/>
                <a:ea typeface="+mj-ea"/>
              </a:rPr>
              <a:t>SNE리서치</a:t>
            </a:r>
            <a:r>
              <a:rPr sz="1000" b="0" i="0" dirty="0">
                <a:solidFill>
                  <a:srgbClr val="222222"/>
                </a:solidFill>
                <a:latin typeface="+mj-ea"/>
                <a:ea typeface="+mj-ea"/>
              </a:rPr>
              <a:t>), </a:t>
            </a:r>
            <a:r>
              <a:rPr sz="1000" b="0" i="0" dirty="0" err="1">
                <a:solidFill>
                  <a:srgbClr val="222222"/>
                </a:solidFill>
                <a:latin typeface="+mj-ea"/>
                <a:ea typeface="+mj-ea"/>
              </a:rPr>
              <a:t>BMW·현대차·GM</a:t>
            </a:r>
            <a:r>
              <a:rPr sz="1000" b="0" i="0" dirty="0">
                <a:solidFill>
                  <a:srgbClr val="222222"/>
                </a:solidFill>
                <a:latin typeface="+mj-ea"/>
                <a:ea typeface="+mj-ea"/>
              </a:rPr>
              <a:t> 등 </a:t>
            </a:r>
            <a:r>
              <a:rPr sz="1000" b="0" i="0" dirty="0" err="1">
                <a:solidFill>
                  <a:srgbClr val="222222"/>
                </a:solidFill>
                <a:latin typeface="+mj-ea"/>
                <a:ea typeface="+mj-ea"/>
              </a:rPr>
              <a:t>주요</a:t>
            </a:r>
            <a:r>
              <a:rPr sz="1000" b="0" i="0" dirty="0">
                <a:solidFill>
                  <a:srgbClr val="222222"/>
                </a:solidFill>
                <a:latin typeface="+mj-ea"/>
                <a:ea typeface="+mj-ea"/>
              </a:rPr>
              <a:t> </a:t>
            </a:r>
            <a:r>
              <a:rPr sz="1000" b="0" i="0" dirty="0" err="1">
                <a:solidFill>
                  <a:srgbClr val="222222"/>
                </a:solidFill>
                <a:latin typeface="+mj-ea"/>
                <a:ea typeface="+mj-ea"/>
              </a:rPr>
              <a:t>OEM이</a:t>
            </a:r>
            <a:r>
              <a:rPr sz="1000" b="0" i="0" dirty="0">
                <a:solidFill>
                  <a:srgbClr val="222222"/>
                </a:solidFill>
                <a:latin typeface="+mj-ea"/>
                <a:ea typeface="+mj-ea"/>
              </a:rPr>
              <a:t> 46파이로 </a:t>
            </a:r>
            <a:r>
              <a:rPr sz="1000" b="0" i="0" dirty="0" err="1">
                <a:solidFill>
                  <a:srgbClr val="222222"/>
                </a:solidFill>
                <a:latin typeface="+mj-ea"/>
                <a:ea typeface="+mj-ea"/>
              </a:rPr>
              <a:t>전환</a:t>
            </a:r>
            <a:r>
              <a:rPr sz="1000" b="0" i="0" dirty="0">
                <a:solidFill>
                  <a:srgbClr val="222222"/>
                </a:solidFill>
                <a:latin typeface="+mj-ea"/>
                <a:ea typeface="+mj-ea"/>
              </a:rPr>
              <a:t> </a:t>
            </a:r>
            <a:r>
              <a:rPr sz="1000" b="0" i="0" dirty="0" err="1">
                <a:solidFill>
                  <a:srgbClr val="222222"/>
                </a:solidFill>
                <a:latin typeface="+mj-ea"/>
                <a:ea typeface="+mj-ea"/>
              </a:rPr>
              <a:t>중이다</a:t>
            </a:r>
            <a:r>
              <a:rPr sz="900" b="1" i="0" dirty="0">
                <a:solidFill>
                  <a:srgbClr val="6B7785"/>
                </a:solidFill>
                <a:latin typeface="+mj-ea"/>
                <a:ea typeface="+mj-ea"/>
              </a:rPr>
              <a:t> [자료26]</a:t>
            </a:r>
            <a:r>
              <a:rPr sz="1000" b="0" i="0" dirty="0">
                <a:solidFill>
                  <a:srgbClr val="222222"/>
                </a:solidFill>
                <a:latin typeface="+mj-ea"/>
                <a:ea typeface="+mj-ea"/>
              </a:rPr>
              <a:t>. </a:t>
            </a:r>
            <a:r>
              <a:rPr sz="1000" b="0" i="0" dirty="0" err="1">
                <a:solidFill>
                  <a:srgbClr val="222222"/>
                </a:solidFill>
                <a:latin typeface="+mj-ea"/>
                <a:ea typeface="+mj-ea"/>
              </a:rPr>
              <a:t>삼성SDI는</a:t>
            </a:r>
            <a:r>
              <a:rPr sz="1000" b="0" i="0" dirty="0">
                <a:solidFill>
                  <a:srgbClr val="222222"/>
                </a:solidFill>
                <a:latin typeface="+mj-ea"/>
                <a:ea typeface="+mj-ea"/>
              </a:rPr>
              <a:t> 4680/4695/46100/46120 </a:t>
            </a:r>
            <a:r>
              <a:rPr sz="1000" b="0" i="0" dirty="0" err="1">
                <a:solidFill>
                  <a:srgbClr val="222222"/>
                </a:solidFill>
                <a:latin typeface="+mj-ea"/>
                <a:ea typeface="+mj-ea"/>
              </a:rPr>
              <a:t>다규격</a:t>
            </a:r>
            <a:r>
              <a:rPr sz="1000" b="0" i="0" dirty="0">
                <a:solidFill>
                  <a:srgbClr val="222222"/>
                </a:solidFill>
                <a:latin typeface="+mj-ea"/>
                <a:ea typeface="+mj-ea"/>
              </a:rPr>
              <a:t> </a:t>
            </a:r>
            <a:r>
              <a:rPr sz="1000" b="0" i="0" dirty="0" err="1">
                <a:solidFill>
                  <a:srgbClr val="222222"/>
                </a:solidFill>
                <a:latin typeface="+mj-ea"/>
                <a:ea typeface="+mj-ea"/>
              </a:rPr>
              <a:t>라인업으로</a:t>
            </a:r>
            <a:r>
              <a:rPr sz="1000" b="0" i="0" dirty="0">
                <a:solidFill>
                  <a:srgbClr val="222222"/>
                </a:solidFill>
                <a:latin typeface="+mj-ea"/>
                <a:ea typeface="+mj-ea"/>
              </a:rPr>
              <a:t> </a:t>
            </a:r>
            <a:r>
              <a:rPr sz="1000" b="0" i="0" dirty="0" err="1">
                <a:solidFill>
                  <a:srgbClr val="222222"/>
                </a:solidFill>
                <a:latin typeface="+mj-ea"/>
                <a:ea typeface="+mj-ea"/>
              </a:rPr>
              <a:t>경쟁사보다</a:t>
            </a:r>
            <a:r>
              <a:rPr sz="1000" b="0" i="0" dirty="0">
                <a:solidFill>
                  <a:srgbClr val="222222"/>
                </a:solidFill>
                <a:latin typeface="+mj-ea"/>
                <a:ea typeface="+mj-ea"/>
              </a:rPr>
              <a:t> </a:t>
            </a:r>
            <a:r>
              <a:rPr sz="1000" b="0" i="0" dirty="0" err="1">
                <a:solidFill>
                  <a:srgbClr val="222222"/>
                </a:solidFill>
                <a:latin typeface="+mj-ea"/>
                <a:ea typeface="+mj-ea"/>
              </a:rPr>
              <a:t>먼저</a:t>
            </a:r>
            <a:r>
              <a:rPr sz="1000" b="0" i="0" dirty="0">
                <a:solidFill>
                  <a:srgbClr val="222222"/>
                </a:solidFill>
                <a:latin typeface="+mj-ea"/>
                <a:ea typeface="+mj-ea"/>
              </a:rPr>
              <a:t> OEM </a:t>
            </a:r>
            <a:r>
              <a:rPr sz="1000" b="0" i="0" dirty="0" err="1">
                <a:solidFill>
                  <a:srgbClr val="222222"/>
                </a:solidFill>
                <a:latin typeface="+mj-ea"/>
                <a:ea typeface="+mj-ea"/>
              </a:rPr>
              <a:t>검증</a:t>
            </a:r>
            <a:r>
              <a:rPr sz="1000" b="0" i="0" dirty="0">
                <a:solidFill>
                  <a:srgbClr val="222222"/>
                </a:solidFill>
                <a:latin typeface="+mj-ea"/>
                <a:ea typeface="+mj-ea"/>
              </a:rPr>
              <a:t> </a:t>
            </a:r>
            <a:r>
              <a:rPr sz="1000" b="0" i="0" dirty="0" err="1">
                <a:solidFill>
                  <a:srgbClr val="222222"/>
                </a:solidFill>
                <a:latin typeface="+mj-ea"/>
                <a:ea typeface="+mj-ea"/>
              </a:rPr>
              <a:t>사이클에</a:t>
            </a:r>
            <a:r>
              <a:rPr sz="1000" b="0" i="0" dirty="0">
                <a:solidFill>
                  <a:srgbClr val="222222"/>
                </a:solidFill>
                <a:latin typeface="+mj-ea"/>
                <a:ea typeface="+mj-ea"/>
              </a:rPr>
              <a:t> </a:t>
            </a:r>
            <a:r>
              <a:rPr sz="1000" b="0" i="0" dirty="0" err="1">
                <a:solidFill>
                  <a:srgbClr val="222222"/>
                </a:solidFill>
                <a:latin typeface="+mj-ea"/>
                <a:ea typeface="+mj-ea"/>
              </a:rPr>
              <a:t>진입해</a:t>
            </a:r>
            <a:r>
              <a:rPr sz="1000" b="0" i="0" dirty="0">
                <a:solidFill>
                  <a:srgbClr val="222222"/>
                </a:solidFill>
                <a:latin typeface="+mj-ea"/>
                <a:ea typeface="+mj-ea"/>
              </a:rPr>
              <a:t> </a:t>
            </a:r>
            <a:r>
              <a:rPr sz="1000" b="0" i="0" dirty="0" err="1">
                <a:solidFill>
                  <a:srgbClr val="222222"/>
                </a:solidFill>
                <a:latin typeface="+mj-ea"/>
                <a:ea typeface="+mj-ea"/>
              </a:rPr>
              <a:t>수주</a:t>
            </a:r>
            <a:r>
              <a:rPr sz="1000" b="0" i="0" dirty="0">
                <a:solidFill>
                  <a:srgbClr val="222222"/>
                </a:solidFill>
                <a:latin typeface="+mj-ea"/>
                <a:ea typeface="+mj-ea"/>
              </a:rPr>
              <a:t> </a:t>
            </a:r>
            <a:r>
              <a:rPr sz="1000" b="0" i="0" dirty="0" err="1">
                <a:solidFill>
                  <a:srgbClr val="222222"/>
                </a:solidFill>
                <a:latin typeface="+mj-ea"/>
                <a:ea typeface="+mj-ea"/>
              </a:rPr>
              <a:t>시점</a:t>
            </a:r>
            <a:r>
              <a:rPr sz="1000" b="0" i="0" dirty="0">
                <a:solidFill>
                  <a:srgbClr val="222222"/>
                </a:solidFill>
                <a:latin typeface="+mj-ea"/>
                <a:ea typeface="+mj-ea"/>
              </a:rPr>
              <a:t> </a:t>
            </a:r>
            <a:r>
              <a:rPr sz="1000" b="0" i="0" dirty="0" err="1">
                <a:solidFill>
                  <a:srgbClr val="222222"/>
                </a:solidFill>
                <a:latin typeface="+mj-ea"/>
                <a:ea typeface="+mj-ea"/>
              </a:rPr>
              <a:t>우위를</a:t>
            </a:r>
            <a:r>
              <a:rPr sz="1000" b="0" i="0" dirty="0">
                <a:solidFill>
                  <a:srgbClr val="222222"/>
                </a:solidFill>
                <a:latin typeface="+mj-ea"/>
                <a:ea typeface="+mj-ea"/>
              </a:rPr>
              <a:t> </a:t>
            </a:r>
            <a:r>
              <a:rPr sz="1000" b="0" i="0" dirty="0" err="1">
                <a:solidFill>
                  <a:srgbClr val="222222"/>
                </a:solidFill>
                <a:latin typeface="+mj-ea"/>
                <a:ea typeface="+mj-ea"/>
              </a:rPr>
              <a:t>확보했다</a:t>
            </a:r>
            <a:r>
              <a:rPr sz="1000" b="0" i="0" dirty="0">
                <a:solidFill>
                  <a:srgbClr val="222222"/>
                </a:solidFill>
                <a:latin typeface="+mj-ea"/>
                <a:ea typeface="+mj-ea"/>
              </a:rPr>
              <a:t>.</a:t>
            </a:r>
          </a:p>
          <a:p>
            <a:pPr algn="just">
              <a:lnSpc>
                <a:spcPct val="132000"/>
              </a:lnSpc>
              <a:spcBef>
                <a:spcPts val="0"/>
              </a:spcBef>
              <a:spcAft>
                <a:spcPts val="900"/>
              </a:spcAft>
            </a:pPr>
            <a:r>
              <a:rPr sz="1000">
                <a:solidFill>
                  <a:srgbClr val="222222"/>
                </a:solidFill>
                <a:latin typeface="맑은 고딕"/>
              </a:rPr>
              <a:t>수주 가시성은 JV 구조로 뒷받침된다. 삼성SDI는 GM 합작법인(SDI-GM Synergy Cells)과 Stellantis 합작법인(StarPlus Energy, 인디애나 Kokomo)을 통해 북미 생산 거점을 확보하고 콜옵션까지 보유해, GM 북미 프로젝트가 추정이 아닌 공식 계약사항이다(삼성SDI 2025 사업보고서). 원통형 CAPA는 2026년 38GWh → 2027년 48GWh로 확대되며 이 증설분이 46파이 전환의 물리적 토대가 된다</a:t>
            </a:r>
            <a:r>
              <a:rPr sz="900">
                <a:solidFill>
                  <a:srgbClr val="6B7785"/>
                </a:solidFill>
                <a:latin typeface="맑은 고딕"/>
              </a:rPr>
              <a:t> [자료25]</a:t>
            </a:r>
            <a:r>
              <a:rPr sz="1000">
                <a:solidFill>
                  <a:srgbClr val="222222"/>
                </a:solidFill>
                <a:latin typeface="맑은 고딕"/>
              </a:rPr>
              <a:t>. 46파이는 고용량·고출력 구조로 원통형 대비 ASP 프리미엄을 보유해, 2025년 마더라인 양산 → 2026년 매출 본격화 → 2027년 이익 퀀텀점프 경로에서 이익 레버리지의 핵심 동력이 된다.</a:t>
            </a:r>
          </a:p>
        </p:txBody>
      </p:sp>
      <p:grpSp>
        <p:nvGrpSpPr>
          <p:cNvPr id="11" name="그룹 10">
            <a:extLst>
              <a:ext uri="{FF2B5EF4-FFF2-40B4-BE49-F238E27FC236}">
                <a16:creationId xmlns:a16="http://schemas.microsoft.com/office/drawing/2014/main" id="{1977D920-8F58-5F5C-BF45-4E775E5B4BFE}"/>
              </a:ext>
            </a:extLst>
          </p:cNvPr>
          <p:cNvGrpSpPr/>
          <p:nvPr/>
        </p:nvGrpSpPr>
        <p:grpSpPr>
          <a:xfrm>
            <a:off x="530464" y="5249224"/>
            <a:ext cx="5943600" cy="1683691"/>
            <a:chOff x="438912" y="1417320"/>
            <a:chExt cx="5980176" cy="1995441"/>
          </a:xfrm>
        </p:grpSpPr>
        <p:sp>
          <p:nvSpPr>
            <p:cNvPr id="12" name="Rectangle 5">
              <a:extLst>
                <a:ext uri="{FF2B5EF4-FFF2-40B4-BE49-F238E27FC236}">
                  <a16:creationId xmlns:a16="http://schemas.microsoft.com/office/drawing/2014/main" id="{71E7B2E2-3142-B5A0-793A-DD8648977B00}"/>
                </a:ext>
              </a:extLst>
            </p:cNvPr>
            <p:cNvSpPr/>
            <p:nvPr/>
          </p:nvSpPr>
          <p:spPr>
            <a:xfrm>
              <a:off x="457200" y="1417320"/>
              <a:ext cx="5943600" cy="274320"/>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3B3134FB-12DA-9C79-F916-6A82ABBCB465}"/>
                </a:ext>
              </a:extLst>
            </p:cNvPr>
            <p:cNvSpPr txBox="1"/>
            <p:nvPr/>
          </p:nvSpPr>
          <p:spPr>
            <a:xfrm>
              <a:off x="530352" y="1484521"/>
              <a:ext cx="5797296" cy="141514"/>
            </a:xfrm>
            <a:prstGeom prst="rect">
              <a:avLst/>
            </a:prstGeom>
            <a:noFill/>
          </p:spPr>
          <p:txBody>
            <a:bodyPr wrap="square" lIns="0" tIns="0" rIns="0" bIns="0" anchor="ctr">
              <a:spAutoFit/>
            </a:bodyPr>
            <a:lstStyle/>
            <a:p>
              <a:pPr>
                <a:lnSpc>
                  <a:spcPct val="112000"/>
                </a:lnSpc>
                <a:spcBef>
                  <a:spcPts val="0"/>
                </a:spcBef>
                <a:spcAft>
                  <a:spcPts val="0"/>
                </a:spcAft>
              </a:pPr>
              <a:r>
                <a:rPr sz="900" b="1" i="0" dirty="0">
                  <a:solidFill>
                    <a:sysClr val="windowText" lastClr="000000"/>
                  </a:solidFill>
                  <a:latin typeface="Malgun Gothic"/>
                </a:rPr>
                <a:t>자료25. 46파이 </a:t>
              </a:r>
              <a:r>
                <a:rPr sz="900" b="1" i="0" dirty="0" err="1">
                  <a:solidFill>
                    <a:sysClr val="windowText" lastClr="000000"/>
                  </a:solidFill>
                  <a:latin typeface="Malgun Gothic"/>
                </a:rPr>
                <a:t>개발단계</a:t>
              </a:r>
              <a:r>
                <a:rPr sz="900" b="1" i="0" dirty="0">
                  <a:solidFill>
                    <a:sysClr val="windowText" lastClr="000000"/>
                  </a:solidFill>
                  <a:latin typeface="Malgun Gothic"/>
                </a:rPr>
                <a:t> · </a:t>
              </a:r>
              <a:r>
                <a:rPr sz="900" b="1" i="0" dirty="0" err="1">
                  <a:solidFill>
                    <a:sysClr val="windowText" lastClr="000000"/>
                  </a:solidFill>
                  <a:latin typeface="Malgun Gothic"/>
                </a:rPr>
                <a:t>원통형</a:t>
              </a:r>
              <a:r>
                <a:rPr sz="900" b="1" i="0" dirty="0">
                  <a:solidFill>
                    <a:sysClr val="windowText" lastClr="000000"/>
                  </a:solidFill>
                  <a:latin typeface="Malgun Gothic"/>
                </a:rPr>
                <a:t> CAPA</a:t>
              </a:r>
            </a:p>
          </p:txBody>
        </p:sp>
        <p:sp>
          <p:nvSpPr>
            <p:cNvPr id="14" name="Rectangle 7">
              <a:extLst>
                <a:ext uri="{FF2B5EF4-FFF2-40B4-BE49-F238E27FC236}">
                  <a16:creationId xmlns:a16="http://schemas.microsoft.com/office/drawing/2014/main" id="{C8CEDDB7-2922-CA4C-7254-B258E4B6CD36}"/>
                </a:ext>
              </a:extLst>
            </p:cNvPr>
            <p:cNvSpPr/>
            <p:nvPr/>
          </p:nvSpPr>
          <p:spPr>
            <a:xfrm>
              <a:off x="438912" y="1709928"/>
              <a:ext cx="5980176" cy="1437657"/>
            </a:xfrm>
            <a:prstGeom prst="rect">
              <a:avLst/>
            </a:prstGeom>
            <a:solidFill>
              <a:srgbClr val="FFFFFF"/>
            </a:solidFill>
            <a:ln w="12700">
              <a:solidFill>
                <a:srgbClr val="AAB3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F1ED414A-C291-183A-771F-A8797BB15E15}"/>
                </a:ext>
              </a:extLst>
            </p:cNvPr>
            <p:cNvSpPr txBox="1"/>
            <p:nvPr/>
          </p:nvSpPr>
          <p:spPr>
            <a:xfrm>
              <a:off x="457200" y="3175017"/>
              <a:ext cx="5943600" cy="237744"/>
            </a:xfrm>
            <a:prstGeom prst="rect">
              <a:avLst/>
            </a:prstGeom>
            <a:noFill/>
          </p:spPr>
          <p:txBody>
            <a:bodyPr wrap="square" lIns="0" tIns="0" rIns="0" bIns="0" anchor="t">
              <a:spAutoFit/>
            </a:bodyPr>
            <a:lstStyle/>
            <a:p>
              <a:pPr>
                <a:lnSpc>
                  <a:spcPct val="112000"/>
                </a:lnSpc>
                <a:spcBef>
                  <a:spcPts val="0"/>
                </a:spcBef>
                <a:spcAft>
                  <a:spcPts val="0"/>
                </a:spcAft>
              </a:pPr>
              <a:r>
                <a:rPr sz="750" b="0" i="1" dirty="0" err="1">
                  <a:solidFill>
                    <a:srgbClr val="6B7785"/>
                  </a:solidFill>
                  <a:latin typeface="Malgun Gothic"/>
                </a:rPr>
                <a:t>출처: 삼성SDI 2025 사업보고서(연구개발실적), NH투자증권 p.34, ICOK</a:t>
              </a:r>
            </a:p>
          </p:txBody>
        </p:sp>
      </p:grpSp>
      <p:pic>
        <p:nvPicPr>
          <p:cNvPr id="22" name="그림 21">
            <a:extLst>
              <a:ext uri="{FF2B5EF4-FFF2-40B4-BE49-F238E27FC236}">
                <a16:creationId xmlns:a16="http://schemas.microsoft.com/office/drawing/2014/main" id="{CB47F5D5-4E1D-DE2B-E6FA-EA4C5F974E1E}"/>
              </a:ext>
            </a:extLst>
          </p:cNvPr>
          <p:cNvPicPr>
            <a:picLocks noChangeAspect="1"/>
          </p:cNvPicPr>
          <p:nvPr/>
        </p:nvPicPr>
        <p:blipFill>
          <a:blip r:embed="rId2"/>
          <a:srcRect t="15139" b="16038"/>
          <a:stretch>
            <a:fillRect/>
          </a:stretch>
        </p:blipFill>
        <p:spPr>
          <a:xfrm>
            <a:off x="548640" y="7269050"/>
            <a:ext cx="5310622" cy="2055865"/>
          </a:xfrm>
          <a:prstGeom prst="rect">
            <a:avLst/>
          </a:prstGeom>
        </p:spPr>
      </p:pic>
      <p:sp>
        <p:nvSpPr>
          <p:cNvPr id="26" name="TextBox 25">
            <a:extLst>
              <a:ext uri="{FF2B5EF4-FFF2-40B4-BE49-F238E27FC236}">
                <a16:creationId xmlns:a16="http://schemas.microsoft.com/office/drawing/2014/main" id="{8C85ABF5-E027-1C63-7C29-297300644ED1}"/>
              </a:ext>
            </a:extLst>
          </p:cNvPr>
          <p:cNvSpPr txBox="1"/>
          <p:nvPr/>
        </p:nvSpPr>
        <p:spPr>
          <a:xfrm>
            <a:off x="514905" y="9487344"/>
            <a:ext cx="3542190" cy="218137"/>
          </a:xfrm>
          <a:prstGeom prst="rect">
            <a:avLst/>
          </a:prstGeom>
          <a:noFill/>
        </p:spPr>
        <p:txBody>
          <a:bodyPr wrap="square">
            <a:spAutoFit/>
          </a:bodyPr>
          <a:lstStyle/>
          <a:p>
            <a:pPr>
              <a:lnSpc>
                <a:spcPct val="112000"/>
              </a:lnSpc>
              <a:spcBef>
                <a:spcPts val="0"/>
              </a:spcBef>
              <a:spcAft>
                <a:spcPts val="0"/>
              </a:spcAft>
            </a:pPr>
            <a:r>
              <a:rPr lang="ko-KR" altLang="en-US" sz="800" i="1" dirty="0">
                <a:solidFill>
                  <a:srgbClr val="6B7785"/>
                </a:solidFill>
                <a:latin typeface="Malgun Gothic"/>
              </a:rPr>
              <a:t>출처: SNE리서치, 삼성SDI IR, ICOK 재구성</a:t>
            </a:r>
            <a:endParaRPr lang="en-US" altLang="ko-KR" sz="800" b="0" i="1" dirty="0">
              <a:solidFill>
                <a:srgbClr val="6B7785"/>
              </a:solidFill>
              <a:latin typeface="Malgun Gothic"/>
            </a:endParaRPr>
          </a:p>
        </p:txBody>
      </p:sp>
      <p:sp>
        <p:nvSpPr>
          <p:cNvPr id="9" name="Rectangle 5">
            <a:extLst>
              <a:ext uri="{FF2B5EF4-FFF2-40B4-BE49-F238E27FC236}">
                <a16:creationId xmlns:a16="http://schemas.microsoft.com/office/drawing/2014/main" id="{C446FAC6-DF70-F958-74DE-D3CEB37DE7CA}"/>
              </a:ext>
            </a:extLst>
          </p:cNvPr>
          <p:cNvSpPr/>
          <p:nvPr/>
        </p:nvSpPr>
        <p:spPr>
          <a:xfrm>
            <a:off x="548640" y="7049566"/>
            <a:ext cx="5907248" cy="231463"/>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42C59D34-CD09-748D-E927-C930F68D6917}"/>
              </a:ext>
            </a:extLst>
          </p:cNvPr>
          <p:cNvSpPr txBox="1"/>
          <p:nvPr/>
        </p:nvSpPr>
        <p:spPr>
          <a:xfrm>
            <a:off x="588161" y="7113829"/>
            <a:ext cx="5761839" cy="141514"/>
          </a:xfrm>
          <a:prstGeom prst="rect">
            <a:avLst/>
          </a:prstGeom>
          <a:noFill/>
        </p:spPr>
        <p:txBody>
          <a:bodyPr wrap="square" lIns="0" tIns="0" rIns="0" bIns="0" anchor="ctr">
            <a:spAutoFit/>
          </a:bodyPr>
          <a:lstStyle/>
          <a:p>
            <a:pPr>
              <a:lnSpc>
                <a:spcPct val="112000"/>
              </a:lnSpc>
              <a:spcBef>
                <a:spcPts val="0"/>
              </a:spcBef>
              <a:spcAft>
                <a:spcPts val="0"/>
              </a:spcAft>
            </a:pPr>
            <a:r>
              <a:rPr sz="900" b="1" i="0" dirty="0">
                <a:solidFill>
                  <a:sysClr val="windowText" lastClr="000000"/>
                </a:solidFill>
                <a:latin typeface="Malgun Gothic"/>
              </a:rPr>
              <a:t>자료</a:t>
            </a:r>
            <a:r>
              <a:rPr lang="en-US" sz="900" b="1" i="0" dirty="0">
                <a:solidFill>
                  <a:sysClr val="windowText" lastClr="000000"/>
                </a:solidFill>
                <a:latin typeface="Malgun Gothic"/>
              </a:rPr>
              <a:t>26</a:t>
            </a:r>
            <a:r>
              <a:rPr sz="900" b="1" i="0" dirty="0">
                <a:solidFill>
                  <a:sysClr val="windowText" lastClr="000000"/>
                </a:solidFill>
                <a:latin typeface="Malgun Gothic"/>
              </a:rPr>
              <a:t>. 46파이 </a:t>
            </a:r>
            <a:r>
              <a:rPr lang="ko-KR" altLang="en-US" sz="900" b="1" dirty="0">
                <a:solidFill>
                  <a:sysClr val="windowText" lastClr="000000"/>
                </a:solidFill>
                <a:latin typeface="Malgun Gothic"/>
              </a:rPr>
              <a:t>시장 성장 </a:t>
            </a:r>
            <a:r>
              <a:rPr lang="en-US" altLang="ko-KR" sz="900" b="1" dirty="0">
                <a:solidFill>
                  <a:sysClr val="windowText" lastClr="000000"/>
                </a:solidFill>
                <a:latin typeface="Malgun Gothic"/>
                <a:sym typeface="Wingdings" panose="05000000000000000000" pitchFamily="2" charset="2"/>
              </a:rPr>
              <a:t> </a:t>
            </a:r>
            <a:r>
              <a:rPr lang="ko-KR" altLang="en-US" sz="900" b="1" dirty="0">
                <a:solidFill>
                  <a:sysClr val="windowText" lastClr="000000"/>
                </a:solidFill>
                <a:latin typeface="Malgun Gothic"/>
                <a:sym typeface="Wingdings" panose="05000000000000000000" pitchFamily="2" charset="2"/>
              </a:rPr>
              <a:t>삼성</a:t>
            </a:r>
            <a:r>
              <a:rPr lang="en-US" altLang="ko-KR" sz="900" b="1" dirty="0">
                <a:solidFill>
                  <a:sysClr val="windowText" lastClr="000000"/>
                </a:solidFill>
                <a:latin typeface="Malgun Gothic"/>
                <a:sym typeface="Wingdings" panose="05000000000000000000" pitchFamily="2" charset="2"/>
              </a:rPr>
              <a:t>SDI </a:t>
            </a:r>
            <a:r>
              <a:rPr lang="ko-KR" altLang="en-US" sz="900" b="1" dirty="0">
                <a:solidFill>
                  <a:sysClr val="windowText" lastClr="000000"/>
                </a:solidFill>
                <a:latin typeface="Malgun Gothic"/>
                <a:sym typeface="Wingdings" panose="05000000000000000000" pitchFamily="2" charset="2"/>
              </a:rPr>
              <a:t>원통형 포트폴리오 확대</a:t>
            </a:r>
            <a:endParaRPr sz="900" b="1" i="0" dirty="0">
              <a:solidFill>
                <a:sysClr val="windowText" lastClr="000000"/>
              </a:solidFill>
              <a:latin typeface="Malgun Gothic"/>
            </a:endParaRPr>
          </a:p>
        </p:txBody>
      </p:sp>
      <p:sp>
        <p:nvSpPr>
          <p:cNvPr id="27" name="TextBox 26"/>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18</a:t>
            </a:r>
          </a:p>
        </p:txBody>
      </p:sp>
      <p:graphicFrame>
        <p:nvGraphicFramePr>
          <p:cNvPr id="10" name="Table 27">
            <a:extLst>
              <a:ext uri="{FF2B5EF4-FFF2-40B4-BE49-F238E27FC236}">
                <a16:creationId xmlns:a16="http://schemas.microsoft.com/office/drawing/2014/main" id="{B703A574-1693-2532-09B2-7984653ABA74}"/>
              </a:ext>
            </a:extLst>
          </p:cNvPr>
          <p:cNvGraphicFramePr>
            <a:graphicFrameLocks noGrp="1"/>
          </p:cNvGraphicFramePr>
          <p:nvPr>
            <p:extLst>
              <p:ext uri="{D42A27DB-BD31-4B8C-83A1-F6EECF244321}">
                <p14:modId xmlns:p14="http://schemas.microsoft.com/office/powerpoint/2010/main" val="3013932331"/>
              </p:ext>
            </p:extLst>
          </p:nvPr>
        </p:nvGraphicFramePr>
        <p:xfrm>
          <a:off x="531862" y="5487139"/>
          <a:ext cx="5943599" cy="1243584"/>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gridCol w="1024128">
                  <a:extLst>
                    <a:ext uri="{9D8B030D-6E8A-4147-A177-3AD203B41FA5}">
                      <a16:colId xmlns:a16="http://schemas.microsoft.com/office/drawing/2014/main" val="20003"/>
                    </a:ext>
                  </a:extLst>
                </a:gridCol>
                <a:gridCol w="1042415">
                  <a:extLst>
                    <a:ext uri="{9D8B030D-6E8A-4147-A177-3AD203B41FA5}">
                      <a16:colId xmlns:a16="http://schemas.microsoft.com/office/drawing/2014/main" val="20004"/>
                    </a:ext>
                  </a:extLst>
                </a:gridCol>
              </a:tblGrid>
              <a:tr h="310896">
                <a:tc>
                  <a:txBody>
                    <a:bodyPr/>
                    <a:lstStyle/>
                    <a:p>
                      <a:pPr algn="ctr"/>
                      <a:r>
                        <a:rPr sz="850" b="1" dirty="0" err="1">
                          <a:solidFill>
                            <a:schemeClr val="tx1"/>
                          </a:solidFill>
                          <a:latin typeface="맑은 고딕"/>
                        </a:rPr>
                        <a:t>구분</a:t>
                      </a:r>
                      <a:endParaRPr sz="850" b="1" dirty="0">
                        <a:solidFill>
                          <a:schemeClr val="tx1"/>
                        </a:solidFill>
                        <a:latin typeface="맑은 고딕"/>
                      </a:endParaRPr>
                    </a:p>
                  </a:txBody>
                  <a:tcPr marL="54864" marR="36576" marT="9144" marB="9144" anchor="ctr">
                    <a:solidFill>
                      <a:schemeClr val="accent1">
                        <a:lumMod val="40000"/>
                        <a:lumOff val="60000"/>
                      </a:schemeClr>
                    </a:solidFill>
                  </a:tcPr>
                </a:tc>
                <a:tc>
                  <a:txBody>
                    <a:bodyPr/>
                    <a:lstStyle/>
                    <a:p>
                      <a:pPr algn="ctr"/>
                      <a:r>
                        <a:rPr sz="850" b="1" dirty="0">
                          <a:solidFill>
                            <a:schemeClr val="tx1"/>
                          </a:solidFill>
                          <a:latin typeface="맑은 고딕"/>
                        </a:rPr>
                        <a:t>2024</a:t>
                      </a:r>
                    </a:p>
                  </a:txBody>
                  <a:tcPr marL="54864" marR="36576" marT="9144" marB="9144" anchor="ctr">
                    <a:solidFill>
                      <a:schemeClr val="accent1">
                        <a:lumMod val="40000"/>
                        <a:lumOff val="60000"/>
                      </a:schemeClr>
                    </a:solidFill>
                  </a:tcPr>
                </a:tc>
                <a:tc>
                  <a:txBody>
                    <a:bodyPr/>
                    <a:lstStyle/>
                    <a:p>
                      <a:pPr algn="ctr"/>
                      <a:r>
                        <a:rPr sz="850" b="1" dirty="0">
                          <a:solidFill>
                            <a:schemeClr val="tx1"/>
                          </a:solidFill>
                          <a:latin typeface="맑은 고딕"/>
                        </a:rPr>
                        <a:t>2025</a:t>
                      </a:r>
                    </a:p>
                  </a:txBody>
                  <a:tcPr marL="54864" marR="36576" marT="9144" marB="9144" anchor="ctr">
                    <a:solidFill>
                      <a:schemeClr val="accent1">
                        <a:lumMod val="40000"/>
                        <a:lumOff val="60000"/>
                      </a:schemeClr>
                    </a:solidFill>
                  </a:tcPr>
                </a:tc>
                <a:tc>
                  <a:txBody>
                    <a:bodyPr/>
                    <a:lstStyle/>
                    <a:p>
                      <a:pPr algn="ctr"/>
                      <a:r>
                        <a:rPr sz="850" b="1" dirty="0">
                          <a:solidFill>
                            <a:schemeClr val="tx1"/>
                          </a:solidFill>
                          <a:latin typeface="맑은 고딕"/>
                        </a:rPr>
                        <a:t>2026</a:t>
                      </a:r>
                    </a:p>
                  </a:txBody>
                  <a:tcPr marL="54864" marR="36576" marT="9144" marB="9144" anchor="ctr">
                    <a:solidFill>
                      <a:schemeClr val="accent1">
                        <a:lumMod val="40000"/>
                        <a:lumOff val="60000"/>
                      </a:schemeClr>
                    </a:solidFill>
                  </a:tcPr>
                </a:tc>
                <a:tc>
                  <a:txBody>
                    <a:bodyPr/>
                    <a:lstStyle/>
                    <a:p>
                      <a:pPr algn="ctr"/>
                      <a:r>
                        <a:rPr sz="850" b="1" dirty="0">
                          <a:solidFill>
                            <a:schemeClr val="tx1"/>
                          </a:solidFill>
                          <a:latin typeface="맑은 고딕"/>
                        </a:rPr>
                        <a:t>2027</a:t>
                      </a:r>
                    </a:p>
                  </a:txBody>
                  <a:tcPr marL="54864" marR="36576" marT="9144" marB="9144" anchor="ctr">
                    <a:solidFill>
                      <a:schemeClr val="accent1">
                        <a:lumMod val="40000"/>
                        <a:lumOff val="60000"/>
                      </a:schemeClr>
                    </a:solidFill>
                  </a:tcPr>
                </a:tc>
                <a:extLst>
                  <a:ext uri="{0D108BD9-81ED-4DB2-BD59-A6C34878D82A}">
                    <a16:rowId xmlns:a16="http://schemas.microsoft.com/office/drawing/2014/main" val="10000"/>
                  </a:ext>
                </a:extLst>
              </a:tr>
              <a:tr h="310896">
                <a:tc>
                  <a:txBody>
                    <a:bodyPr/>
                    <a:lstStyle/>
                    <a:p>
                      <a:pPr algn="l"/>
                      <a:r>
                        <a:rPr sz="850" b="0" dirty="0" err="1">
                          <a:solidFill>
                            <a:srgbClr val="222222"/>
                          </a:solidFill>
                          <a:latin typeface="맑은 고딕"/>
                        </a:rPr>
                        <a:t>원통형</a:t>
                      </a:r>
                      <a:r>
                        <a:rPr sz="850" b="0" dirty="0">
                          <a:solidFill>
                            <a:srgbClr val="222222"/>
                          </a:solidFill>
                          <a:latin typeface="맑은 고딕"/>
                        </a:rPr>
                        <a:t> CAPA (GWh)</a:t>
                      </a:r>
                    </a:p>
                  </a:txBody>
                  <a:tcPr marL="54864" marR="36576" marT="9144" marB="9144" anchor="ctr">
                    <a:solidFill>
                      <a:srgbClr val="FFFFFF"/>
                    </a:solidFill>
                  </a:tcPr>
                </a:tc>
                <a:tc>
                  <a:txBody>
                    <a:bodyPr/>
                    <a:lstStyle/>
                    <a:p>
                      <a:pPr algn="ctr"/>
                      <a:r>
                        <a:rPr sz="850" b="0">
                          <a:solidFill>
                            <a:srgbClr val="222222"/>
                          </a:solidFill>
                          <a:latin typeface="맑은 고딕"/>
                        </a:rPr>
                        <a:t>38.0</a:t>
                      </a:r>
                    </a:p>
                  </a:txBody>
                  <a:tcPr marL="54864" marR="36576" marT="9144" marB="9144" anchor="ctr">
                    <a:solidFill>
                      <a:srgbClr val="FFFFFF"/>
                    </a:solidFill>
                  </a:tcPr>
                </a:tc>
                <a:tc>
                  <a:txBody>
                    <a:bodyPr/>
                    <a:lstStyle/>
                    <a:p>
                      <a:pPr algn="ctr"/>
                      <a:r>
                        <a:rPr sz="850" b="0">
                          <a:solidFill>
                            <a:srgbClr val="222222"/>
                          </a:solidFill>
                          <a:latin typeface="맑은 고딕"/>
                        </a:rPr>
                        <a:t>38.0</a:t>
                      </a:r>
                    </a:p>
                  </a:txBody>
                  <a:tcPr marL="54864" marR="36576" marT="9144" marB="9144" anchor="ctr">
                    <a:solidFill>
                      <a:srgbClr val="FFFFFF"/>
                    </a:solidFill>
                  </a:tcPr>
                </a:tc>
                <a:tc>
                  <a:txBody>
                    <a:bodyPr/>
                    <a:lstStyle/>
                    <a:p>
                      <a:pPr algn="ctr"/>
                      <a:r>
                        <a:rPr sz="850" b="0">
                          <a:solidFill>
                            <a:srgbClr val="222222"/>
                          </a:solidFill>
                          <a:latin typeface="맑은 고딕"/>
                        </a:rPr>
                        <a:t>38.0</a:t>
                      </a:r>
                    </a:p>
                  </a:txBody>
                  <a:tcPr marL="54864" marR="36576" marT="9144" marB="9144" anchor="ctr">
                    <a:solidFill>
                      <a:srgbClr val="FFFFFF"/>
                    </a:solidFill>
                  </a:tcPr>
                </a:tc>
                <a:tc>
                  <a:txBody>
                    <a:bodyPr/>
                    <a:lstStyle/>
                    <a:p>
                      <a:pPr algn="ctr"/>
                      <a:r>
                        <a:rPr sz="850" b="0">
                          <a:solidFill>
                            <a:srgbClr val="222222"/>
                          </a:solidFill>
                          <a:latin typeface="맑은 고딕"/>
                        </a:rPr>
                        <a:t>48.0</a:t>
                      </a:r>
                    </a:p>
                  </a:txBody>
                  <a:tcPr marL="54864" marR="36576" marT="9144" marB="9144" anchor="ctr">
                    <a:solidFill>
                      <a:srgbClr val="FFFFFF"/>
                    </a:solidFill>
                  </a:tcPr>
                </a:tc>
                <a:extLst>
                  <a:ext uri="{0D108BD9-81ED-4DB2-BD59-A6C34878D82A}">
                    <a16:rowId xmlns:a16="http://schemas.microsoft.com/office/drawing/2014/main" val="10001"/>
                  </a:ext>
                </a:extLst>
              </a:tr>
              <a:tr h="310896">
                <a:tc>
                  <a:txBody>
                    <a:bodyPr/>
                    <a:lstStyle/>
                    <a:p>
                      <a:pPr algn="l"/>
                      <a:r>
                        <a:rPr sz="850" b="0">
                          <a:solidFill>
                            <a:srgbClr val="222222"/>
                          </a:solidFill>
                          <a:latin typeface="맑은 고딕"/>
                        </a:rPr>
                        <a:t>M-Mobility 46파이</a:t>
                      </a:r>
                    </a:p>
                  </a:txBody>
                  <a:tcPr marL="54864" marR="36576" marT="9144" marB="9144" anchor="ctr">
                    <a:solidFill>
                      <a:srgbClr val="EEF1F6"/>
                    </a:solidFill>
                  </a:tcPr>
                </a:tc>
                <a:tc>
                  <a:txBody>
                    <a:bodyPr/>
                    <a:lstStyle/>
                    <a:p>
                      <a:pPr algn="ctr"/>
                      <a:r>
                        <a:rPr sz="850" b="0" dirty="0" err="1">
                          <a:solidFill>
                            <a:srgbClr val="222222"/>
                          </a:solidFill>
                          <a:latin typeface="맑은 고딕"/>
                        </a:rPr>
                        <a:t>개발</a:t>
                      </a:r>
                      <a:endParaRPr sz="850" b="0" dirty="0">
                        <a:solidFill>
                          <a:srgbClr val="222222"/>
                        </a:solidFill>
                        <a:latin typeface="맑은 고딕"/>
                      </a:endParaRPr>
                    </a:p>
                  </a:txBody>
                  <a:tcPr marL="54864" marR="36576" marT="9144" marB="9144" anchor="ctr">
                    <a:solidFill>
                      <a:srgbClr val="EEF1F6"/>
                    </a:solidFill>
                  </a:tcPr>
                </a:tc>
                <a:tc>
                  <a:txBody>
                    <a:bodyPr/>
                    <a:lstStyle/>
                    <a:p>
                      <a:pPr algn="ctr"/>
                      <a:r>
                        <a:rPr sz="850" b="0">
                          <a:solidFill>
                            <a:srgbClr val="222222"/>
                          </a:solidFill>
                          <a:latin typeface="맑은 고딕"/>
                        </a:rPr>
                        <a:t>완료(양산)</a:t>
                      </a:r>
                    </a:p>
                  </a:txBody>
                  <a:tcPr marL="54864" marR="36576" marT="9144" marB="9144" anchor="ctr">
                    <a:solidFill>
                      <a:srgbClr val="EEF1F6"/>
                    </a:solidFill>
                  </a:tcPr>
                </a:tc>
                <a:tc>
                  <a:txBody>
                    <a:bodyPr/>
                    <a:lstStyle/>
                    <a:p>
                      <a:pPr algn="ctr"/>
                      <a:r>
                        <a:rPr sz="850" b="0">
                          <a:solidFill>
                            <a:srgbClr val="222222"/>
                          </a:solidFill>
                          <a:latin typeface="맑은 고딕"/>
                        </a:rPr>
                        <a:t>양산</a:t>
                      </a:r>
                    </a:p>
                  </a:txBody>
                  <a:tcPr marL="54864" marR="36576" marT="9144" marB="9144" anchor="ctr">
                    <a:solidFill>
                      <a:srgbClr val="EEF1F6"/>
                    </a:solidFill>
                  </a:tcPr>
                </a:tc>
                <a:tc>
                  <a:txBody>
                    <a:bodyPr/>
                    <a:lstStyle/>
                    <a:p>
                      <a:pPr algn="ctr"/>
                      <a:r>
                        <a:rPr sz="850" b="0">
                          <a:solidFill>
                            <a:srgbClr val="222222"/>
                          </a:solidFill>
                          <a:latin typeface="맑은 고딕"/>
                        </a:rPr>
                        <a:t>양산</a:t>
                      </a:r>
                    </a:p>
                  </a:txBody>
                  <a:tcPr marL="54864" marR="36576" marT="9144" marB="9144" anchor="ctr">
                    <a:solidFill>
                      <a:srgbClr val="EEF1F6"/>
                    </a:solidFill>
                  </a:tcPr>
                </a:tc>
                <a:extLst>
                  <a:ext uri="{0D108BD9-81ED-4DB2-BD59-A6C34878D82A}">
                    <a16:rowId xmlns:a16="http://schemas.microsoft.com/office/drawing/2014/main" val="10002"/>
                  </a:ext>
                </a:extLst>
              </a:tr>
              <a:tr h="310896">
                <a:tc>
                  <a:txBody>
                    <a:bodyPr/>
                    <a:lstStyle/>
                    <a:p>
                      <a:pPr algn="l"/>
                      <a:r>
                        <a:rPr sz="850" b="0">
                          <a:solidFill>
                            <a:srgbClr val="222222"/>
                          </a:solidFill>
                          <a:latin typeface="맑은 고딕"/>
                        </a:rPr>
                        <a:t>xEV(EV) 46파이</a:t>
                      </a:r>
                    </a:p>
                  </a:txBody>
                  <a:tcPr marL="54864" marR="36576" marT="9144" marB="9144" anchor="ctr">
                    <a:solidFill>
                      <a:srgbClr val="FFFFFF"/>
                    </a:solidFill>
                  </a:tcPr>
                </a:tc>
                <a:tc>
                  <a:txBody>
                    <a:bodyPr/>
                    <a:lstStyle/>
                    <a:p>
                      <a:pPr algn="ctr"/>
                      <a:r>
                        <a:rPr sz="850" b="0">
                          <a:solidFill>
                            <a:srgbClr val="222222"/>
                          </a:solidFill>
                          <a:latin typeface="맑은 고딕"/>
                        </a:rPr>
                        <a:t>–</a:t>
                      </a:r>
                    </a:p>
                  </a:txBody>
                  <a:tcPr marL="54864" marR="36576" marT="9144" marB="9144" anchor="ctr">
                    <a:solidFill>
                      <a:srgbClr val="FFFFFF"/>
                    </a:solidFill>
                  </a:tcPr>
                </a:tc>
                <a:tc>
                  <a:txBody>
                    <a:bodyPr/>
                    <a:lstStyle/>
                    <a:p>
                      <a:pPr algn="ctr"/>
                      <a:r>
                        <a:rPr sz="850" b="0">
                          <a:solidFill>
                            <a:srgbClr val="222222"/>
                          </a:solidFill>
                          <a:latin typeface="맑은 고딕"/>
                        </a:rPr>
                        <a:t>개발</a:t>
                      </a:r>
                    </a:p>
                  </a:txBody>
                  <a:tcPr marL="54864" marR="36576" marT="9144" marB="9144" anchor="ctr">
                    <a:solidFill>
                      <a:srgbClr val="FFFFFF"/>
                    </a:solidFill>
                  </a:tcPr>
                </a:tc>
                <a:tc>
                  <a:txBody>
                    <a:bodyPr/>
                    <a:lstStyle/>
                    <a:p>
                      <a:pPr algn="ctr"/>
                      <a:r>
                        <a:rPr sz="850" b="0">
                          <a:solidFill>
                            <a:srgbClr val="222222"/>
                          </a:solidFill>
                          <a:latin typeface="맑은 고딕"/>
                        </a:rPr>
                        <a:t>진행중</a:t>
                      </a:r>
                    </a:p>
                  </a:txBody>
                  <a:tcPr marL="54864" marR="36576" marT="9144" marB="9144" anchor="ctr">
                    <a:solidFill>
                      <a:srgbClr val="FFFFFF"/>
                    </a:solidFill>
                  </a:tcPr>
                </a:tc>
                <a:tc>
                  <a:txBody>
                    <a:bodyPr/>
                    <a:lstStyle/>
                    <a:p>
                      <a:pPr algn="ctr"/>
                      <a:r>
                        <a:rPr sz="850" b="0" dirty="0" err="1">
                          <a:solidFill>
                            <a:srgbClr val="222222"/>
                          </a:solidFill>
                          <a:latin typeface="맑은 고딕"/>
                        </a:rPr>
                        <a:t>양산</a:t>
                      </a:r>
                      <a:r>
                        <a:rPr sz="850" b="0" dirty="0">
                          <a:solidFill>
                            <a:srgbClr val="222222"/>
                          </a:solidFill>
                          <a:latin typeface="맑은 고딕"/>
                        </a:rPr>
                        <a:t>(SOP)</a:t>
                      </a:r>
                    </a:p>
                  </a:txBody>
                  <a:tcPr marL="54864" marR="36576" marT="9144" marB="9144"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158877"/>
          </a:xfrm>
          <a:prstGeom prst="rect">
            <a:avLst/>
          </a:prstGeom>
          <a:noFill/>
        </p:spPr>
        <p:txBody>
          <a:bodyPr wrap="square" lIns="0" tIns="0" rIns="0" bIns="0" anchor="t">
            <a:spAutoFit/>
          </a:bodyPr>
          <a:lstStyle/>
          <a:p>
            <a:pPr>
              <a:lnSpc>
                <a:spcPct val="112000"/>
              </a:lnSpc>
              <a:spcBef>
                <a:spcPts val="0"/>
              </a:spcBef>
              <a:spcAft>
                <a:spcPts val="500"/>
              </a:spcAft>
              <a:defRPr/>
            </a:pPr>
            <a:r>
              <a:rPr lang="en-US" altLang="ko-KR" sz="950" b="1" i="0">
                <a:solidFill>
                  <a:srgbClr val="003A75"/>
                </a:solidFill>
                <a:latin typeface="맑은 고딕"/>
              </a:rPr>
              <a:t>Valuation</a:t>
            </a:r>
          </a:p>
        </p:txBody>
      </p:sp>
      <p:sp>
        <p:nvSpPr>
          <p:cNvPr id="3" name="TextBox 2"/>
          <p:cNvSpPr txBox="1"/>
          <p:nvPr/>
        </p:nvSpPr>
        <p:spPr>
          <a:xfrm>
            <a:off x="2743200" y="384048"/>
            <a:ext cx="3657600" cy="201168"/>
          </a:xfrm>
          <a:prstGeom prst="rect">
            <a:avLst/>
          </a:prstGeom>
          <a:noFill/>
        </p:spPr>
        <p:txBody>
          <a:bodyPr wrap="square" lIns="0" tIns="0" rIns="0" bIns="0" anchor="t">
            <a:spAutoFit/>
          </a:bodyPr>
          <a:lstStyle/>
          <a:p>
            <a:pPr algn="r">
              <a:lnSpc>
                <a:spcPct val="112000"/>
              </a:lnSpc>
              <a:spcBef>
                <a:spcPts val="0"/>
              </a:spcBef>
              <a:spcAft>
                <a:spcPts val="500"/>
              </a:spcAft>
            </a:pPr>
            <a:r>
              <a:rPr sz="900" b="0" i="0">
                <a:solidFill>
                  <a:srgbClr val="6B7785"/>
                </a:solidFill>
                <a:latin typeface="Malgun Gothic"/>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11877" y="940268"/>
            <a:ext cx="4974241" cy="431332"/>
          </a:xfrm>
          <a:prstGeom prst="rect">
            <a:avLst/>
          </a:prstGeom>
          <a:noFill/>
        </p:spPr>
        <p:txBody>
          <a:bodyPr wrap="square" lIns="0" tIns="0" rIns="0" bIns="0" anchor="t">
            <a:spAutoFit/>
          </a:bodyPr>
          <a:lstStyle/>
          <a:p>
            <a:pPr>
              <a:lnSpc>
                <a:spcPct val="112000"/>
              </a:lnSpc>
              <a:spcBef>
                <a:spcPts val="0"/>
              </a:spcBef>
              <a:spcAft>
                <a:spcPts val="500"/>
              </a:spcAft>
              <a:defRPr/>
            </a:pPr>
            <a:endParaRPr lang="en-US" sz="1100" b="1" i="0">
              <a:latin typeface="맑은 고딕"/>
              <a:ea typeface="맑은 고딕"/>
            </a:endParaRPr>
          </a:p>
          <a:p>
            <a:pPr>
              <a:lnSpc>
                <a:spcPct val="112000"/>
              </a:lnSpc>
              <a:spcBef>
                <a:spcPts val="0"/>
              </a:spcBef>
              <a:spcAft>
                <a:spcPts val="500"/>
              </a:spcAft>
              <a:defRPr/>
            </a:pPr>
            <a:r>
              <a:rPr lang="en-US" altLang="ko-KR" sz="1100" b="1" i="0">
                <a:latin typeface="맑은 고딕"/>
                <a:ea typeface="맑은 고딕"/>
              </a:rPr>
              <a:t>4</a:t>
            </a:r>
            <a:r>
              <a:rPr sz="1100" b="1" i="0">
                <a:latin typeface="맑은 고딕"/>
                <a:ea typeface="맑은 고딕"/>
              </a:rPr>
              <a:t>.1  </a:t>
            </a:r>
            <a:r>
              <a:rPr lang="en-US" altLang="ko-KR" sz="1100" b="1" i="0">
                <a:latin typeface="맑은 고딕"/>
                <a:ea typeface="맑은 고딕"/>
              </a:rPr>
              <a:t>매출·이익 추정</a:t>
            </a:r>
          </a:p>
        </p:txBody>
      </p:sp>
      <p:sp>
        <p:nvSpPr>
          <p:cNvPr id="6" name="TextBox 5"/>
          <p:cNvSpPr txBox="1"/>
          <p:nvPr/>
        </p:nvSpPr>
        <p:spPr>
          <a:xfrm>
            <a:off x="992827" y="1479974"/>
            <a:ext cx="5943600" cy="167851"/>
          </a:xfrm>
          <a:prstGeom prst="rect">
            <a:avLst/>
          </a:prstGeom>
          <a:noFill/>
        </p:spPr>
        <p:txBody>
          <a:bodyPr wrap="square" lIns="0" tIns="0" rIns="0" bIns="0" anchor="t">
            <a:spAutoFit/>
          </a:bodyPr>
          <a:lstStyle/>
          <a:p>
            <a:pPr>
              <a:lnSpc>
                <a:spcPct val="112000"/>
              </a:lnSpc>
              <a:spcBef>
                <a:spcPts val="0"/>
              </a:spcBef>
              <a:spcAft>
                <a:spcPts val="500"/>
              </a:spcAft>
              <a:defRPr/>
            </a:pPr>
            <a:r>
              <a:rPr lang="ko-KR" altLang="en-US" sz="1000" b="1">
                <a:latin typeface="맑은 고딕"/>
                <a:ea typeface="맑은 고딕"/>
              </a:rPr>
              <a:t>사업 부문</a:t>
            </a:r>
          </a:p>
        </p:txBody>
      </p:sp>
      <p:sp>
        <p:nvSpPr>
          <p:cNvPr id="7" name="TextBox 6"/>
          <p:cNvSpPr txBox="1"/>
          <p:nvPr/>
        </p:nvSpPr>
        <p:spPr>
          <a:xfrm>
            <a:off x="996341" y="1777095"/>
            <a:ext cx="5468645" cy="5338079"/>
          </a:xfrm>
          <a:prstGeom prst="rect">
            <a:avLst/>
          </a:prstGeom>
          <a:noFill/>
        </p:spPr>
        <p:txBody>
          <a:bodyPr wrap="square" lIns="0" tIns="0" rIns="0" bIns="0" anchor="t">
            <a:spAutoFit/>
          </a:bodyPr>
          <a:lstStyle/>
          <a:p>
            <a:pPr algn="just">
              <a:lnSpc>
                <a:spcPct val="132000"/>
              </a:lnSpc>
              <a:spcBef>
                <a:spcPts val="0"/>
              </a:spcBef>
              <a:spcAft>
                <a:spcPts val="900"/>
              </a:spcAft>
              <a:defRPr/>
            </a:pPr>
            <a:r>
              <a:rPr lang="ko-KR" altLang="en-US" sz="1000" b="1" i="0">
                <a:solidFill>
                  <a:srgbClr val="222222"/>
                </a:solidFill>
                <a:latin typeface="맑은 고딕"/>
                <a:ea typeface="맑은 고딕"/>
              </a:rPr>
              <a:t>에너지솔루션</a:t>
            </a:r>
            <a:endParaRPr sz="900" b="0" i="0">
              <a:solidFill>
                <a:srgbClr val="222222"/>
              </a:solidFill>
              <a:latin typeface="맑은 고딕"/>
              <a:ea typeface="맑은 고딕"/>
            </a:endParaRPr>
          </a:p>
          <a:p>
            <a:pPr algn="just">
              <a:lnSpc>
                <a:spcPct val="132000"/>
              </a:lnSpc>
              <a:spcBef>
                <a:spcPts val="0"/>
              </a:spcBef>
              <a:spcAft>
                <a:spcPts val="900"/>
              </a:spcAft>
              <a:defRPr/>
            </a:pPr>
            <a:r>
              <a:rPr lang="ko-KR" altLang="en-US" sz="900" b="0" i="0">
                <a:solidFill>
                  <a:srgbClr val="222222"/>
                </a:solidFill>
                <a:latin typeface="맑은 고딕"/>
                <a:ea typeface="맑은 고딕"/>
              </a:rPr>
              <a:t>삼성</a:t>
            </a:r>
            <a:r>
              <a:rPr lang="en-US" altLang="ko-KR" sz="900" b="0" i="0">
                <a:solidFill>
                  <a:srgbClr val="222222"/>
                </a:solidFill>
                <a:latin typeface="맑은 고딕"/>
                <a:ea typeface="맑은 고딕"/>
              </a:rPr>
              <a:t>SDI </a:t>
            </a:r>
            <a:r>
              <a:rPr lang="ko-KR" altLang="en-US" sz="900" b="0" i="0">
                <a:solidFill>
                  <a:srgbClr val="222222"/>
                </a:solidFill>
                <a:latin typeface="맑은 고딕"/>
                <a:ea typeface="맑은 고딕"/>
              </a:rPr>
              <a:t>에너지솔루션 부문의 매출은 북미 ESS 증설라인의 단계적 가동과 EV 수요의 완만한 회복을 기준으로 산정하였다. 미국 ESS용 NCA 7GWh(2025년 10월), LFP 12GWh(2026년 4분기), 추가 12GWh(2027년 1분기) 증설 효과를 순차 반영하였으며, EV 부문은 급격한 반등보다 점진적 회복을 전제로 신규 라인 기여분에 보수적인 인식 가정을 적용하였다. 이에 따라 2026년 매출은 +17.0%인 15.52조 원, 2027년은 ESS 풀가동과 증설 본격화를 반영해 +22.0%인 18.94조 원으로 추정하였다. 영업이익률은 AMPC 반영 확대에 따라 2026년 1.5%, 2027년 8.0%를 적용하였다.</a:t>
            </a:r>
          </a:p>
          <a:p>
            <a:pPr algn="just">
              <a:lnSpc>
                <a:spcPct val="132000"/>
              </a:lnSpc>
              <a:spcBef>
                <a:spcPts val="0"/>
              </a:spcBef>
              <a:spcAft>
                <a:spcPts val="900"/>
              </a:spcAft>
              <a:defRPr/>
            </a:pPr>
            <a:r>
              <a:rPr lang="ko-KR" altLang="en-US" sz="1000" b="1" i="0">
                <a:solidFill>
                  <a:srgbClr val="222222"/>
                </a:solidFill>
                <a:latin typeface="맑은 고딕"/>
                <a:ea typeface="맑은 고딕"/>
              </a:rPr>
              <a:t>소형전지</a:t>
            </a:r>
          </a:p>
          <a:p>
            <a:pPr algn="just">
              <a:lnSpc>
                <a:spcPct val="132000"/>
              </a:lnSpc>
              <a:spcBef>
                <a:spcPts val="0"/>
              </a:spcBef>
              <a:spcAft>
                <a:spcPts val="900"/>
              </a:spcAft>
              <a:defRPr/>
            </a:pPr>
            <a:r>
              <a:rPr lang="ko-KR" altLang="en-US" sz="900" b="0" i="0">
                <a:solidFill>
                  <a:srgbClr val="222222"/>
                </a:solidFill>
                <a:latin typeface="맑은 고딕"/>
                <a:ea typeface="맑은 고딕"/>
              </a:rPr>
              <a:t>소형전지 부문의 매출은 기존 IT·전동공구용 수요 회복에 46파이 원통형 신규 플랫폼의 단계적 기여를 반영하여 산정하였다. 삼성</a:t>
            </a:r>
            <a:r>
              <a:rPr lang="en-US" altLang="ko-KR" sz="900" b="0" i="0">
                <a:solidFill>
                  <a:srgbClr val="222222"/>
                </a:solidFill>
                <a:latin typeface="맑은 고딕"/>
                <a:ea typeface="맑은 고딕"/>
              </a:rPr>
              <a:t>SDI</a:t>
            </a:r>
            <a:r>
              <a:rPr lang="ko-KR" altLang="en-US" sz="900" b="0" i="0">
                <a:solidFill>
                  <a:srgbClr val="222222"/>
                </a:solidFill>
                <a:latin typeface="맑은 고딕"/>
                <a:ea typeface="맑은 고딕"/>
              </a:rPr>
              <a:t>는 국내 최초 46파이 양산을 통해 미국 고객사에 공급하는 것으로 가정하였으며, 2026년까지는 기존 제품군 중심의 회복을, 2027년부터 46파이 매출 본격 인식 구조를 적용하였다. 초기 양산 단계의 수율 안정화 불확실성을 감안해 단기 추정에는 보수적인 가동률 가정을 적용하였다.</a:t>
            </a:r>
          </a:p>
          <a:p>
            <a:pPr algn="just">
              <a:lnSpc>
                <a:spcPct val="132000"/>
              </a:lnSpc>
              <a:spcBef>
                <a:spcPts val="0"/>
              </a:spcBef>
              <a:spcAft>
                <a:spcPts val="900"/>
              </a:spcAft>
              <a:defRPr/>
            </a:pPr>
            <a:r>
              <a:rPr lang="ko-KR" altLang="en-US" sz="1000" b="1" i="0">
                <a:solidFill>
                  <a:srgbClr val="222222"/>
                </a:solidFill>
                <a:latin typeface="맑은 고딕"/>
                <a:ea typeface="맑은 고딕"/>
              </a:rPr>
              <a:t>전자재료</a:t>
            </a:r>
          </a:p>
          <a:p>
            <a:pPr algn="just">
              <a:lnSpc>
                <a:spcPct val="132000"/>
              </a:lnSpc>
              <a:spcBef>
                <a:spcPts val="0"/>
              </a:spcBef>
              <a:spcAft>
                <a:spcPts val="900"/>
              </a:spcAft>
              <a:defRPr/>
            </a:pPr>
            <a:r>
              <a:rPr lang="ko-KR" altLang="en-US" sz="900" b="0" i="0" u="none">
                <a:solidFill>
                  <a:srgbClr val="222222"/>
                </a:solidFill>
                <a:latin typeface="맑은 고딕"/>
                <a:ea typeface="맑은 고딕"/>
              </a:rPr>
              <a:t>전자재료 부문의 매출은 반도체·디스플레이 소재 중심의 안정적 수요 구조를 기반으로 산정하였다. 전지 부문 대비 실적 변동성이 낮은 특성을 감안해 급격한 업황 반등보다 고객사 수요 점진적 회복과 고부가 소재 비중 확대를 전제로 완만한 성장세를 가정하였다. 본 부문은 전사 성장의 핵심 드라이버라기보다 배터리 부문 변동성을 보완하는 안정적 매출원으로 해석하였다.</a:t>
            </a:r>
          </a:p>
          <a:p>
            <a:pPr algn="just">
              <a:lnSpc>
                <a:spcPct val="132000"/>
              </a:lnSpc>
              <a:spcBef>
                <a:spcPts val="0"/>
              </a:spcBef>
              <a:spcAft>
                <a:spcPts val="900"/>
              </a:spcAft>
              <a:defRPr/>
            </a:pPr>
            <a:r>
              <a:rPr lang="ko-KR" altLang="en-US" sz="1000" b="1" i="0" u="none">
                <a:solidFill>
                  <a:srgbClr val="222222"/>
                </a:solidFill>
                <a:latin typeface="맑은 고딕"/>
                <a:ea typeface="맑은 고딕"/>
              </a:rPr>
              <a:t>신사업</a:t>
            </a:r>
          </a:p>
          <a:p>
            <a:pPr algn="just">
              <a:lnSpc>
                <a:spcPct val="132000"/>
              </a:lnSpc>
              <a:spcBef>
                <a:spcPts val="0"/>
              </a:spcBef>
              <a:spcAft>
                <a:spcPts val="900"/>
              </a:spcAft>
              <a:defRPr/>
            </a:pPr>
            <a:r>
              <a:rPr lang="ko-KR" altLang="en-US" sz="900" i="0" u="none">
                <a:solidFill>
                  <a:srgbClr val="222222"/>
                </a:solidFill>
                <a:latin typeface="맑은 고딕"/>
                <a:ea typeface="맑은 고딕"/>
              </a:rPr>
              <a:t>신사업 부문의 매출은 전고체전지 등 차세대 플랫폼의 기술 성숙도와 상용화 마일스톤을 기준으로 산정하였다. 기준일 현재 본격 양산 단계라기보다 기술 검증과 고객사 채택 기대가 형성되는 구간으로 판단해 단기 추정에는 제한적으로 반영하였으며, 불확실성은 매출 추정치가 아닌 시나리오별 멀티플 차등 적용을 통해 처리하였다.</a:t>
            </a:r>
            <a:endParaRPr lang="ko-KR" altLang="en-US" sz="900" b="1" i="0" u="none">
              <a:solidFill>
                <a:srgbClr val="222222"/>
              </a:solidFill>
              <a:latin typeface="맑은 고딕"/>
              <a:ea typeface="맑은 고딕"/>
            </a:endParaRPr>
          </a:p>
          <a:p>
            <a:pPr algn="just">
              <a:lnSpc>
                <a:spcPct val="132000"/>
              </a:lnSpc>
              <a:spcBef>
                <a:spcPts val="0"/>
              </a:spcBef>
              <a:spcAft>
                <a:spcPts val="900"/>
              </a:spcAft>
              <a:defRPr/>
            </a:pPr>
            <a:endParaRPr lang="ko-KR" altLang="en-US" sz="900" b="0" i="0" u="none">
              <a:solidFill>
                <a:srgbClr val="222222"/>
              </a:solidFill>
              <a:latin typeface="맑은 고딕"/>
              <a:ea typeface="맑은 고딕"/>
            </a:endParaRPr>
          </a:p>
        </p:txBody>
      </p:sp>
      <p:sp>
        <p:nvSpPr>
          <p:cNvPr id="12" name="TextBox 10"/>
          <p:cNvSpPr txBox="1"/>
          <p:nvPr/>
        </p:nvSpPr>
        <p:spPr>
          <a:xfrm>
            <a:off x="996341" y="759155"/>
            <a:ext cx="4646838" cy="260020"/>
          </a:xfrm>
          <a:prstGeom prst="rect">
            <a:avLst/>
          </a:prstGeom>
        </p:spPr>
        <p:txBody>
          <a:bodyPr lIns="0" tIns="0" rIns="0" bIns="0" anchor="t">
            <a:spAutoFit/>
          </a:bodyPr>
          <a:lstStyle/>
          <a:p>
            <a:pPr algn="just">
              <a:lnSpc>
                <a:spcPts val="2093"/>
              </a:lnSpc>
              <a:defRPr/>
            </a:pPr>
            <a:r>
              <a:rPr lang="en-US" altLang="ko-KR" sz="1395" b="1">
                <a:solidFill>
                  <a:srgbClr val="005EB8"/>
                </a:solidFill>
                <a:latin typeface="맑은 고딕"/>
                <a:ea typeface="맑은 고딕"/>
                <a:cs typeface="Pretendard Bold"/>
                <a:sym typeface="Pretendard Bold"/>
              </a:rPr>
              <a:t>4.</a:t>
            </a:r>
            <a:r>
              <a:rPr lang="ko-KR" altLang="en-US" sz="1395" b="1">
                <a:solidFill>
                  <a:srgbClr val="005EB8"/>
                </a:solidFill>
                <a:latin typeface="맑은 고딕"/>
                <a:ea typeface="맑은 고딕"/>
                <a:cs typeface="Pretendard Bold"/>
                <a:sym typeface="Pretendard Bold"/>
              </a:rPr>
              <a:t> </a:t>
            </a:r>
            <a:r>
              <a:rPr lang="en-US" altLang="ko-KR" sz="1395" b="1">
                <a:solidFill>
                  <a:srgbClr val="005EB8"/>
                </a:solidFill>
                <a:latin typeface="맑은 고딕"/>
                <a:ea typeface="맑은 고딕"/>
                <a:cs typeface="Pretendard Bold"/>
                <a:sym typeface="Pretendard Bold"/>
              </a:rPr>
              <a:t>Valuation</a:t>
            </a:r>
            <a:endParaRPr lang="en-US" sz="1395" b="1">
              <a:solidFill>
                <a:srgbClr val="005EB8"/>
              </a:solidFill>
              <a:latin typeface="맑은 고딕"/>
              <a:ea typeface="맑은 고딕"/>
              <a:cs typeface="Pretendard Bold"/>
              <a:sym typeface="Pretendard Bold"/>
            </a:endParaRPr>
          </a:p>
        </p:txBody>
      </p:sp>
      <p:sp>
        <p:nvSpPr>
          <p:cNvPr id="32" name="Rectangle 5"/>
          <p:cNvSpPr/>
          <p:nvPr/>
        </p:nvSpPr>
        <p:spPr>
          <a:xfrm>
            <a:off x="694451" y="7093262"/>
            <a:ext cx="5907248" cy="231463"/>
          </a:xfrm>
          <a:prstGeom prst="rect">
            <a:avLst/>
          </a:prstGeom>
          <a:solidFill>
            <a:srgbClr val="B8CCE5">
              <a:alpha val="100000"/>
            </a:srgbClr>
          </a:solidFill>
          <a:ln w="9525" cap="flat" cmpd="sng" algn="ctr">
            <a:noFill/>
            <a:prstDash val="solid"/>
          </a:ln>
          <a:effectLst/>
        </p:spPr>
        <p:txBody>
          <a:bodyPr anchor="ctr"/>
          <a:lstStyle/>
          <a:p>
            <a:pPr>
              <a:lnSpc>
                <a:spcPct val="112000"/>
              </a:lnSpc>
              <a:spcBef>
                <a:spcPts val="0"/>
              </a:spcBef>
              <a:spcAft>
                <a:spcPts val="500"/>
              </a:spcAft>
              <a:defRPr/>
            </a:pPr>
            <a:r>
              <a:rPr kumimoji="0" lang="ko-KR" altLang="en-US" sz="900" b="1" i="0" u="none" strike="noStrike" kern="1200" cap="none" spc="0" normalizeH="0" baseline="0">
                <a:solidFill>
                  <a:schemeClr val="tx1"/>
                </a:solidFill>
                <a:latin typeface="맑은 고딕"/>
              </a:rPr>
              <a:t>자료 27. 삼성SDI 매출·이익 추정 (2023A~2027F)  </a:t>
            </a:r>
          </a:p>
        </p:txBody>
      </p:sp>
      <p:graphicFrame>
        <p:nvGraphicFramePr>
          <p:cNvPr id="33" name="표 32"/>
          <p:cNvGraphicFramePr>
            <a:graphicFrameLocks noGrp="1"/>
          </p:cNvGraphicFramePr>
          <p:nvPr/>
        </p:nvGraphicFramePr>
        <p:xfrm>
          <a:off x="694451" y="7324725"/>
          <a:ext cx="5907245" cy="1795101"/>
        </p:xfrm>
        <a:graphic>
          <a:graphicData uri="http://schemas.openxmlformats.org/drawingml/2006/table">
            <a:tbl>
              <a:tblPr firstRow="1" bandRow="1"/>
              <a:tblGrid>
                <a:gridCol w="1043500">
                  <a:extLst>
                    <a:ext uri="{9D8B030D-6E8A-4147-A177-3AD203B41FA5}">
                      <a16:colId xmlns:a16="http://schemas.microsoft.com/office/drawing/2014/main" val="20000"/>
                    </a:ext>
                  </a:extLst>
                </a:gridCol>
                <a:gridCol w="925581">
                  <a:extLst>
                    <a:ext uri="{9D8B030D-6E8A-4147-A177-3AD203B41FA5}">
                      <a16:colId xmlns:a16="http://schemas.microsoft.com/office/drawing/2014/main" val="20001"/>
                    </a:ext>
                  </a:extLst>
                </a:gridCol>
                <a:gridCol w="984541">
                  <a:extLst>
                    <a:ext uri="{9D8B030D-6E8A-4147-A177-3AD203B41FA5}">
                      <a16:colId xmlns:a16="http://schemas.microsoft.com/office/drawing/2014/main" val="20002"/>
                    </a:ext>
                  </a:extLst>
                </a:gridCol>
                <a:gridCol w="984541">
                  <a:extLst>
                    <a:ext uri="{9D8B030D-6E8A-4147-A177-3AD203B41FA5}">
                      <a16:colId xmlns:a16="http://schemas.microsoft.com/office/drawing/2014/main" val="20003"/>
                    </a:ext>
                  </a:extLst>
                </a:gridCol>
                <a:gridCol w="984541">
                  <a:extLst>
                    <a:ext uri="{9D8B030D-6E8A-4147-A177-3AD203B41FA5}">
                      <a16:colId xmlns:a16="http://schemas.microsoft.com/office/drawing/2014/main" val="20004"/>
                    </a:ext>
                  </a:extLst>
                </a:gridCol>
                <a:gridCol w="984541">
                  <a:extLst>
                    <a:ext uri="{9D8B030D-6E8A-4147-A177-3AD203B41FA5}">
                      <a16:colId xmlns:a16="http://schemas.microsoft.com/office/drawing/2014/main" val="20005"/>
                    </a:ext>
                  </a:extLst>
                </a:gridCol>
              </a:tblGrid>
              <a:tr h="256443">
                <a:tc>
                  <a:txBody>
                    <a:bodyPr/>
                    <a:lstStyle/>
                    <a:p>
                      <a:pPr>
                        <a:defRPr/>
                      </a:pPr>
                      <a:r>
                        <a:rPr lang="ko-KR" altLang="en-US" sz="900" b="1">
                          <a:latin typeface="맑은 고딕"/>
                        </a:rPr>
                        <a:t>구분</a:t>
                      </a:r>
                    </a:p>
                  </a:txBody>
                  <a:tcPr/>
                </a:tc>
                <a:tc>
                  <a:txBody>
                    <a:bodyPr/>
                    <a:lstStyle/>
                    <a:p>
                      <a:pPr>
                        <a:defRPr/>
                      </a:pPr>
                      <a:r>
                        <a:rPr lang="en-US" altLang="ko-KR" sz="900" b="1">
                          <a:latin typeface="맑은 고딕"/>
                        </a:rPr>
                        <a:t>2023A</a:t>
                      </a:r>
                    </a:p>
                  </a:txBody>
                  <a:tcPr/>
                </a:tc>
                <a:tc>
                  <a:txBody>
                    <a:bodyPr/>
                    <a:lstStyle/>
                    <a:p>
                      <a:pPr>
                        <a:defRPr/>
                      </a:pPr>
                      <a:r>
                        <a:rPr lang="en-US" altLang="ko-KR" sz="900" b="1">
                          <a:latin typeface="맑은 고딕"/>
                        </a:rPr>
                        <a:t>2024A</a:t>
                      </a:r>
                    </a:p>
                  </a:txBody>
                  <a:tcPr/>
                </a:tc>
                <a:tc>
                  <a:txBody>
                    <a:bodyPr/>
                    <a:lstStyle/>
                    <a:p>
                      <a:pPr>
                        <a:defRPr/>
                      </a:pPr>
                      <a:r>
                        <a:rPr lang="en-US" altLang="ko-KR" sz="900" b="1">
                          <a:latin typeface="맑은 고딕"/>
                        </a:rPr>
                        <a:t>2025A</a:t>
                      </a:r>
                    </a:p>
                  </a:txBody>
                  <a:tcPr/>
                </a:tc>
                <a:tc>
                  <a:txBody>
                    <a:bodyPr/>
                    <a:lstStyle/>
                    <a:p>
                      <a:pPr>
                        <a:defRPr/>
                      </a:pPr>
                      <a:r>
                        <a:rPr lang="en-US" altLang="ko-KR" sz="900" b="1">
                          <a:latin typeface="맑은 고딕"/>
                        </a:rPr>
                        <a:t>2026F</a:t>
                      </a:r>
                    </a:p>
                  </a:txBody>
                  <a:tcPr/>
                </a:tc>
                <a:tc>
                  <a:txBody>
                    <a:bodyPr/>
                    <a:lstStyle/>
                    <a:p>
                      <a:pPr>
                        <a:defRPr/>
                      </a:pPr>
                      <a:r>
                        <a:rPr lang="en-US" altLang="ko-KR" sz="900" b="1">
                          <a:latin typeface="맑은 고딕"/>
                        </a:rPr>
                        <a:t>2027F</a:t>
                      </a:r>
                    </a:p>
                  </a:txBody>
                  <a:tcPr/>
                </a:tc>
                <a:extLst>
                  <a:ext uri="{0D108BD9-81ED-4DB2-BD59-A6C34878D82A}">
                    <a16:rowId xmlns:a16="http://schemas.microsoft.com/office/drawing/2014/main" val="10000"/>
                  </a:ext>
                </a:extLst>
              </a:tr>
              <a:tr h="256443">
                <a:tc>
                  <a:txBody>
                    <a:bodyPr/>
                    <a:lstStyle/>
                    <a:p>
                      <a:pPr>
                        <a:defRPr/>
                      </a:pPr>
                      <a:r>
                        <a:rPr lang="ko-KR" altLang="en-US" sz="900">
                          <a:latin typeface="맑은 고딕"/>
                        </a:rPr>
                        <a:t>매출액</a:t>
                      </a:r>
                      <a:r>
                        <a:rPr lang="en-US" altLang="ko-KR" sz="900">
                          <a:latin typeface="맑은 고딕"/>
                        </a:rPr>
                        <a:t>(</a:t>
                      </a:r>
                      <a:r>
                        <a:rPr lang="ko-KR" altLang="en-US" sz="900">
                          <a:latin typeface="맑은 고딕"/>
                        </a:rPr>
                        <a:t>조원</a:t>
                      </a:r>
                      <a:r>
                        <a:rPr lang="en-US" altLang="ko-KR" sz="900">
                          <a:latin typeface="맑은 고딕"/>
                        </a:rPr>
                        <a:t>)</a:t>
                      </a:r>
                    </a:p>
                  </a:txBody>
                  <a:tcPr/>
                </a:tc>
                <a:tc>
                  <a:txBody>
                    <a:bodyPr/>
                    <a:lstStyle/>
                    <a:p>
                      <a:pPr>
                        <a:defRPr/>
                      </a:pPr>
                      <a:r>
                        <a:rPr lang="en-US" altLang="ko-KR" sz="900">
                          <a:latin typeface="맑은 고딕"/>
                        </a:rPr>
                        <a:t>21.44</a:t>
                      </a:r>
                    </a:p>
                  </a:txBody>
                  <a:tcPr/>
                </a:tc>
                <a:tc>
                  <a:txBody>
                    <a:bodyPr/>
                    <a:lstStyle/>
                    <a:p>
                      <a:pPr>
                        <a:defRPr/>
                      </a:pPr>
                      <a:r>
                        <a:rPr lang="en-US" altLang="ko-KR" sz="900">
                          <a:latin typeface="맑은 고딕"/>
                        </a:rPr>
                        <a:t>16.59</a:t>
                      </a:r>
                    </a:p>
                  </a:txBody>
                  <a:tcPr/>
                </a:tc>
                <a:tc>
                  <a:txBody>
                    <a:bodyPr/>
                    <a:lstStyle/>
                    <a:p>
                      <a:pPr>
                        <a:defRPr/>
                      </a:pPr>
                      <a:r>
                        <a:rPr lang="en-US" altLang="ko-KR" sz="900">
                          <a:latin typeface="맑은 고딕"/>
                        </a:rPr>
                        <a:t>13.27</a:t>
                      </a:r>
                    </a:p>
                  </a:txBody>
                  <a:tcPr/>
                </a:tc>
                <a:tc>
                  <a:txBody>
                    <a:bodyPr/>
                    <a:lstStyle/>
                    <a:p>
                      <a:pPr>
                        <a:defRPr/>
                      </a:pPr>
                      <a:r>
                        <a:rPr lang="en-US" altLang="ko-KR" sz="900">
                          <a:latin typeface="맑은 고딕"/>
                        </a:rPr>
                        <a:t>15.52</a:t>
                      </a:r>
                    </a:p>
                  </a:txBody>
                  <a:tcPr/>
                </a:tc>
                <a:tc>
                  <a:txBody>
                    <a:bodyPr/>
                    <a:lstStyle/>
                    <a:p>
                      <a:pPr>
                        <a:defRPr/>
                      </a:pPr>
                      <a:r>
                        <a:rPr lang="en-US" altLang="ko-KR" sz="900">
                          <a:latin typeface="맑은 고딕"/>
                        </a:rPr>
                        <a:t>18.94</a:t>
                      </a:r>
                    </a:p>
                  </a:txBody>
                  <a:tcPr/>
                </a:tc>
                <a:extLst>
                  <a:ext uri="{0D108BD9-81ED-4DB2-BD59-A6C34878D82A}">
                    <a16:rowId xmlns:a16="http://schemas.microsoft.com/office/drawing/2014/main" val="10001"/>
                  </a:ext>
                </a:extLst>
              </a:tr>
              <a:tr h="256443">
                <a:tc>
                  <a:txBody>
                    <a:bodyPr/>
                    <a:lstStyle/>
                    <a:p>
                      <a:pPr>
                        <a:defRPr/>
                      </a:pPr>
                      <a:r>
                        <a:rPr lang="ko-KR" altLang="en-US" sz="900">
                          <a:latin typeface="맑은 고딕"/>
                        </a:rPr>
                        <a:t>매출성장률</a:t>
                      </a:r>
                    </a:p>
                  </a:txBody>
                  <a:tcPr/>
                </a:tc>
                <a:tc>
                  <a:txBody>
                    <a:bodyPr/>
                    <a:lstStyle/>
                    <a:p>
                      <a:pPr>
                        <a:defRPr/>
                      </a:pPr>
                      <a:r>
                        <a:rPr lang="en-US" altLang="ko-KR" sz="900">
                          <a:latin typeface="맑은 고딕"/>
                        </a:rPr>
                        <a:t>-</a:t>
                      </a:r>
                    </a:p>
                  </a:txBody>
                  <a:tcPr/>
                </a:tc>
                <a:tc>
                  <a:txBody>
                    <a:bodyPr/>
                    <a:lstStyle/>
                    <a:p>
                      <a:pPr>
                        <a:defRPr/>
                      </a:pPr>
                      <a:r>
                        <a:rPr lang="en-US" altLang="ko-KR" sz="900">
                          <a:latin typeface="맑은 고딕"/>
                        </a:rPr>
                        <a:t>-22.6%</a:t>
                      </a:r>
                    </a:p>
                  </a:txBody>
                  <a:tcPr/>
                </a:tc>
                <a:tc>
                  <a:txBody>
                    <a:bodyPr/>
                    <a:lstStyle/>
                    <a:p>
                      <a:pPr>
                        <a:defRPr/>
                      </a:pPr>
                      <a:r>
                        <a:rPr lang="en-US" altLang="ko-KR" sz="900">
                          <a:latin typeface="맑은 고딕"/>
                        </a:rPr>
                        <a:t>-20.0%</a:t>
                      </a:r>
                    </a:p>
                  </a:txBody>
                  <a:tcPr/>
                </a:tc>
                <a:tc>
                  <a:txBody>
                    <a:bodyPr/>
                    <a:lstStyle/>
                    <a:p>
                      <a:pPr>
                        <a:defRPr/>
                      </a:pPr>
                      <a:r>
                        <a:rPr lang="en-US" altLang="ko-KR" sz="900">
                          <a:latin typeface="맑은 고딕"/>
                        </a:rPr>
                        <a:t>+17.0%</a:t>
                      </a:r>
                    </a:p>
                  </a:txBody>
                  <a:tcPr/>
                </a:tc>
                <a:tc>
                  <a:txBody>
                    <a:bodyPr/>
                    <a:lstStyle/>
                    <a:p>
                      <a:pPr>
                        <a:defRPr/>
                      </a:pPr>
                      <a:r>
                        <a:rPr lang="en-US" altLang="ko-KR" sz="900">
                          <a:latin typeface="맑은 고딕"/>
                        </a:rPr>
                        <a:t>+22.0%</a:t>
                      </a:r>
                    </a:p>
                  </a:txBody>
                  <a:tcPr/>
                </a:tc>
                <a:extLst>
                  <a:ext uri="{0D108BD9-81ED-4DB2-BD59-A6C34878D82A}">
                    <a16:rowId xmlns:a16="http://schemas.microsoft.com/office/drawing/2014/main" val="10002"/>
                  </a:ext>
                </a:extLst>
              </a:tr>
              <a:tr h="256443">
                <a:tc>
                  <a:txBody>
                    <a:bodyPr/>
                    <a:lstStyle/>
                    <a:p>
                      <a:pPr>
                        <a:defRPr/>
                      </a:pPr>
                      <a:r>
                        <a:rPr lang="ko-KR" altLang="en-US" sz="900">
                          <a:latin typeface="맑은 고딕"/>
                        </a:rPr>
                        <a:t>영업손익</a:t>
                      </a:r>
                      <a:r>
                        <a:rPr lang="en-US" altLang="ko-KR" sz="900">
                          <a:latin typeface="맑은 고딕"/>
                        </a:rPr>
                        <a:t>(</a:t>
                      </a:r>
                      <a:r>
                        <a:rPr lang="ko-KR" altLang="en-US" sz="900">
                          <a:latin typeface="맑은 고딕"/>
                        </a:rPr>
                        <a:t>조원</a:t>
                      </a:r>
                      <a:r>
                        <a:rPr lang="en-US" altLang="ko-KR" sz="900">
                          <a:latin typeface="맑은 고딕"/>
                        </a:rPr>
                        <a:t>)</a:t>
                      </a:r>
                    </a:p>
                  </a:txBody>
                  <a:tcPr/>
                </a:tc>
                <a:tc>
                  <a:txBody>
                    <a:bodyPr/>
                    <a:lstStyle/>
                    <a:p>
                      <a:pPr>
                        <a:defRPr/>
                      </a:pPr>
                      <a:r>
                        <a:rPr lang="en-US" altLang="ko-KR" sz="900">
                          <a:latin typeface="맑은 고딕"/>
                        </a:rPr>
                        <a:t>1.55</a:t>
                      </a:r>
                    </a:p>
                  </a:txBody>
                  <a:tcPr/>
                </a:tc>
                <a:tc>
                  <a:txBody>
                    <a:bodyPr/>
                    <a:lstStyle/>
                    <a:p>
                      <a:pPr>
                        <a:defRPr/>
                      </a:pPr>
                      <a:r>
                        <a:rPr lang="en-US" altLang="ko-KR" sz="900">
                          <a:latin typeface="맑은 고딕"/>
                        </a:rPr>
                        <a:t>0.36</a:t>
                      </a:r>
                    </a:p>
                  </a:txBody>
                  <a:tcPr/>
                </a:tc>
                <a:tc>
                  <a:txBody>
                    <a:bodyPr/>
                    <a:lstStyle/>
                    <a:p>
                      <a:pPr>
                        <a:defRPr/>
                      </a:pPr>
                      <a:r>
                        <a:rPr lang="en-US" altLang="ko-KR" sz="900">
                          <a:latin typeface="맑은 고딕"/>
                        </a:rPr>
                        <a:t>-1.72</a:t>
                      </a:r>
                    </a:p>
                  </a:txBody>
                  <a:tcPr/>
                </a:tc>
                <a:tc>
                  <a:txBody>
                    <a:bodyPr/>
                    <a:lstStyle/>
                    <a:p>
                      <a:pPr>
                        <a:defRPr/>
                      </a:pPr>
                      <a:r>
                        <a:rPr lang="en-US" altLang="ko-KR" sz="900">
                          <a:latin typeface="맑은 고딕"/>
                        </a:rPr>
                        <a:t>0.23</a:t>
                      </a:r>
                    </a:p>
                  </a:txBody>
                  <a:tcPr/>
                </a:tc>
                <a:tc>
                  <a:txBody>
                    <a:bodyPr/>
                    <a:lstStyle/>
                    <a:p>
                      <a:pPr>
                        <a:defRPr/>
                      </a:pPr>
                      <a:r>
                        <a:rPr lang="en-US" altLang="ko-KR" sz="900">
                          <a:latin typeface="맑은 고딕"/>
                        </a:rPr>
                        <a:t>1.51</a:t>
                      </a:r>
                    </a:p>
                  </a:txBody>
                  <a:tcPr/>
                </a:tc>
                <a:extLst>
                  <a:ext uri="{0D108BD9-81ED-4DB2-BD59-A6C34878D82A}">
                    <a16:rowId xmlns:a16="http://schemas.microsoft.com/office/drawing/2014/main" val="10003"/>
                  </a:ext>
                </a:extLst>
              </a:tr>
              <a:tr h="256443">
                <a:tc>
                  <a:txBody>
                    <a:bodyPr/>
                    <a:lstStyle/>
                    <a:p>
                      <a:pPr>
                        <a:defRPr/>
                      </a:pPr>
                      <a:r>
                        <a:rPr lang="ko-KR" altLang="en-US" sz="900">
                          <a:latin typeface="맑은 고딕"/>
                        </a:rPr>
                        <a:t>영업이익률</a:t>
                      </a:r>
                    </a:p>
                  </a:txBody>
                  <a:tcPr/>
                </a:tc>
                <a:tc>
                  <a:txBody>
                    <a:bodyPr/>
                    <a:lstStyle/>
                    <a:p>
                      <a:pPr>
                        <a:defRPr/>
                      </a:pPr>
                      <a:r>
                        <a:rPr lang="en-US" altLang="ko-KR" sz="900">
                          <a:latin typeface="맑은 고딕"/>
                        </a:rPr>
                        <a:t>7.2%</a:t>
                      </a:r>
                    </a:p>
                  </a:txBody>
                  <a:tcPr/>
                </a:tc>
                <a:tc>
                  <a:txBody>
                    <a:bodyPr/>
                    <a:lstStyle/>
                    <a:p>
                      <a:pPr>
                        <a:defRPr/>
                      </a:pPr>
                      <a:r>
                        <a:rPr lang="en-US" altLang="ko-KR" sz="900">
                          <a:latin typeface="맑은 고딕"/>
                        </a:rPr>
                        <a:t>2.2%</a:t>
                      </a:r>
                    </a:p>
                  </a:txBody>
                  <a:tcPr/>
                </a:tc>
                <a:tc>
                  <a:txBody>
                    <a:bodyPr/>
                    <a:lstStyle/>
                    <a:p>
                      <a:pPr>
                        <a:defRPr/>
                      </a:pPr>
                      <a:r>
                        <a:rPr lang="en-US" altLang="ko-KR" sz="900">
                          <a:latin typeface="맑은 고딕"/>
                        </a:rPr>
                        <a:t>-13.0%</a:t>
                      </a:r>
                    </a:p>
                  </a:txBody>
                  <a:tcPr/>
                </a:tc>
                <a:tc>
                  <a:txBody>
                    <a:bodyPr/>
                    <a:lstStyle/>
                    <a:p>
                      <a:pPr>
                        <a:defRPr/>
                      </a:pPr>
                      <a:r>
                        <a:rPr lang="en-US" altLang="ko-KR" sz="900">
                          <a:latin typeface="맑은 고딕"/>
                        </a:rPr>
                        <a:t>1.5%</a:t>
                      </a:r>
                    </a:p>
                  </a:txBody>
                  <a:tcPr/>
                </a:tc>
                <a:tc>
                  <a:txBody>
                    <a:bodyPr/>
                    <a:lstStyle/>
                    <a:p>
                      <a:pPr>
                        <a:defRPr/>
                      </a:pPr>
                      <a:r>
                        <a:rPr lang="en-US" altLang="ko-KR" sz="900">
                          <a:latin typeface="맑은 고딕"/>
                        </a:rPr>
                        <a:t>8.0%</a:t>
                      </a:r>
                    </a:p>
                  </a:txBody>
                  <a:tcPr/>
                </a:tc>
                <a:extLst>
                  <a:ext uri="{0D108BD9-81ED-4DB2-BD59-A6C34878D82A}">
                    <a16:rowId xmlns:a16="http://schemas.microsoft.com/office/drawing/2014/main" val="10004"/>
                  </a:ext>
                </a:extLst>
              </a:tr>
              <a:tr h="256443">
                <a:tc>
                  <a:txBody>
                    <a:bodyPr/>
                    <a:lstStyle/>
                    <a:p>
                      <a:pPr>
                        <a:defRPr/>
                      </a:pPr>
                      <a:r>
                        <a:rPr lang="ko-KR" altLang="en-US" sz="900">
                          <a:latin typeface="맑은 고딕"/>
                        </a:rPr>
                        <a:t>순이익</a:t>
                      </a:r>
                      <a:r>
                        <a:rPr lang="en-US" altLang="ko-KR" sz="900">
                          <a:latin typeface="맑은 고딕"/>
                        </a:rPr>
                        <a:t>(</a:t>
                      </a:r>
                      <a:r>
                        <a:rPr lang="ko-KR" altLang="en-US" sz="900">
                          <a:latin typeface="맑은 고딕"/>
                        </a:rPr>
                        <a:t>조원</a:t>
                      </a:r>
                      <a:r>
                        <a:rPr lang="en-US" altLang="ko-KR" sz="900">
                          <a:latin typeface="맑은 고딕"/>
                        </a:rPr>
                        <a:t>)</a:t>
                      </a:r>
                    </a:p>
                  </a:txBody>
                  <a:tcPr/>
                </a:tc>
                <a:tc>
                  <a:txBody>
                    <a:bodyPr/>
                    <a:lstStyle/>
                    <a:p>
                      <a:pPr>
                        <a:defRPr/>
                      </a:pPr>
                      <a:r>
                        <a:rPr lang="en-US" altLang="ko-KR" sz="900">
                          <a:latin typeface="맑은 고딕"/>
                        </a:rPr>
                        <a:t>-</a:t>
                      </a:r>
                    </a:p>
                  </a:txBody>
                  <a:tcPr/>
                </a:tc>
                <a:tc>
                  <a:txBody>
                    <a:bodyPr/>
                    <a:lstStyle/>
                    <a:p>
                      <a:pPr>
                        <a:defRPr/>
                      </a:pPr>
                      <a:r>
                        <a:rPr lang="en-US" altLang="ko-KR" sz="900">
                          <a:latin typeface="맑은 고딕"/>
                        </a:rPr>
                        <a:t>0.60</a:t>
                      </a:r>
                      <a:endParaRPr lang="ko-KR" altLang="en-US" sz="900">
                        <a:latin typeface="맑은 고딕"/>
                      </a:endParaRPr>
                    </a:p>
                  </a:txBody>
                  <a:tcPr/>
                </a:tc>
                <a:tc>
                  <a:txBody>
                    <a:bodyPr/>
                    <a:lstStyle/>
                    <a:p>
                      <a:pPr>
                        <a:defRPr/>
                      </a:pPr>
                      <a:r>
                        <a:rPr lang="en-US" altLang="ko-KR" sz="900">
                          <a:latin typeface="맑은 고딕"/>
                        </a:rPr>
                        <a:t>-0.65</a:t>
                      </a:r>
                    </a:p>
                  </a:txBody>
                  <a:tcPr/>
                </a:tc>
                <a:tc>
                  <a:txBody>
                    <a:bodyPr/>
                    <a:lstStyle/>
                    <a:p>
                      <a:pPr marL="0" indent="0">
                        <a:buNone/>
                        <a:defRPr/>
                      </a:pPr>
                      <a:r>
                        <a:rPr lang="en-US" altLang="ko-KR" sz="900">
                          <a:latin typeface="맑은 고딕"/>
                        </a:rPr>
                        <a:t>-0.18</a:t>
                      </a:r>
                      <a:r>
                        <a:rPr lang="ko-KR" altLang="en-US" sz="900">
                          <a:latin typeface="맑은 고딕"/>
                        </a:rPr>
                        <a:t> </a:t>
                      </a:r>
                      <a:r>
                        <a:rPr lang="ko-KR" altLang="en-US" sz="900">
                          <a:solidFill>
                            <a:schemeClr val="tx1"/>
                          </a:solidFill>
                          <a:latin typeface="맑은 고딕"/>
                          <a:ea typeface="맑은 고딕"/>
                          <a:cs typeface="맑은 고딕"/>
                        </a:rPr>
                        <a:t>※</a:t>
                      </a:r>
                      <a:endParaRPr lang="ko-KR" altLang="en-US" sz="900">
                        <a:latin typeface="맑은 고딕"/>
                      </a:endParaRPr>
                    </a:p>
                  </a:txBody>
                  <a:tcPr/>
                </a:tc>
                <a:tc>
                  <a:txBody>
                    <a:bodyPr/>
                    <a:lstStyle/>
                    <a:p>
                      <a:pPr>
                        <a:defRPr/>
                      </a:pPr>
                      <a:r>
                        <a:rPr lang="en-US" altLang="ko-KR" sz="900">
                          <a:latin typeface="맑은 고딕"/>
                        </a:rPr>
                        <a:t>0.86</a:t>
                      </a:r>
                    </a:p>
                  </a:txBody>
                  <a:tcPr/>
                </a:tc>
                <a:extLst>
                  <a:ext uri="{0D108BD9-81ED-4DB2-BD59-A6C34878D82A}">
                    <a16:rowId xmlns:a16="http://schemas.microsoft.com/office/drawing/2014/main" val="10005"/>
                  </a:ext>
                </a:extLst>
              </a:tr>
              <a:tr h="256443">
                <a:tc>
                  <a:txBody>
                    <a:bodyPr/>
                    <a:lstStyle/>
                    <a:p>
                      <a:pPr>
                        <a:defRPr/>
                      </a:pPr>
                      <a:r>
                        <a:rPr lang="en-US" altLang="ko-KR" sz="900">
                          <a:latin typeface="맑은 고딕"/>
                        </a:rPr>
                        <a:t>EBITDA(</a:t>
                      </a:r>
                      <a:r>
                        <a:rPr lang="ko-KR" altLang="en-US" sz="900">
                          <a:latin typeface="맑은 고딕"/>
                        </a:rPr>
                        <a:t>조원</a:t>
                      </a:r>
                      <a:r>
                        <a:rPr lang="en-US" altLang="ko-KR" sz="900">
                          <a:latin typeface="맑은 고딕"/>
                        </a:rPr>
                        <a:t>)</a:t>
                      </a:r>
                    </a:p>
                  </a:txBody>
                  <a:tcPr/>
                </a:tc>
                <a:tc>
                  <a:txBody>
                    <a:bodyPr/>
                    <a:lstStyle/>
                    <a:p>
                      <a:pPr>
                        <a:defRPr/>
                      </a:pPr>
                      <a:r>
                        <a:rPr lang="en-US" altLang="ko-KR" sz="900">
                          <a:latin typeface="맑은 고딕"/>
                        </a:rPr>
                        <a:t>-</a:t>
                      </a:r>
                    </a:p>
                  </a:txBody>
                  <a:tcPr/>
                </a:tc>
                <a:tc>
                  <a:txBody>
                    <a:bodyPr/>
                    <a:lstStyle/>
                    <a:p>
                      <a:pPr>
                        <a:defRPr/>
                      </a:pPr>
                      <a:r>
                        <a:rPr lang="en-US" altLang="ko-KR" sz="900">
                          <a:latin typeface="맑은 고딕"/>
                        </a:rPr>
                        <a:t>-</a:t>
                      </a:r>
                    </a:p>
                  </a:txBody>
                  <a:tcPr/>
                </a:tc>
                <a:tc>
                  <a:txBody>
                    <a:bodyPr/>
                    <a:lstStyle/>
                    <a:p>
                      <a:pPr>
                        <a:defRPr/>
                      </a:pPr>
                      <a:r>
                        <a:rPr lang="en-US" altLang="ko-KR" sz="900">
                          <a:latin typeface="맑은 고딕"/>
                        </a:rPr>
                        <a:t>0.38</a:t>
                      </a:r>
                    </a:p>
                  </a:txBody>
                  <a:tcPr/>
                </a:tc>
                <a:tc>
                  <a:txBody>
                    <a:bodyPr/>
                    <a:lstStyle/>
                    <a:p>
                      <a:pPr>
                        <a:defRPr/>
                      </a:pPr>
                      <a:r>
                        <a:rPr lang="en-US" altLang="ko-KR" sz="900">
                          <a:latin typeface="맑은 고딕"/>
                        </a:rPr>
                        <a:t>2.58</a:t>
                      </a:r>
                    </a:p>
                  </a:txBody>
                  <a:tcPr/>
                </a:tc>
                <a:tc>
                  <a:txBody>
                    <a:bodyPr/>
                    <a:lstStyle/>
                    <a:p>
                      <a:pPr>
                        <a:defRPr/>
                      </a:pPr>
                      <a:r>
                        <a:rPr lang="en-US" altLang="ko-KR" sz="900">
                          <a:latin typeface="맑은 고딕"/>
                        </a:rPr>
                        <a:t>4.10</a:t>
                      </a:r>
                    </a:p>
                  </a:txBody>
                  <a:tcPr/>
                </a:tc>
                <a:extLst>
                  <a:ext uri="{0D108BD9-81ED-4DB2-BD59-A6C34878D82A}">
                    <a16:rowId xmlns:a16="http://schemas.microsoft.com/office/drawing/2014/main" val="10006"/>
                  </a:ext>
                </a:extLst>
              </a:tr>
            </a:tbl>
          </a:graphicData>
        </a:graphic>
      </p:graphicFrame>
      <p:sp>
        <p:nvSpPr>
          <p:cNvPr id="34" name="TextBox 15"/>
          <p:cNvSpPr txBox="1"/>
          <p:nvPr/>
        </p:nvSpPr>
        <p:spPr>
          <a:xfrm>
            <a:off x="694450" y="9188754"/>
            <a:ext cx="5907247" cy="250521"/>
          </a:xfrm>
          <a:prstGeom prst="rect">
            <a:avLst/>
          </a:prstGeom>
          <a:noFill/>
        </p:spPr>
        <p:txBody>
          <a:bodyPr wrap="square" lIns="0" tIns="0" rIns="0" bIns="0" anchor="t">
            <a:spAutoFit/>
          </a:bodyPr>
          <a:lstStyle/>
          <a:p>
            <a:pPr marL="0" indent="0" algn="l" defTabSz="457200" rtl="0" eaLnBrk="1" latinLnBrk="0" hangingPunct="1">
              <a:lnSpc>
                <a:spcPct val="112000"/>
              </a:lnSpc>
              <a:spcBef>
                <a:spcPts val="0"/>
              </a:spcBef>
              <a:spcAft>
                <a:spcPts val="0"/>
              </a:spcAft>
              <a:buNone/>
              <a:defRPr/>
            </a:pPr>
            <a:r>
              <a:rPr kumimoji="0" sz="750" b="0" i="1" u="none" strike="noStrike" kern="1200" cap="none" spc="0" normalizeH="0" baseline="0">
                <a:solidFill>
                  <a:srgbClr val="6B7785"/>
                </a:solidFill>
                <a:latin typeface="맑은 고딕"/>
              </a:rPr>
              <a:t>출처: </a:t>
            </a:r>
            <a:r>
              <a:rPr kumimoji="0" lang="ko-KR" altLang="en-US" sz="750" b="0" i="1" u="none" strike="noStrike" kern="1200" cap="none" spc="0" normalizeH="0" baseline="0">
                <a:solidFill>
                  <a:srgbClr val="6B7785"/>
                </a:solidFill>
                <a:latin typeface="맑은 고딕"/>
              </a:rPr>
              <a:t>2023A~2025A DART 사업보고서·FnGuide 연동 손익계산서, 기준일 2026-0</a:t>
            </a:r>
            <a:r>
              <a:rPr kumimoji="0" lang="en-US" altLang="ko-KR" sz="750" b="0" i="1" u="none" strike="noStrike" kern="1200" cap="none" spc="0" normalizeH="0" baseline="0">
                <a:solidFill>
                  <a:srgbClr val="6B7785"/>
                </a:solidFill>
                <a:latin typeface="맑은 고딕"/>
              </a:rPr>
              <a:t>3</a:t>
            </a:r>
            <a:r>
              <a:rPr kumimoji="0" lang="ko-KR" altLang="en-US" sz="750" b="0" i="1" u="none" strike="noStrike" kern="1200" cap="none" spc="0" normalizeH="0" baseline="0">
                <a:solidFill>
                  <a:srgbClr val="6B7785"/>
                </a:solidFill>
                <a:latin typeface="맑은 고딕"/>
              </a:rPr>
              <a:t>-</a:t>
            </a:r>
            <a:r>
              <a:rPr kumimoji="0" lang="en-US" altLang="ko-KR" sz="750" b="0" i="1" u="none" strike="noStrike" kern="1200" cap="none" spc="0" normalizeH="0" baseline="0">
                <a:solidFill>
                  <a:srgbClr val="6B7785"/>
                </a:solidFill>
                <a:latin typeface="맑은 고딕"/>
              </a:rPr>
              <a:t>30</a:t>
            </a:r>
            <a:r>
              <a:rPr kumimoji="0" lang="ko-KR" altLang="en-US" sz="750" b="0" i="1" u="none" strike="noStrike" kern="1200" cap="none" spc="0" normalizeH="0" baseline="0">
                <a:solidFill>
                  <a:srgbClr val="6B7785"/>
                </a:solidFill>
                <a:latin typeface="맑은 고딕"/>
              </a:rPr>
              <a:t>. / 2026F~2027F </a:t>
            </a:r>
            <a:r>
              <a:rPr kumimoji="0" lang="en-US" altLang="ko-KR" sz="750" b="0" i="1" u="none" strike="noStrike" kern="1200" cap="none" spc="0" normalizeH="0" baseline="0">
                <a:solidFill>
                  <a:srgbClr val="6B7785"/>
                </a:solidFill>
                <a:latin typeface="맑은 고딕"/>
              </a:rPr>
              <a:t>ICOK</a:t>
            </a:r>
            <a:r>
              <a:rPr kumimoji="0" lang="ko-KR" altLang="en-US" sz="750" b="0" i="1" u="none" strike="noStrike" kern="1200" cap="none" spc="0" normalizeH="0" baseline="0">
                <a:solidFill>
                  <a:srgbClr val="6B7785"/>
                </a:solidFill>
                <a:latin typeface="맑은 고딕"/>
              </a:rPr>
              <a:t> 추정.</a:t>
            </a:r>
          </a:p>
          <a:p>
            <a:pPr marL="0" indent="0" algn="l" defTabSz="457200" rtl="0" eaLnBrk="1" latinLnBrk="0" hangingPunct="1">
              <a:lnSpc>
                <a:spcPct val="112000"/>
              </a:lnSpc>
              <a:spcBef>
                <a:spcPts val="0"/>
              </a:spcBef>
              <a:spcAft>
                <a:spcPts val="0"/>
              </a:spcAft>
              <a:buNone/>
              <a:defRPr/>
            </a:pPr>
            <a:r>
              <a:rPr kumimoji="0" lang="ko-KR" altLang="en-US" sz="750" b="0" i="1" u="none" strike="noStrike" kern="1200" cap="none" spc="0" normalizeH="0" baseline="0">
                <a:solidFill>
                  <a:srgbClr val="6B7785"/>
                </a:solidFill>
                <a:latin typeface="맑은 고딕"/>
              </a:rPr>
              <a:t>※ 2026F 순이익은 영업흑자 전환에도 순차입금 9.27조원 관련 순금융비용으로 소폭 적자 추정</a:t>
            </a:r>
          </a:p>
        </p:txBody>
      </p:sp>
      <p:sp>
        <p:nvSpPr>
          <p:cNvPr id="35" name="TextBox 34"/>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19</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158877"/>
          </a:xfrm>
          <a:prstGeom prst="rect">
            <a:avLst/>
          </a:prstGeom>
          <a:noFill/>
        </p:spPr>
        <p:txBody>
          <a:bodyPr wrap="square" lIns="0" tIns="0" rIns="0" bIns="0" anchor="t">
            <a:spAutoFit/>
          </a:bodyPr>
          <a:lstStyle/>
          <a:p>
            <a:pPr>
              <a:lnSpc>
                <a:spcPct val="112000"/>
              </a:lnSpc>
              <a:spcBef>
                <a:spcPts val="0"/>
              </a:spcBef>
              <a:spcAft>
                <a:spcPts val="500"/>
              </a:spcAft>
              <a:defRPr/>
            </a:pPr>
            <a:r>
              <a:rPr lang="en-US" altLang="ko-KR" sz="950" b="1" i="0">
                <a:solidFill>
                  <a:srgbClr val="003A75"/>
                </a:solidFill>
                <a:latin typeface="맑은 고딕"/>
              </a:rPr>
              <a:t>Valuation</a:t>
            </a:r>
          </a:p>
        </p:txBody>
      </p:sp>
      <p:sp>
        <p:nvSpPr>
          <p:cNvPr id="3" name="TextBox 2"/>
          <p:cNvSpPr txBox="1"/>
          <p:nvPr/>
        </p:nvSpPr>
        <p:spPr>
          <a:xfrm>
            <a:off x="2743200" y="384048"/>
            <a:ext cx="3657600" cy="149352"/>
          </a:xfrm>
          <a:prstGeom prst="rect">
            <a:avLst/>
          </a:prstGeom>
          <a:noFill/>
        </p:spPr>
        <p:txBody>
          <a:bodyPr wrap="square" lIns="0" tIns="0" rIns="0" bIns="0" anchor="t">
            <a:spAutoFit/>
          </a:bodyPr>
          <a:lstStyle/>
          <a:p>
            <a:pPr algn="r">
              <a:lnSpc>
                <a:spcPct val="112000"/>
              </a:lnSpc>
              <a:spcBef>
                <a:spcPts val="0"/>
              </a:spcBef>
              <a:spcAft>
                <a:spcPts val="500"/>
              </a:spcAft>
              <a:defRPr/>
            </a:pPr>
            <a:r>
              <a:rPr sz="900" b="0" i="0">
                <a:solidFill>
                  <a:srgbClr val="6B7785"/>
                </a:solidFill>
                <a:latin typeface="맑은 고딕"/>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a:p>
        </p:txBody>
      </p:sp>
      <p:sp>
        <p:nvSpPr>
          <p:cNvPr id="5" name="TextBox 4"/>
          <p:cNvSpPr txBox="1"/>
          <p:nvPr/>
        </p:nvSpPr>
        <p:spPr>
          <a:xfrm>
            <a:off x="1011877" y="664043"/>
            <a:ext cx="4974241" cy="431332"/>
          </a:xfrm>
          <a:prstGeom prst="rect">
            <a:avLst/>
          </a:prstGeom>
          <a:noFill/>
        </p:spPr>
        <p:txBody>
          <a:bodyPr wrap="square" lIns="0" tIns="0" rIns="0" bIns="0" anchor="t">
            <a:spAutoFit/>
          </a:bodyPr>
          <a:lstStyle/>
          <a:p>
            <a:pPr>
              <a:lnSpc>
                <a:spcPct val="112000"/>
              </a:lnSpc>
              <a:spcBef>
                <a:spcPts val="0"/>
              </a:spcBef>
              <a:spcAft>
                <a:spcPts val="500"/>
              </a:spcAft>
              <a:defRPr/>
            </a:pPr>
            <a:endParaRPr lang="en-US" sz="1100" b="1" i="0">
              <a:latin typeface="맑은 고딕"/>
              <a:ea typeface="맑은 고딕"/>
            </a:endParaRPr>
          </a:p>
          <a:p>
            <a:pPr>
              <a:lnSpc>
                <a:spcPct val="112000"/>
              </a:lnSpc>
              <a:spcBef>
                <a:spcPts val="0"/>
              </a:spcBef>
              <a:spcAft>
                <a:spcPts val="500"/>
              </a:spcAft>
              <a:defRPr/>
            </a:pPr>
            <a:r>
              <a:rPr lang="en-US" altLang="ko-KR" sz="1100" b="1" i="0">
                <a:latin typeface="맑은 고딕"/>
                <a:ea typeface="맑은 고딕"/>
              </a:rPr>
              <a:t>4</a:t>
            </a:r>
            <a:r>
              <a:rPr sz="1100" b="1" i="0">
                <a:latin typeface="맑은 고딕"/>
                <a:ea typeface="맑은 고딕"/>
              </a:rPr>
              <a:t>.</a:t>
            </a:r>
            <a:r>
              <a:rPr lang="en-US" altLang="ko-KR" sz="1100" b="1" i="0">
                <a:latin typeface="맑은 고딕"/>
                <a:ea typeface="맑은 고딕"/>
              </a:rPr>
              <a:t>2</a:t>
            </a:r>
            <a:r>
              <a:rPr sz="1100" b="1" i="0">
                <a:latin typeface="맑은 고딕"/>
                <a:ea typeface="맑은 고딕"/>
              </a:rPr>
              <a:t>  </a:t>
            </a:r>
            <a:r>
              <a:rPr lang="en-US" altLang="ko-KR" sz="1100" b="1" i="0">
                <a:latin typeface="맑은 고딕"/>
                <a:ea typeface="맑은 고딕"/>
              </a:rPr>
              <a:t>Valuation Method</a:t>
            </a:r>
          </a:p>
        </p:txBody>
      </p:sp>
      <p:sp>
        <p:nvSpPr>
          <p:cNvPr id="7" name="TextBox 6"/>
          <p:cNvSpPr txBox="1"/>
          <p:nvPr/>
        </p:nvSpPr>
        <p:spPr>
          <a:xfrm>
            <a:off x="996341" y="1234170"/>
            <a:ext cx="5468645" cy="1442355"/>
          </a:xfrm>
          <a:prstGeom prst="rect">
            <a:avLst/>
          </a:prstGeom>
          <a:noFill/>
        </p:spPr>
        <p:txBody>
          <a:bodyPr wrap="square" lIns="0" tIns="0" rIns="0" bIns="0" anchor="t">
            <a:spAutoFit/>
          </a:bodyPr>
          <a:lstStyle/>
          <a:p>
            <a:pPr algn="just">
              <a:lnSpc>
                <a:spcPct val="132000"/>
              </a:lnSpc>
              <a:spcBef>
                <a:spcPts val="0"/>
              </a:spcBef>
              <a:spcAft>
                <a:spcPts val="900"/>
              </a:spcAft>
              <a:defRPr/>
            </a:pPr>
            <a:r>
              <a:rPr lang="ko-KR" altLang="en-US" sz="900" i="0">
                <a:solidFill>
                  <a:srgbClr val="222222"/>
                </a:solidFill>
                <a:latin typeface="맑은 고딕"/>
                <a:ea typeface="맑은 고딕"/>
              </a:rPr>
              <a:t>본 </a:t>
            </a:r>
            <a:r>
              <a:rPr lang="en-US" altLang="ko-KR" sz="900" i="0">
                <a:solidFill>
                  <a:srgbClr val="222222"/>
                </a:solidFill>
                <a:latin typeface="맑은 고딕"/>
                <a:ea typeface="맑은 고딕"/>
              </a:rPr>
              <a:t>Valuation</a:t>
            </a:r>
            <a:r>
              <a:rPr lang="ko-KR" altLang="en-US" sz="900" i="0">
                <a:solidFill>
                  <a:srgbClr val="222222"/>
                </a:solidFill>
                <a:latin typeface="맑은 고딕"/>
                <a:ea typeface="맑은 고딕"/>
              </a:rPr>
              <a:t>은 PBR-ROE 방식을 메인으로 적용하고 EV/EBITDA를 교차검증으로 병행하였다. 2025년 순손실과 2026년 흑자전환 초기의 EPS 변동성으로 PER 적용이 무의미한 가운데, 대규모 CAPEX 증설 구조에서 자기자본이 가치의 핵심 기준이 된다는 점에서 PBR-ROE가 가장 적합한 방법론으로 판단하였다. Target PBR은 한국 2차전지 셀메이커의 정상사이클 PBR 밴드(1.5x~2.8x)를 기준으로 설정하였으며, 국내 비교기업이 부재하므로 LG에너지솔루션(22.1x)과 CATL(13.3x)을 Peer로 삼아 평균 EV/EBITDA 17.7x를 교차검증에 활용하였다. 수요 전제는 IEA 시나리오를 적용해 Bear(STEPS), Base(APS), Bull(NZE) 세 가지 케이스로 구분하였으며, 이를 통해 단기 변동성을 배제하고 북미 에너지 정책 환경과 수주 가시성을 반영한 구조적 평가를 수행하였다.</a:t>
            </a:r>
          </a:p>
        </p:txBody>
      </p:sp>
      <p:sp>
        <p:nvSpPr>
          <p:cNvPr id="32" name="Rectangle 5"/>
          <p:cNvSpPr/>
          <p:nvPr/>
        </p:nvSpPr>
        <p:spPr>
          <a:xfrm>
            <a:off x="694451" y="3170141"/>
            <a:ext cx="5907248" cy="231463"/>
          </a:xfrm>
          <a:prstGeom prst="rect">
            <a:avLst/>
          </a:prstGeom>
          <a:solidFill>
            <a:srgbClr val="B8CCE5">
              <a:alpha val="100000"/>
            </a:srgbClr>
          </a:solidFill>
          <a:ln w="9525" cap="flat" cmpd="sng" algn="ctr">
            <a:noFill/>
            <a:prstDash val="solid"/>
          </a:ln>
          <a:effectLst/>
        </p:spPr>
        <p:txBody>
          <a:bodyPr anchor="ctr"/>
          <a:lstStyle/>
          <a:p>
            <a:pPr>
              <a:lnSpc>
                <a:spcPct val="112000"/>
              </a:lnSpc>
              <a:spcBef>
                <a:spcPts val="0"/>
              </a:spcBef>
              <a:spcAft>
                <a:spcPts val="500"/>
              </a:spcAft>
              <a:defRPr/>
            </a:pPr>
            <a:r>
              <a:rPr kumimoji="0" lang="ko-KR" altLang="en-US" sz="900" b="1" i="0" u="none" strike="noStrike" kern="1200" cap="none" spc="0" normalizeH="0" baseline="0">
                <a:solidFill>
                  <a:schemeClr val="tx1"/>
                </a:solidFill>
                <a:latin typeface="맑은 고딕"/>
              </a:rPr>
              <a:t>자료 28. 삼성SDI 매출·이익 추정 (2023A~2027F) </a:t>
            </a:r>
            <a:endParaRPr kumimoji="0" lang="en-US" altLang="ko-KR" sz="900" b="0" i="0" u="none" strike="noStrike" kern="1200" cap="none" spc="0" normalizeH="0" baseline="0">
              <a:solidFill>
                <a:schemeClr val="tx1"/>
              </a:solidFill>
              <a:latin typeface="Calibri"/>
              <a:ea typeface="맑은 고딕"/>
              <a:cs typeface="맑은 고딕"/>
            </a:endParaRPr>
          </a:p>
        </p:txBody>
      </p:sp>
      <p:sp>
        <p:nvSpPr>
          <p:cNvPr id="34" name="TextBox 15"/>
          <p:cNvSpPr txBox="1"/>
          <p:nvPr/>
        </p:nvSpPr>
        <p:spPr>
          <a:xfrm>
            <a:off x="694451" y="4948465"/>
            <a:ext cx="5907247" cy="118835"/>
          </a:xfrm>
          <a:prstGeom prst="rect">
            <a:avLst/>
          </a:prstGeom>
          <a:noFill/>
        </p:spPr>
        <p:txBody>
          <a:bodyPr wrap="square" lIns="0" tIns="0" rIns="0" bIns="0" anchor="t">
            <a:spAutoFit/>
          </a:bodyPr>
          <a:lstStyle/>
          <a:p>
            <a:pPr marL="0" indent="0" algn="l" defTabSz="457200" rtl="0" eaLnBrk="1" latinLnBrk="0" hangingPunct="1">
              <a:lnSpc>
                <a:spcPct val="112000"/>
              </a:lnSpc>
              <a:spcBef>
                <a:spcPts val="0"/>
              </a:spcBef>
              <a:spcAft>
                <a:spcPts val="0"/>
              </a:spcAft>
              <a:buNone/>
              <a:defRPr/>
            </a:pPr>
            <a:r>
              <a:rPr kumimoji="0" sz="750" b="0" i="1" u="none" strike="noStrike" kern="1200" cap="none" spc="0" normalizeH="0" baseline="0">
                <a:solidFill>
                  <a:srgbClr val="6B7785"/>
                </a:solidFill>
                <a:latin typeface="맑은 고딕"/>
              </a:rPr>
              <a:t>출처: </a:t>
            </a:r>
            <a:r>
              <a:rPr kumimoji="0" lang="en-US" altLang="ko-KR" sz="750" b="0" i="1" u="none" strike="noStrike" kern="1200" cap="none" spc="0" normalizeH="0" baseline="0">
                <a:solidFill>
                  <a:srgbClr val="6B7785"/>
                </a:solidFill>
                <a:latin typeface="맑은 고딕"/>
              </a:rPr>
              <a:t>목표주가 2027F BPS × 시나리오별 Target PBR ICOK 산출. PBR 밴드는 한국 셀 메이커 정상 사이클·현재 trailing PBR</a:t>
            </a:r>
          </a:p>
        </p:txBody>
      </p:sp>
      <p:graphicFrame>
        <p:nvGraphicFramePr>
          <p:cNvPr id="35" name="표 34"/>
          <p:cNvGraphicFramePr>
            <a:graphicFrameLocks noGrp="1"/>
          </p:cNvGraphicFramePr>
          <p:nvPr/>
        </p:nvGraphicFramePr>
        <p:xfrm>
          <a:off x="694451" y="3401605"/>
          <a:ext cx="5907245" cy="1414203"/>
        </p:xfrm>
        <a:graphic>
          <a:graphicData uri="http://schemas.openxmlformats.org/drawingml/2006/table">
            <a:tbl>
              <a:tblPr firstRow="1" bandRow="1"/>
              <a:tblGrid>
                <a:gridCol w="726691">
                  <a:extLst>
                    <a:ext uri="{9D8B030D-6E8A-4147-A177-3AD203B41FA5}">
                      <a16:colId xmlns:a16="http://schemas.microsoft.com/office/drawing/2014/main" val="20000"/>
                    </a:ext>
                  </a:extLst>
                </a:gridCol>
                <a:gridCol w="2326576">
                  <a:extLst>
                    <a:ext uri="{9D8B030D-6E8A-4147-A177-3AD203B41FA5}">
                      <a16:colId xmlns:a16="http://schemas.microsoft.com/office/drawing/2014/main" val="20001"/>
                    </a:ext>
                  </a:extLst>
                </a:gridCol>
                <a:gridCol w="916177">
                  <a:extLst>
                    <a:ext uri="{9D8B030D-6E8A-4147-A177-3AD203B41FA5}">
                      <a16:colId xmlns:a16="http://schemas.microsoft.com/office/drawing/2014/main" val="20002"/>
                    </a:ext>
                  </a:extLst>
                </a:gridCol>
                <a:gridCol w="1007967">
                  <a:extLst>
                    <a:ext uri="{9D8B030D-6E8A-4147-A177-3AD203B41FA5}">
                      <a16:colId xmlns:a16="http://schemas.microsoft.com/office/drawing/2014/main" val="20003"/>
                    </a:ext>
                  </a:extLst>
                </a:gridCol>
                <a:gridCol w="929834">
                  <a:extLst>
                    <a:ext uri="{9D8B030D-6E8A-4147-A177-3AD203B41FA5}">
                      <a16:colId xmlns:a16="http://schemas.microsoft.com/office/drawing/2014/main" val="20004"/>
                    </a:ext>
                  </a:extLst>
                </a:gridCol>
              </a:tblGrid>
              <a:tr h="281161">
                <a:tc>
                  <a:txBody>
                    <a:bodyPr/>
                    <a:lstStyle/>
                    <a:p>
                      <a:pPr>
                        <a:defRPr/>
                      </a:pPr>
                      <a:r>
                        <a:rPr lang="ko-KR" altLang="en-US" sz="900" b="1">
                          <a:latin typeface="맑은 고딕"/>
                        </a:rPr>
                        <a:t>시나리오</a:t>
                      </a:r>
                    </a:p>
                  </a:txBody>
                  <a:tcPr/>
                </a:tc>
                <a:tc>
                  <a:txBody>
                    <a:bodyPr/>
                    <a:lstStyle/>
                    <a:p>
                      <a:pPr>
                        <a:defRPr/>
                      </a:pPr>
                      <a:r>
                        <a:rPr lang="ko-KR" altLang="en-US" sz="900" b="1">
                          <a:latin typeface="맑은 고딕"/>
                        </a:rPr>
                        <a:t>핵심가정</a:t>
                      </a:r>
                    </a:p>
                  </a:txBody>
                  <a:tcPr/>
                </a:tc>
                <a:tc>
                  <a:txBody>
                    <a:bodyPr/>
                    <a:lstStyle/>
                    <a:p>
                      <a:pPr>
                        <a:defRPr/>
                      </a:pPr>
                      <a:r>
                        <a:rPr lang="en-US" altLang="ko-KR" sz="900" b="1">
                          <a:latin typeface="맑은 고딕"/>
                        </a:rPr>
                        <a:t>Target PBR</a:t>
                      </a:r>
                    </a:p>
                  </a:txBody>
                  <a:tcPr/>
                </a:tc>
                <a:tc>
                  <a:txBody>
                    <a:bodyPr/>
                    <a:lstStyle/>
                    <a:p>
                      <a:pPr>
                        <a:defRPr/>
                      </a:pPr>
                      <a:r>
                        <a:rPr lang="ko-KR" altLang="en-US" sz="900" b="1">
                          <a:latin typeface="맑은 고딕"/>
                        </a:rPr>
                        <a:t>목표주가</a:t>
                      </a:r>
                    </a:p>
                  </a:txBody>
                  <a:tcPr/>
                </a:tc>
                <a:tc>
                  <a:txBody>
                    <a:bodyPr/>
                    <a:lstStyle/>
                    <a:p>
                      <a:pPr>
                        <a:defRPr/>
                      </a:pPr>
                      <a:r>
                        <a:rPr lang="ko-KR" altLang="en-US" sz="900" b="1">
                          <a:latin typeface="맑은 고딕"/>
                        </a:rPr>
                        <a:t>상승여력</a:t>
                      </a:r>
                    </a:p>
                  </a:txBody>
                  <a:tcPr/>
                </a:tc>
                <a:extLst>
                  <a:ext uri="{0D108BD9-81ED-4DB2-BD59-A6C34878D82A}">
                    <a16:rowId xmlns:a16="http://schemas.microsoft.com/office/drawing/2014/main" val="10000"/>
                  </a:ext>
                </a:extLst>
              </a:tr>
              <a:tr h="281161">
                <a:tc>
                  <a:txBody>
                    <a:bodyPr/>
                    <a:lstStyle/>
                    <a:p>
                      <a:pPr>
                        <a:defRPr/>
                      </a:pPr>
                      <a:r>
                        <a:rPr lang="en-US" altLang="ko-KR" sz="900">
                          <a:latin typeface="맑은 고딕"/>
                        </a:rPr>
                        <a:t>Bull</a:t>
                      </a:r>
                    </a:p>
                  </a:txBody>
                  <a:tcPr/>
                </a:tc>
                <a:tc>
                  <a:txBody>
                    <a:bodyPr/>
                    <a:lstStyle/>
                    <a:p>
                      <a:pPr>
                        <a:defRPr/>
                      </a:pPr>
                      <a:r>
                        <a:rPr lang="en-US" altLang="ko-KR" sz="900">
                          <a:latin typeface="맑은 고딕"/>
                        </a:rPr>
                        <a:t>미국 ESS 점유 확대 + 46파이 대량 채택 + 전고체 모멘텀으로 리레이팅</a:t>
                      </a:r>
                    </a:p>
                  </a:txBody>
                  <a:tcPr/>
                </a:tc>
                <a:tc>
                  <a:txBody>
                    <a:bodyPr/>
                    <a:lstStyle/>
                    <a:p>
                      <a:pPr>
                        <a:defRPr/>
                      </a:pPr>
                      <a:r>
                        <a:rPr lang="en-US" altLang="ko-KR" sz="900">
                          <a:latin typeface="맑은 고딕"/>
                        </a:rPr>
                        <a:t>2.8x</a:t>
                      </a:r>
                    </a:p>
                  </a:txBody>
                  <a:tcPr/>
                </a:tc>
                <a:tc>
                  <a:txBody>
                    <a:bodyPr/>
                    <a:lstStyle/>
                    <a:p>
                      <a:pPr>
                        <a:defRPr/>
                      </a:pPr>
                      <a:r>
                        <a:rPr lang="en-US" altLang="ko-KR" sz="900">
                          <a:latin typeface="맑은 고딕"/>
                        </a:rPr>
                        <a:t>768,500</a:t>
                      </a:r>
                      <a:r>
                        <a:rPr lang="ko-KR" altLang="en-US" sz="900">
                          <a:latin typeface="맑은 고딕"/>
                        </a:rPr>
                        <a:t>원</a:t>
                      </a:r>
                    </a:p>
                  </a:txBody>
                  <a:tcPr/>
                </a:tc>
                <a:tc>
                  <a:txBody>
                    <a:bodyPr/>
                    <a:lstStyle/>
                    <a:p>
                      <a:pPr>
                        <a:defRPr/>
                      </a:pPr>
                      <a:r>
                        <a:rPr lang="en-US" altLang="ko-KR" sz="900">
                          <a:latin typeface="맑은 고딕"/>
                        </a:rPr>
                        <a:t>+86.3%</a:t>
                      </a:r>
                    </a:p>
                  </a:txBody>
                  <a:tcPr/>
                </a:tc>
                <a:extLst>
                  <a:ext uri="{0D108BD9-81ED-4DB2-BD59-A6C34878D82A}">
                    <a16:rowId xmlns:a16="http://schemas.microsoft.com/office/drawing/2014/main" val="10001"/>
                  </a:ext>
                </a:extLst>
              </a:tr>
              <a:tr h="281161">
                <a:tc>
                  <a:txBody>
                    <a:bodyPr/>
                    <a:lstStyle/>
                    <a:p>
                      <a:pPr>
                        <a:defRPr/>
                      </a:pPr>
                      <a:r>
                        <a:rPr lang="en-US" altLang="ko-KR" sz="900">
                          <a:latin typeface="맑은 고딕"/>
                        </a:rPr>
                        <a:t>Base</a:t>
                      </a:r>
                    </a:p>
                  </a:txBody>
                  <a:tcPr/>
                </a:tc>
                <a:tc>
                  <a:txBody>
                    <a:bodyPr/>
                    <a:lstStyle/>
                    <a:p>
                      <a:pPr>
                        <a:defRPr/>
                      </a:pPr>
                      <a:r>
                        <a:rPr lang="ko-KR" altLang="en-US" sz="900">
                          <a:latin typeface="맑은 고딕"/>
                        </a:rPr>
                        <a:t>ESS 풀가동 + AMPC 정상 반영 + EV 완만 회복으로 2027F 흑자 정상화</a:t>
                      </a:r>
                    </a:p>
                  </a:txBody>
                  <a:tcPr/>
                </a:tc>
                <a:tc>
                  <a:txBody>
                    <a:bodyPr/>
                    <a:lstStyle/>
                    <a:p>
                      <a:pPr>
                        <a:defRPr/>
                      </a:pPr>
                      <a:r>
                        <a:rPr lang="en-US" altLang="ko-KR" sz="900">
                          <a:latin typeface="맑은 고딕"/>
                        </a:rPr>
                        <a:t>2.2x</a:t>
                      </a:r>
                    </a:p>
                  </a:txBody>
                  <a:tcPr/>
                </a:tc>
                <a:tc>
                  <a:txBody>
                    <a:bodyPr/>
                    <a:lstStyle/>
                    <a:p>
                      <a:pPr>
                        <a:defRPr/>
                      </a:pPr>
                      <a:r>
                        <a:rPr lang="en-US" altLang="ko-KR" sz="900">
                          <a:latin typeface="맑은 고딕"/>
                        </a:rPr>
                        <a:t>603,850</a:t>
                      </a:r>
                      <a:r>
                        <a:rPr lang="ko-KR" altLang="en-US" sz="900">
                          <a:latin typeface="맑은 고딕"/>
                        </a:rPr>
                        <a:t>원</a:t>
                      </a:r>
                    </a:p>
                  </a:txBody>
                  <a:tcPr/>
                </a:tc>
                <a:tc>
                  <a:txBody>
                    <a:bodyPr/>
                    <a:lstStyle/>
                    <a:p>
                      <a:pPr>
                        <a:defRPr/>
                      </a:pPr>
                      <a:r>
                        <a:rPr lang="en-US" altLang="ko-KR" sz="900">
                          <a:latin typeface="맑은 고딕"/>
                        </a:rPr>
                        <a:t>+46.4%</a:t>
                      </a:r>
                    </a:p>
                  </a:txBody>
                  <a:tcPr/>
                </a:tc>
                <a:extLst>
                  <a:ext uri="{0D108BD9-81ED-4DB2-BD59-A6C34878D82A}">
                    <a16:rowId xmlns:a16="http://schemas.microsoft.com/office/drawing/2014/main" val="10002"/>
                  </a:ext>
                </a:extLst>
              </a:tr>
              <a:tr h="401522">
                <a:tc>
                  <a:txBody>
                    <a:bodyPr/>
                    <a:lstStyle/>
                    <a:p>
                      <a:pPr>
                        <a:defRPr/>
                      </a:pPr>
                      <a:r>
                        <a:rPr lang="en-US" altLang="ko-KR" sz="900">
                          <a:latin typeface="맑은 고딕"/>
                        </a:rPr>
                        <a:t>Bear</a:t>
                      </a:r>
                    </a:p>
                  </a:txBody>
                  <a:tcPr/>
                </a:tc>
                <a:tc>
                  <a:txBody>
                    <a:bodyPr/>
                    <a:lstStyle/>
                    <a:p>
                      <a:pPr>
                        <a:defRPr/>
                      </a:pPr>
                      <a:r>
                        <a:rPr lang="en-US" altLang="ko-KR" sz="900">
                          <a:latin typeface="맑은 고딕"/>
                        </a:rPr>
                        <a:t>EV 수요 회복 지연 + ESS 공급과잉으로 가동률·수율 부진, 정상화 미달</a:t>
                      </a:r>
                    </a:p>
                  </a:txBody>
                  <a:tcPr/>
                </a:tc>
                <a:tc>
                  <a:txBody>
                    <a:bodyPr/>
                    <a:lstStyle/>
                    <a:p>
                      <a:pPr>
                        <a:defRPr/>
                      </a:pPr>
                      <a:r>
                        <a:rPr lang="en-US" altLang="ko-KR" sz="900">
                          <a:latin typeface="맑은 고딕"/>
                        </a:rPr>
                        <a:t>1.5x</a:t>
                      </a:r>
                    </a:p>
                  </a:txBody>
                  <a:tcPr/>
                </a:tc>
                <a:tc>
                  <a:txBody>
                    <a:bodyPr/>
                    <a:lstStyle/>
                    <a:p>
                      <a:pPr>
                        <a:defRPr/>
                      </a:pPr>
                      <a:r>
                        <a:rPr lang="en-US" altLang="ko-KR" sz="900">
                          <a:latin typeface="맑은 고딕"/>
                        </a:rPr>
                        <a:t>411,700</a:t>
                      </a:r>
                      <a:r>
                        <a:rPr lang="ko-KR" altLang="en-US" sz="900">
                          <a:latin typeface="맑은 고딕"/>
                        </a:rPr>
                        <a:t>원</a:t>
                      </a:r>
                    </a:p>
                  </a:txBody>
                  <a:tcPr/>
                </a:tc>
                <a:tc>
                  <a:txBody>
                    <a:bodyPr/>
                    <a:lstStyle/>
                    <a:p>
                      <a:pPr>
                        <a:defRPr/>
                      </a:pPr>
                      <a:r>
                        <a:rPr lang="en-US" altLang="ko-KR" sz="900">
                          <a:latin typeface="맑은 고딕"/>
                        </a:rPr>
                        <a:t>-0.2%</a:t>
                      </a:r>
                    </a:p>
                  </a:txBody>
                  <a:tcPr/>
                </a:tc>
                <a:extLst>
                  <a:ext uri="{0D108BD9-81ED-4DB2-BD59-A6C34878D82A}">
                    <a16:rowId xmlns:a16="http://schemas.microsoft.com/office/drawing/2014/main" val="10003"/>
                  </a:ext>
                </a:extLst>
              </a:tr>
            </a:tbl>
          </a:graphicData>
        </a:graphic>
      </p:graphicFrame>
      <p:sp>
        <p:nvSpPr>
          <p:cNvPr id="36" name="TextBox 4"/>
          <p:cNvSpPr txBox="1"/>
          <p:nvPr/>
        </p:nvSpPr>
        <p:spPr>
          <a:xfrm>
            <a:off x="1011877" y="2647950"/>
            <a:ext cx="4974241" cy="438150"/>
          </a:xfrm>
          <a:prstGeom prst="rect">
            <a:avLst/>
          </a:prstGeom>
          <a:noFill/>
        </p:spPr>
        <p:txBody>
          <a:bodyPr wrap="square" lIns="0" tIns="0" rIns="0" bIns="0" anchor="t">
            <a:spAutoFit/>
          </a:bodyPr>
          <a:lstStyle/>
          <a:p>
            <a:pPr>
              <a:lnSpc>
                <a:spcPct val="112000"/>
              </a:lnSpc>
              <a:spcBef>
                <a:spcPts val="0"/>
              </a:spcBef>
              <a:spcAft>
                <a:spcPts val="500"/>
              </a:spcAft>
              <a:defRPr/>
            </a:pPr>
            <a:endParaRPr lang="en-US" sz="1100" b="1" i="0">
              <a:latin typeface="맑은 고딕"/>
              <a:ea typeface="맑은 고딕"/>
            </a:endParaRPr>
          </a:p>
          <a:p>
            <a:pPr>
              <a:lnSpc>
                <a:spcPct val="112000"/>
              </a:lnSpc>
              <a:spcBef>
                <a:spcPts val="0"/>
              </a:spcBef>
              <a:spcAft>
                <a:spcPts val="500"/>
              </a:spcAft>
              <a:defRPr/>
            </a:pPr>
            <a:r>
              <a:rPr lang="en-US" altLang="ko-KR" sz="1100" b="1" i="0">
                <a:latin typeface="맑은 고딕"/>
                <a:ea typeface="맑은 고딕"/>
              </a:rPr>
              <a:t>4</a:t>
            </a:r>
            <a:r>
              <a:rPr sz="1100" b="1" i="0">
                <a:latin typeface="맑은 고딕"/>
                <a:ea typeface="맑은 고딕"/>
              </a:rPr>
              <a:t>.</a:t>
            </a:r>
            <a:r>
              <a:rPr lang="en-US" altLang="ko-KR" sz="1100" b="1" i="0">
                <a:latin typeface="맑은 고딕"/>
                <a:ea typeface="맑은 고딕"/>
              </a:rPr>
              <a:t>3</a:t>
            </a:r>
            <a:r>
              <a:rPr sz="1100" b="1" i="0">
                <a:latin typeface="맑은 고딕"/>
                <a:ea typeface="맑은 고딕"/>
              </a:rPr>
              <a:t>  </a:t>
            </a:r>
            <a:r>
              <a:rPr lang="ko-KR" altLang="en-US" sz="1100" b="1" i="0">
                <a:latin typeface="맑은 고딕"/>
                <a:ea typeface="맑은 고딕"/>
              </a:rPr>
              <a:t>시나리오 분석 </a:t>
            </a:r>
            <a:r>
              <a:rPr lang="en-US" altLang="ko-KR" sz="1100" b="1" i="0">
                <a:latin typeface="맑은 고딕"/>
                <a:ea typeface="맑은 고딕"/>
              </a:rPr>
              <a:t>(Bear/Base/Bull)</a:t>
            </a:r>
          </a:p>
        </p:txBody>
      </p:sp>
      <p:sp>
        <p:nvSpPr>
          <p:cNvPr id="37" name="TextBox 6"/>
          <p:cNvSpPr txBox="1"/>
          <p:nvPr/>
        </p:nvSpPr>
        <p:spPr>
          <a:xfrm>
            <a:off x="996341" y="5184600"/>
            <a:ext cx="5468645" cy="901874"/>
          </a:xfrm>
          <a:prstGeom prst="rect">
            <a:avLst/>
          </a:prstGeom>
          <a:noFill/>
        </p:spPr>
        <p:txBody>
          <a:bodyPr wrap="square" lIns="0" tIns="0" rIns="0" bIns="0" anchor="t">
            <a:spAutoFit/>
          </a:bodyPr>
          <a:lstStyle/>
          <a:p>
            <a:pPr algn="just">
              <a:lnSpc>
                <a:spcPct val="132000"/>
              </a:lnSpc>
              <a:spcBef>
                <a:spcPts val="0"/>
              </a:spcBef>
              <a:spcAft>
                <a:spcPts val="900"/>
              </a:spcAft>
              <a:defRPr/>
            </a:pPr>
            <a:r>
              <a:rPr lang="ko-KR" altLang="en-US" sz="900" i="0">
                <a:solidFill>
                  <a:srgbClr val="222222"/>
                </a:solidFill>
                <a:latin typeface="맑은 고딕"/>
                <a:ea typeface="맑은 고딕"/>
              </a:rPr>
              <a:t>목표주가는 2027년 추정 BPS 274,476원에 시나리오별 Target PBR을 적용해 산출하였다. 기준일 현재 종가 412,500원은 한국 2차전지 셀메이커 정상사이클 PBR 밴드 하단(1.5x)에 근접해 있어 하방이 구조적으로 제한된 진입 구간으로 판단하였으며, Bear 시나리오 조차 -0.2%에 그쳐 현 주가 수준에서 추가 하락 여력은 제한적이다.</a:t>
            </a:r>
            <a:r>
              <a:rPr lang="en-US" altLang="ko-KR" sz="900" i="0">
                <a:solidFill>
                  <a:srgbClr val="222222"/>
                </a:solidFill>
                <a:latin typeface="맑은 고딕"/>
                <a:ea typeface="맑은 고딕"/>
              </a:rPr>
              <a:t> 이를 통해 현 주가는 Bear 시나리오 대비 사실상 하방이 제한되어 있으며, Base 이상의 정상화 시나리오에서 유의미한 상승 여력이 존재한다고 판단하였다.</a:t>
            </a:r>
          </a:p>
        </p:txBody>
      </p:sp>
      <p:sp>
        <p:nvSpPr>
          <p:cNvPr id="38" name="Rectangle 5"/>
          <p:cNvSpPr/>
          <p:nvPr/>
        </p:nvSpPr>
        <p:spPr>
          <a:xfrm>
            <a:off x="694451" y="6572250"/>
            <a:ext cx="5907248" cy="231463"/>
          </a:xfrm>
          <a:prstGeom prst="rect">
            <a:avLst/>
          </a:prstGeom>
          <a:solidFill>
            <a:srgbClr val="B8CCE5">
              <a:alpha val="100000"/>
            </a:srgbClr>
          </a:solidFill>
          <a:ln w="9525" cap="flat" cmpd="sng" algn="ctr">
            <a:noFill/>
            <a:prstDash val="solid"/>
          </a:ln>
          <a:effectLst/>
        </p:spPr>
        <p:txBody>
          <a:bodyPr anchor="ctr"/>
          <a:lstStyle/>
          <a:p>
            <a:pPr>
              <a:lnSpc>
                <a:spcPct val="112000"/>
              </a:lnSpc>
              <a:spcBef>
                <a:spcPts val="0"/>
              </a:spcBef>
              <a:spcAft>
                <a:spcPts val="500"/>
              </a:spcAft>
              <a:defRPr/>
            </a:pPr>
            <a:r>
              <a:rPr kumimoji="0" lang="ko-KR" altLang="en-US" sz="900" b="1" i="0" u="none" strike="noStrike" kern="1200" cap="none" spc="0" normalizeH="0" baseline="0">
                <a:solidFill>
                  <a:schemeClr val="tx1"/>
                </a:solidFill>
                <a:latin typeface="맑은 고딕"/>
              </a:rPr>
              <a:t>자료 29. 목표주가 산출  </a:t>
            </a:r>
          </a:p>
        </p:txBody>
      </p:sp>
      <p:sp>
        <p:nvSpPr>
          <p:cNvPr id="39" name="TextBox 4"/>
          <p:cNvSpPr txBox="1"/>
          <p:nvPr/>
        </p:nvSpPr>
        <p:spPr>
          <a:xfrm>
            <a:off x="1011877" y="6067425"/>
            <a:ext cx="4974241" cy="438150"/>
          </a:xfrm>
          <a:prstGeom prst="rect">
            <a:avLst/>
          </a:prstGeom>
          <a:noFill/>
        </p:spPr>
        <p:txBody>
          <a:bodyPr wrap="square" lIns="0" tIns="0" rIns="0" bIns="0" anchor="t">
            <a:spAutoFit/>
          </a:bodyPr>
          <a:lstStyle/>
          <a:p>
            <a:pPr>
              <a:lnSpc>
                <a:spcPct val="112000"/>
              </a:lnSpc>
              <a:spcBef>
                <a:spcPts val="0"/>
              </a:spcBef>
              <a:spcAft>
                <a:spcPts val="500"/>
              </a:spcAft>
              <a:defRPr/>
            </a:pPr>
            <a:endParaRPr lang="en-US" sz="1100" b="1" i="0">
              <a:latin typeface="맑은 고딕"/>
              <a:ea typeface="맑은 고딕"/>
            </a:endParaRPr>
          </a:p>
          <a:p>
            <a:pPr>
              <a:lnSpc>
                <a:spcPct val="112000"/>
              </a:lnSpc>
              <a:spcBef>
                <a:spcPts val="0"/>
              </a:spcBef>
              <a:spcAft>
                <a:spcPts val="500"/>
              </a:spcAft>
              <a:defRPr/>
            </a:pPr>
            <a:r>
              <a:rPr lang="en-US" altLang="ko-KR" sz="1100" b="1" i="0">
                <a:latin typeface="맑은 고딕"/>
                <a:ea typeface="맑은 고딕"/>
              </a:rPr>
              <a:t>4</a:t>
            </a:r>
            <a:r>
              <a:rPr sz="1100" b="1" i="0">
                <a:latin typeface="맑은 고딕"/>
                <a:ea typeface="맑은 고딕"/>
              </a:rPr>
              <a:t>.</a:t>
            </a:r>
            <a:r>
              <a:rPr lang="en-US" altLang="ko-KR" sz="1100" b="1" i="0">
                <a:latin typeface="맑은 고딕"/>
                <a:ea typeface="맑은 고딕"/>
              </a:rPr>
              <a:t>4</a:t>
            </a:r>
            <a:r>
              <a:rPr sz="1100" b="1" i="0">
                <a:latin typeface="맑은 고딕"/>
                <a:ea typeface="맑은 고딕"/>
              </a:rPr>
              <a:t>  </a:t>
            </a:r>
            <a:r>
              <a:rPr lang="ko-KR" altLang="en-US" sz="1100" b="1" i="0">
                <a:latin typeface="맑은 고딕"/>
                <a:ea typeface="맑은 고딕"/>
              </a:rPr>
              <a:t>목표주가 산출</a:t>
            </a:r>
          </a:p>
        </p:txBody>
      </p:sp>
      <p:graphicFrame>
        <p:nvGraphicFramePr>
          <p:cNvPr id="43" name="표 42"/>
          <p:cNvGraphicFramePr>
            <a:graphicFrameLocks noGrp="1"/>
          </p:cNvGraphicFramePr>
          <p:nvPr/>
        </p:nvGraphicFramePr>
        <p:xfrm>
          <a:off x="694451" y="6803713"/>
          <a:ext cx="5909309" cy="1862016"/>
        </p:xfrm>
        <a:graphic>
          <a:graphicData uri="http://schemas.openxmlformats.org/drawingml/2006/table">
            <a:tbl>
              <a:tblPr firstRow="1" bandRow="1"/>
              <a:tblGrid>
                <a:gridCol w="2954655">
                  <a:extLst>
                    <a:ext uri="{9D8B030D-6E8A-4147-A177-3AD203B41FA5}">
                      <a16:colId xmlns:a16="http://schemas.microsoft.com/office/drawing/2014/main" val="20000"/>
                    </a:ext>
                  </a:extLst>
                </a:gridCol>
                <a:gridCol w="2954654">
                  <a:extLst>
                    <a:ext uri="{9D8B030D-6E8A-4147-A177-3AD203B41FA5}">
                      <a16:colId xmlns:a16="http://schemas.microsoft.com/office/drawing/2014/main" val="20001"/>
                    </a:ext>
                  </a:extLst>
                </a:gridCol>
              </a:tblGrid>
              <a:tr h="234136">
                <a:tc>
                  <a:txBody>
                    <a:bodyPr/>
                    <a:lstStyle/>
                    <a:p>
                      <a:pPr>
                        <a:defRPr/>
                      </a:pPr>
                      <a:r>
                        <a:rPr lang="ko-KR" altLang="en-US" sz="900">
                          <a:latin typeface="맑은 고딕"/>
                        </a:rPr>
                        <a:t>구분</a:t>
                      </a:r>
                    </a:p>
                  </a:txBody>
                  <a:tcPr/>
                </a:tc>
                <a:tc>
                  <a:txBody>
                    <a:bodyPr/>
                    <a:lstStyle/>
                    <a:p>
                      <a:pPr>
                        <a:defRPr/>
                      </a:pPr>
                      <a:r>
                        <a:rPr lang="ko-KR" altLang="en-US" sz="900"/>
                        <a:t>내용</a:t>
                      </a:r>
                    </a:p>
                  </a:txBody>
                  <a:tcPr/>
                </a:tc>
                <a:extLst>
                  <a:ext uri="{0D108BD9-81ED-4DB2-BD59-A6C34878D82A}">
                    <a16:rowId xmlns:a16="http://schemas.microsoft.com/office/drawing/2014/main" val="10000"/>
                  </a:ext>
                </a:extLst>
              </a:tr>
              <a:tr h="225235">
                <a:tc>
                  <a:txBody>
                    <a:bodyPr/>
                    <a:lstStyle/>
                    <a:p>
                      <a:pPr>
                        <a:defRPr/>
                      </a:pPr>
                      <a:r>
                        <a:rPr lang="en-US" altLang="ko-KR" sz="900">
                          <a:latin typeface="맑은 고딕"/>
                        </a:rPr>
                        <a:t>2027F </a:t>
                      </a:r>
                      <a:r>
                        <a:rPr lang="ko-KR" altLang="en-US" sz="900">
                          <a:latin typeface="맑은 고딕"/>
                        </a:rPr>
                        <a:t>추정 순이익</a:t>
                      </a:r>
                      <a:r>
                        <a:rPr lang="en-US" altLang="ko-KR" sz="900">
                          <a:latin typeface="맑은 고딕"/>
                        </a:rPr>
                        <a:t> (</a:t>
                      </a:r>
                      <a:r>
                        <a:rPr lang="ko-KR" altLang="en-US" sz="900">
                          <a:latin typeface="맑은 고딕"/>
                        </a:rPr>
                        <a:t>조원</a:t>
                      </a:r>
                      <a:r>
                        <a:rPr lang="en-US" altLang="ko-KR" sz="900">
                          <a:latin typeface="맑은 고딕"/>
                        </a:rPr>
                        <a:t>)</a:t>
                      </a:r>
                    </a:p>
                  </a:txBody>
                  <a:tcPr/>
                </a:tc>
                <a:tc>
                  <a:txBody>
                    <a:bodyPr/>
                    <a:lstStyle/>
                    <a:p>
                      <a:pPr>
                        <a:defRPr/>
                      </a:pPr>
                      <a:r>
                        <a:rPr lang="en-US" altLang="ko-KR" sz="900">
                          <a:latin typeface="맑은 고딕"/>
                        </a:rPr>
                        <a:t>0.86</a:t>
                      </a:r>
                    </a:p>
                  </a:txBody>
                  <a:tcPr/>
                </a:tc>
                <a:extLst>
                  <a:ext uri="{0D108BD9-81ED-4DB2-BD59-A6C34878D82A}">
                    <a16:rowId xmlns:a16="http://schemas.microsoft.com/office/drawing/2014/main" val="10001"/>
                  </a:ext>
                </a:extLst>
              </a:tr>
              <a:tr h="0">
                <a:tc>
                  <a:txBody>
                    <a:bodyPr/>
                    <a:lstStyle/>
                    <a:p>
                      <a:pPr>
                        <a:defRPr/>
                      </a:pPr>
                      <a:r>
                        <a:rPr lang="en-US" altLang="ko-KR" sz="900">
                          <a:latin typeface="맑은 고딕"/>
                        </a:rPr>
                        <a:t>2027F </a:t>
                      </a:r>
                      <a:r>
                        <a:rPr lang="ko-KR" altLang="en-US" sz="900">
                          <a:latin typeface="맑은 고딕"/>
                        </a:rPr>
                        <a:t>자본총계</a:t>
                      </a:r>
                      <a:r>
                        <a:rPr lang="en-US" altLang="ko-KR" sz="900">
                          <a:latin typeface="맑은 고딕"/>
                        </a:rPr>
                        <a:t> (</a:t>
                      </a:r>
                      <a:r>
                        <a:rPr lang="ko-KR" altLang="en-US" sz="900">
                          <a:latin typeface="맑은 고딕"/>
                        </a:rPr>
                        <a:t>조원</a:t>
                      </a:r>
                      <a:r>
                        <a:rPr lang="en-US" altLang="ko-KR" sz="900">
                          <a:latin typeface="맑은 고딕"/>
                        </a:rPr>
                        <a:t>)</a:t>
                      </a:r>
                    </a:p>
                  </a:txBody>
                  <a:tcPr/>
                </a:tc>
                <a:tc>
                  <a:txBody>
                    <a:bodyPr/>
                    <a:lstStyle/>
                    <a:p>
                      <a:pPr>
                        <a:defRPr/>
                      </a:pPr>
                      <a:r>
                        <a:rPr lang="en-US" altLang="ko-KR" sz="900">
                          <a:latin typeface="맑은 고딕"/>
                        </a:rPr>
                        <a:t>22.12</a:t>
                      </a:r>
                    </a:p>
                  </a:txBody>
                  <a:tcPr/>
                </a:tc>
                <a:extLst>
                  <a:ext uri="{0D108BD9-81ED-4DB2-BD59-A6C34878D82A}">
                    <a16:rowId xmlns:a16="http://schemas.microsoft.com/office/drawing/2014/main" val="10002"/>
                  </a:ext>
                </a:extLst>
              </a:tr>
              <a:tr h="234136">
                <a:tc>
                  <a:txBody>
                    <a:bodyPr/>
                    <a:lstStyle/>
                    <a:p>
                      <a:pPr>
                        <a:defRPr/>
                      </a:pPr>
                      <a:r>
                        <a:rPr lang="en-US" altLang="ko-KR" sz="900">
                          <a:latin typeface="맑은 고딕"/>
                        </a:rPr>
                        <a:t>2027F </a:t>
                      </a:r>
                      <a:r>
                        <a:rPr lang="ko-KR" altLang="en-US" sz="900">
                          <a:latin typeface="맑은 고딕"/>
                        </a:rPr>
                        <a:t>추정 </a:t>
                      </a:r>
                      <a:r>
                        <a:rPr lang="en-US" altLang="ko-KR" sz="900">
                          <a:latin typeface="맑은 고딕"/>
                        </a:rPr>
                        <a:t>BPS (</a:t>
                      </a:r>
                      <a:r>
                        <a:rPr lang="ko-KR" altLang="en-US" sz="900">
                          <a:latin typeface="맑은 고딕"/>
                        </a:rPr>
                        <a:t>원</a:t>
                      </a:r>
                      <a:r>
                        <a:rPr lang="en-US" altLang="ko-KR" sz="900">
                          <a:latin typeface="맑은 고딕"/>
                        </a:rPr>
                        <a:t>)</a:t>
                      </a:r>
                    </a:p>
                  </a:txBody>
                  <a:tcPr/>
                </a:tc>
                <a:tc>
                  <a:txBody>
                    <a:bodyPr/>
                    <a:lstStyle/>
                    <a:p>
                      <a:pPr>
                        <a:defRPr/>
                      </a:pPr>
                      <a:r>
                        <a:rPr lang="en-US" altLang="ko-KR" sz="900">
                          <a:latin typeface="맑은 고딕"/>
                        </a:rPr>
                        <a:t>274,476</a:t>
                      </a:r>
                    </a:p>
                  </a:txBody>
                  <a:tcPr/>
                </a:tc>
                <a:extLst>
                  <a:ext uri="{0D108BD9-81ED-4DB2-BD59-A6C34878D82A}">
                    <a16:rowId xmlns:a16="http://schemas.microsoft.com/office/drawing/2014/main" val="10003"/>
                  </a:ext>
                </a:extLst>
              </a:tr>
              <a:tr h="234136">
                <a:tc>
                  <a:txBody>
                    <a:bodyPr/>
                    <a:lstStyle/>
                    <a:p>
                      <a:pPr>
                        <a:defRPr/>
                      </a:pPr>
                      <a:r>
                        <a:rPr lang="en-US" altLang="ko-KR" sz="900">
                          <a:latin typeface="맑은 고딕"/>
                        </a:rPr>
                        <a:t>2027F</a:t>
                      </a:r>
                      <a:r>
                        <a:rPr lang="ko-KR" altLang="en-US" sz="900">
                          <a:latin typeface="맑은 고딕"/>
                        </a:rPr>
                        <a:t> 정상화 </a:t>
                      </a:r>
                      <a:r>
                        <a:rPr lang="en-US" altLang="ko-KR" sz="900">
                          <a:latin typeface="맑은 고딕"/>
                        </a:rPr>
                        <a:t>ROE</a:t>
                      </a:r>
                    </a:p>
                  </a:txBody>
                  <a:tcPr/>
                </a:tc>
                <a:tc>
                  <a:txBody>
                    <a:bodyPr/>
                    <a:lstStyle/>
                    <a:p>
                      <a:pPr>
                        <a:defRPr/>
                      </a:pPr>
                      <a:r>
                        <a:rPr lang="en-US" altLang="ko-KR" sz="900">
                          <a:latin typeface="맑은 고딕"/>
                        </a:rPr>
                        <a:t>3.9%</a:t>
                      </a:r>
                    </a:p>
                  </a:txBody>
                  <a:tcPr/>
                </a:tc>
                <a:extLst>
                  <a:ext uri="{0D108BD9-81ED-4DB2-BD59-A6C34878D82A}">
                    <a16:rowId xmlns:a16="http://schemas.microsoft.com/office/drawing/2014/main" val="10004"/>
                  </a:ext>
                </a:extLst>
              </a:tr>
              <a:tr h="234136">
                <a:tc>
                  <a:txBody>
                    <a:bodyPr/>
                    <a:lstStyle/>
                    <a:p>
                      <a:pPr>
                        <a:defRPr/>
                      </a:pPr>
                      <a:r>
                        <a:rPr lang="en-US" altLang="ko-KR" sz="900">
                          <a:latin typeface="맑은 고딕"/>
                        </a:rPr>
                        <a:t>Target PBR (Base)</a:t>
                      </a:r>
                    </a:p>
                  </a:txBody>
                  <a:tcPr/>
                </a:tc>
                <a:tc>
                  <a:txBody>
                    <a:bodyPr/>
                    <a:lstStyle/>
                    <a:p>
                      <a:pPr>
                        <a:defRPr/>
                      </a:pPr>
                      <a:r>
                        <a:rPr lang="en-US" altLang="ko-KR" sz="900">
                          <a:latin typeface="맑은 고딕"/>
                        </a:rPr>
                        <a:t>2.2x</a:t>
                      </a:r>
                    </a:p>
                  </a:txBody>
                  <a:tcPr/>
                </a:tc>
                <a:extLst>
                  <a:ext uri="{0D108BD9-81ED-4DB2-BD59-A6C34878D82A}">
                    <a16:rowId xmlns:a16="http://schemas.microsoft.com/office/drawing/2014/main" val="10005"/>
                  </a:ext>
                </a:extLst>
              </a:tr>
              <a:tr h="234136">
                <a:tc>
                  <a:txBody>
                    <a:bodyPr/>
                    <a:lstStyle/>
                    <a:p>
                      <a:pPr>
                        <a:defRPr/>
                      </a:pPr>
                      <a:r>
                        <a:rPr lang="ko-KR" altLang="en-US" sz="900">
                          <a:latin typeface="맑은 고딕"/>
                        </a:rPr>
                        <a:t>목표주가 </a:t>
                      </a:r>
                      <a:r>
                        <a:rPr lang="en-US" altLang="ko-KR" sz="900">
                          <a:latin typeface="맑은 고딕"/>
                        </a:rPr>
                        <a:t>(</a:t>
                      </a:r>
                      <a:r>
                        <a:rPr lang="ko-KR" altLang="en-US" sz="900">
                          <a:latin typeface="맑은 고딕"/>
                        </a:rPr>
                        <a:t>원</a:t>
                      </a:r>
                      <a:r>
                        <a:rPr lang="en-US" altLang="ko-KR" sz="900">
                          <a:latin typeface="맑은 고딕"/>
                        </a:rPr>
                        <a:t>)</a:t>
                      </a:r>
                    </a:p>
                  </a:txBody>
                  <a:tcPr/>
                </a:tc>
                <a:tc>
                  <a:txBody>
                    <a:bodyPr/>
                    <a:lstStyle/>
                    <a:p>
                      <a:pPr>
                        <a:defRPr/>
                      </a:pPr>
                      <a:r>
                        <a:rPr lang="en-US" altLang="ko-KR" sz="900">
                          <a:latin typeface="맑은 고딕"/>
                        </a:rPr>
                        <a:t>603,850</a:t>
                      </a:r>
                    </a:p>
                  </a:txBody>
                  <a:tcPr/>
                </a:tc>
                <a:extLst>
                  <a:ext uri="{0D108BD9-81ED-4DB2-BD59-A6C34878D82A}">
                    <a16:rowId xmlns:a16="http://schemas.microsoft.com/office/drawing/2014/main" val="10006"/>
                  </a:ext>
                </a:extLst>
              </a:tr>
              <a:tr h="234136">
                <a:tc>
                  <a:txBody>
                    <a:bodyPr/>
                    <a:lstStyle/>
                    <a:p>
                      <a:pPr>
                        <a:defRPr/>
                      </a:pPr>
                      <a:r>
                        <a:rPr lang="ko-KR" altLang="en-US" sz="900">
                          <a:latin typeface="맑은 고딕"/>
                        </a:rPr>
                        <a:t>상승여력</a:t>
                      </a:r>
                    </a:p>
                  </a:txBody>
                  <a:tcPr/>
                </a:tc>
                <a:tc>
                  <a:txBody>
                    <a:bodyPr/>
                    <a:lstStyle/>
                    <a:p>
                      <a:pPr>
                        <a:defRPr/>
                      </a:pPr>
                      <a:r>
                        <a:rPr lang="en-US" altLang="ko-KR" sz="900">
                          <a:latin typeface="맑은 고딕"/>
                        </a:rPr>
                        <a:t>+46.4%</a:t>
                      </a:r>
                    </a:p>
                  </a:txBody>
                  <a:tcPr/>
                </a:tc>
                <a:extLst>
                  <a:ext uri="{0D108BD9-81ED-4DB2-BD59-A6C34878D82A}">
                    <a16:rowId xmlns:a16="http://schemas.microsoft.com/office/drawing/2014/main" val="10007"/>
                  </a:ext>
                </a:extLst>
              </a:tr>
            </a:tbl>
          </a:graphicData>
        </a:graphic>
      </p:graphicFrame>
      <p:sp>
        <p:nvSpPr>
          <p:cNvPr id="44" name="TextBox 15"/>
          <p:cNvSpPr txBox="1"/>
          <p:nvPr/>
        </p:nvSpPr>
        <p:spPr>
          <a:xfrm>
            <a:off x="694451" y="8769237"/>
            <a:ext cx="5907247" cy="118835"/>
          </a:xfrm>
          <a:prstGeom prst="rect">
            <a:avLst/>
          </a:prstGeom>
          <a:noFill/>
        </p:spPr>
        <p:txBody>
          <a:bodyPr wrap="square" lIns="0" tIns="0" rIns="0" bIns="0" anchor="t">
            <a:spAutoFit/>
          </a:bodyPr>
          <a:lstStyle/>
          <a:p>
            <a:pPr marL="0" indent="0" algn="l" defTabSz="457200" rtl="0" eaLnBrk="1" latinLnBrk="0" hangingPunct="1">
              <a:lnSpc>
                <a:spcPct val="112000"/>
              </a:lnSpc>
              <a:spcBef>
                <a:spcPts val="0"/>
              </a:spcBef>
              <a:spcAft>
                <a:spcPts val="0"/>
              </a:spcAft>
              <a:buNone/>
              <a:defRPr/>
            </a:pPr>
            <a:r>
              <a:rPr kumimoji="0" sz="750" b="0" i="1" u="none" strike="noStrike" kern="1200" cap="none" spc="0" normalizeH="0" baseline="0">
                <a:solidFill>
                  <a:srgbClr val="6b7785"/>
                </a:solidFill>
                <a:latin typeface="맑은 고딕"/>
              </a:rPr>
              <a:t>출처: </a:t>
            </a:r>
            <a:r>
              <a:rPr kumimoji="0" lang="en-US" altLang="ko-KR" sz="750" b="0" i="1" u="none" strike="noStrike" kern="1200" cap="none" spc="0" normalizeH="0" baseline="0">
                <a:solidFill>
                  <a:srgbClr val="6b7785"/>
                </a:solidFill>
                <a:latin typeface="맑은 고딕"/>
              </a:rPr>
              <a:t>ICOK</a:t>
            </a:r>
            <a:r>
              <a:rPr kumimoji="0" lang="ko-KR" altLang="en-US" sz="750" b="0" i="1" u="none" strike="noStrike" kern="1200" cap="none" spc="0" normalizeH="0" baseline="0">
                <a:solidFill>
                  <a:srgbClr val="6b7785"/>
                </a:solidFill>
                <a:latin typeface="맑은 고딕"/>
              </a:rPr>
              <a:t> 추정</a:t>
            </a:r>
            <a:endParaRPr kumimoji="0" lang="en-US" altLang="ko-KR" sz="750" b="0" i="1" u="none" strike="noStrike" kern="1200" cap="none" spc="0" normalizeH="0" baseline="0">
              <a:solidFill>
                <a:srgbClr val="6b7785"/>
              </a:solidFill>
              <a:latin typeface="맑은 고딕"/>
            </a:endParaRPr>
          </a:p>
        </p:txBody>
      </p:sp>
      <p:sp>
        <p:nvSpPr>
          <p:cNvPr id="45" name="TextBox 44"/>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20</a:t>
            </a:r>
          </a:p>
        </p:txBody>
      </p:sp>
    </p:spTree>
    <p:extLst>
      <p:ext uri="{BB962C8B-B14F-4D97-AF65-F5344CB8AC3E}">
        <p14:creationId xmlns:p14="http://schemas.microsoft.com/office/powerpoint/2010/main" val="706621025"/>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828800" cy="158877"/>
          </a:xfrm>
          <a:prstGeom prst="rect">
            <a:avLst/>
          </a:prstGeom>
          <a:noFill/>
        </p:spPr>
        <p:txBody>
          <a:bodyPr wrap="square" lIns="0" tIns="0" rIns="0" bIns="0" anchor="t">
            <a:spAutoFit/>
          </a:bodyPr>
          <a:lstStyle/>
          <a:p>
            <a:pPr>
              <a:lnSpc>
                <a:spcPct val="112000"/>
              </a:lnSpc>
              <a:spcBef>
                <a:spcPts val="0"/>
              </a:spcBef>
              <a:spcAft>
                <a:spcPts val="500"/>
              </a:spcAft>
              <a:defRPr/>
            </a:pPr>
            <a:r>
              <a:rPr lang="en-US" altLang="ko-KR" sz="950" b="1" i="0">
                <a:solidFill>
                  <a:srgbClr val="003A75"/>
                </a:solidFill>
                <a:latin typeface="맑은 고딕"/>
              </a:rPr>
              <a:t>Valuation</a:t>
            </a:r>
          </a:p>
        </p:txBody>
      </p:sp>
      <p:sp>
        <p:nvSpPr>
          <p:cNvPr id="3" name="TextBox 2"/>
          <p:cNvSpPr txBox="1"/>
          <p:nvPr/>
        </p:nvSpPr>
        <p:spPr>
          <a:xfrm>
            <a:off x="2743200" y="384048"/>
            <a:ext cx="3657600" cy="149352"/>
          </a:xfrm>
          <a:prstGeom prst="rect">
            <a:avLst/>
          </a:prstGeom>
          <a:noFill/>
        </p:spPr>
        <p:txBody>
          <a:bodyPr wrap="square" lIns="0" tIns="0" rIns="0" bIns="0" anchor="t">
            <a:spAutoFit/>
          </a:bodyPr>
          <a:lstStyle/>
          <a:p>
            <a:pPr algn="r">
              <a:lnSpc>
                <a:spcPct val="112000"/>
              </a:lnSpc>
              <a:spcBef>
                <a:spcPts val="0"/>
              </a:spcBef>
              <a:spcAft>
                <a:spcPts val="500"/>
              </a:spcAft>
              <a:defRPr/>
            </a:pPr>
            <a:r>
              <a:rPr sz="900" b="0" i="0">
                <a:solidFill>
                  <a:srgbClr val="6B7785"/>
                </a:solidFill>
                <a:latin typeface="맑은 고딕"/>
              </a:rPr>
              <a:t>Company Research Report  |  삼성SDI (006400)</a:t>
            </a:r>
          </a:p>
        </p:txBody>
      </p:sp>
      <p:sp>
        <p:nvSpPr>
          <p:cNvPr id="4" name="Rectangle 3"/>
          <p:cNvSpPr/>
          <p:nvPr/>
        </p:nvSpPr>
        <p:spPr>
          <a:xfrm>
            <a:off x="457200" y="640080"/>
            <a:ext cx="5943600" cy="16459"/>
          </a:xfrm>
          <a:prstGeom prst="rect">
            <a:avLst/>
          </a:prstGeom>
          <a:solidFill>
            <a:srgbClr val="003A7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a:p>
        </p:txBody>
      </p:sp>
      <p:sp>
        <p:nvSpPr>
          <p:cNvPr id="7" name="TextBox 6"/>
          <p:cNvSpPr txBox="1"/>
          <p:nvPr/>
        </p:nvSpPr>
        <p:spPr>
          <a:xfrm>
            <a:off x="996341" y="843645"/>
            <a:ext cx="5468645" cy="1261380"/>
          </a:xfrm>
          <a:prstGeom prst="rect">
            <a:avLst/>
          </a:prstGeom>
          <a:noFill/>
        </p:spPr>
        <p:txBody>
          <a:bodyPr wrap="square" lIns="0" tIns="0" rIns="0" bIns="0" anchor="t">
            <a:spAutoFit/>
          </a:bodyPr>
          <a:lstStyle/>
          <a:p>
            <a:pPr algn="just">
              <a:lnSpc>
                <a:spcPct val="132000"/>
              </a:lnSpc>
              <a:spcBef>
                <a:spcPts val="0"/>
              </a:spcBef>
              <a:spcAft>
                <a:spcPts val="900"/>
              </a:spcAft>
              <a:defRPr/>
            </a:pPr>
            <a:r>
              <a:rPr lang="ko-KR" altLang="en-US" sz="900" i="0">
                <a:solidFill>
                  <a:srgbClr val="222222"/>
                </a:solidFill>
                <a:latin typeface="맑은 고딕"/>
                <a:ea typeface="맑은 고딕"/>
              </a:rPr>
              <a:t>목표주가 산출의 메인 방법론으로 PBR-ROE를 채택하였으며, EV/EBITDA를 교차검증으로 병행하였다. 2027년 정상화 ROE는 추정 순이익 0.86조 원과 자본총계 22.12조 원을 기반으로 3.9%로 도출하였으며, 이는 과거 정상사이클(2021~2023년) 두 자릿수 ROE 대비 아직 회복 초입 수준임을 반영한다. 정상화 ROE가 Gordon 성장모형의 수렴 불안정 구간에 위치하는 점을 감안해 이론적 Target PBR 산출 대신, 시장이 실제로 부여하는 정상 사이클 PBR 밴드(1.5x~2.8x)를 시나리오별로 적용하였다. Base 시나리오 기준 Target PBR 2.2x에 2027년 BPS 274,476원을 대입해 목표주가 603,850원(상승여력 +46.4%)을 산출하였으며, 투자의견 BUY를 제시한다.</a:t>
            </a:r>
          </a:p>
        </p:txBody>
      </p:sp>
      <p:sp>
        <p:nvSpPr>
          <p:cNvPr id="32" name="Rectangle 5"/>
          <p:cNvSpPr/>
          <p:nvPr/>
        </p:nvSpPr>
        <p:spPr>
          <a:xfrm>
            <a:off x="694451" y="2827241"/>
            <a:ext cx="5907248" cy="231463"/>
          </a:xfrm>
          <a:prstGeom prst="rect">
            <a:avLst/>
          </a:prstGeom>
          <a:solidFill>
            <a:srgbClr val="b8cce5">
              <a:alpha val="100000"/>
            </a:srgbClr>
          </a:solidFill>
          <a:ln w="9525" cap="flat" cmpd="sng" algn="ctr">
            <a:noFill/>
            <a:prstDash val="solid"/>
          </a:ln>
          <a:effectLst/>
        </p:spPr>
        <p:txBody>
          <a:bodyPr anchor="ctr"/>
          <a:lstStyle/>
          <a:p>
            <a:pPr>
              <a:lnSpc>
                <a:spcPct val="112000"/>
              </a:lnSpc>
              <a:spcBef>
                <a:spcPts val="0"/>
              </a:spcBef>
              <a:spcAft>
                <a:spcPts val="500"/>
              </a:spcAft>
              <a:defRPr/>
            </a:pPr>
            <a:r>
              <a:rPr kumimoji="0" lang="ko-KR" altLang="en-US" sz="900" b="1" i="0" u="none" strike="noStrike" kern="1200" cap="none" spc="0" normalizeH="0" baseline="0">
                <a:solidFill>
                  <a:schemeClr val="tx1"/>
                </a:solidFill>
                <a:latin typeface="맑은 고딕"/>
              </a:rPr>
              <a:t>자료 30. Peer Multiple 비교 (기준일 2026-03-30)  </a:t>
            </a:r>
            <a:endParaRPr kumimoji="0" lang="ko-KR" altLang="en-US" sz="900" b="1" i="0" u="none" strike="noStrike" kern="1200" cap="none" spc="0" normalizeH="0" baseline="0">
              <a:solidFill>
                <a:schemeClr val="tx1"/>
              </a:solidFill>
              <a:latin typeface="맑은 고딕"/>
            </a:endParaRPr>
          </a:p>
        </p:txBody>
      </p:sp>
      <p:sp>
        <p:nvSpPr>
          <p:cNvPr id="34" name="TextBox 15"/>
          <p:cNvSpPr txBox="1"/>
          <p:nvPr/>
        </p:nvSpPr>
        <p:spPr>
          <a:xfrm>
            <a:off x="694451" y="6120040"/>
            <a:ext cx="5907247" cy="252185"/>
          </a:xfrm>
          <a:prstGeom prst="rect">
            <a:avLst/>
          </a:prstGeom>
          <a:noFill/>
        </p:spPr>
        <p:txBody>
          <a:bodyPr wrap="square" lIns="0" tIns="0" rIns="0" bIns="0" anchor="t">
            <a:spAutoFit/>
          </a:bodyPr>
          <a:lstStyle/>
          <a:p>
            <a:pPr marL="0" indent="0" algn="l" defTabSz="457200" rtl="0" eaLnBrk="1" latinLnBrk="0" hangingPunct="1">
              <a:lnSpc>
                <a:spcPct val="112000"/>
              </a:lnSpc>
              <a:spcBef>
                <a:spcPts val="0"/>
              </a:spcBef>
              <a:spcAft>
                <a:spcPts val="0"/>
              </a:spcAft>
              <a:buNone/>
              <a:defRPr/>
            </a:pPr>
            <a:r>
              <a:rPr kumimoji="0" sz="750" b="0" i="1" u="none" strike="noStrike" kern="1200" cap="none" spc="0" normalizeH="0" baseline="0">
                <a:solidFill>
                  <a:srgbClr val="6b7785"/>
                </a:solidFill>
                <a:latin typeface="맑은 고딕"/>
              </a:rPr>
              <a:t>출처: </a:t>
            </a:r>
            <a:r>
              <a:rPr kumimoji="0" lang="ko-KR" altLang="en-US" sz="750" b="0" i="1" u="none" strike="noStrike" kern="1200" cap="none" spc="0" normalizeH="0" baseline="0">
                <a:solidFill>
                  <a:srgbClr val="6b7785"/>
                </a:solidFill>
                <a:latin typeface="맑은 고딕"/>
              </a:rPr>
              <a:t>삼성SDI · LG에너지솔루션·CATL (DART·FnGuide·거래소 공시) 시세·재무</a:t>
            </a:r>
            <a:r>
              <a:rPr kumimoji="0" lang="en-US" altLang="ko-KR" sz="750" b="0" i="1" u="none" strike="noStrike" kern="1200" cap="none" spc="0" normalizeH="0" baseline="0">
                <a:solidFill>
                  <a:srgbClr val="6b7785"/>
                </a:solidFill>
                <a:latin typeface="맑은 고딕"/>
              </a:rPr>
              <a:t>.</a:t>
            </a:r>
            <a:r>
              <a:rPr kumimoji="0" lang="ko-KR" altLang="en-US" sz="750" b="0" i="1" u="none" strike="noStrike" kern="1200" cap="none" spc="0" normalizeH="0" baseline="0">
                <a:solidFill>
                  <a:srgbClr val="6b7785"/>
                </a:solidFill>
                <a:latin typeface="맑은 고딕"/>
              </a:rPr>
              <a:t> </a:t>
            </a:r>
            <a:endParaRPr kumimoji="0" lang="ko-KR" altLang="en-US" sz="750" b="0" i="1" u="none" strike="noStrike" kern="1200" cap="none" spc="0" normalizeH="0" baseline="0">
              <a:solidFill>
                <a:srgbClr val="6b7785"/>
              </a:solidFill>
              <a:latin typeface="맑은 고딕"/>
            </a:endParaRPr>
          </a:p>
          <a:p>
            <a:pPr marL="0" indent="0" algn="l" defTabSz="457200" rtl="0" eaLnBrk="1" latinLnBrk="0" hangingPunct="1">
              <a:lnSpc>
                <a:spcPct val="112000"/>
              </a:lnSpc>
              <a:spcBef>
                <a:spcPts val="0"/>
              </a:spcBef>
              <a:spcAft>
                <a:spcPts val="0"/>
              </a:spcAft>
              <a:buNone/>
              <a:defRPr/>
            </a:pPr>
            <a:r>
              <a:rPr kumimoji="0" lang="ko-KR" altLang="en-US" sz="750" b="0" i="1" u="none" strike="noStrike" kern="1200" cap="none" spc="0" normalizeH="0" baseline="0">
                <a:solidFill>
                  <a:srgbClr val="6b7785"/>
                </a:solidFill>
                <a:latin typeface="맑은 고딕"/>
              </a:rPr>
              <a:t>※ 삼성SDI trailing EV/EBITDA는 2025A EBITDA 바닥 왜곡으로 적용 불가 → 2027F 정상화 EBITDA 사용. </a:t>
            </a:r>
            <a:endParaRPr kumimoji="0" lang="ko-KR" altLang="en-US" sz="750" b="0" i="1" u="none" strike="noStrike" kern="1200" cap="none" spc="0" normalizeH="0" baseline="0">
              <a:solidFill>
                <a:srgbClr val="6b7785"/>
              </a:solidFill>
              <a:latin typeface="맑은 고딕"/>
            </a:endParaRPr>
          </a:p>
        </p:txBody>
      </p:sp>
      <p:sp>
        <p:nvSpPr>
          <p:cNvPr id="36" name="TextBox 4"/>
          <p:cNvSpPr txBox="1"/>
          <p:nvPr/>
        </p:nvSpPr>
        <p:spPr>
          <a:xfrm>
            <a:off x="1011877" y="2324100"/>
            <a:ext cx="4974241" cy="438150"/>
          </a:xfrm>
          <a:prstGeom prst="rect">
            <a:avLst/>
          </a:prstGeom>
          <a:noFill/>
        </p:spPr>
        <p:txBody>
          <a:bodyPr wrap="square" lIns="0" tIns="0" rIns="0" bIns="0" anchor="t">
            <a:spAutoFit/>
          </a:bodyPr>
          <a:lstStyle/>
          <a:p>
            <a:pPr>
              <a:lnSpc>
                <a:spcPct val="112000"/>
              </a:lnSpc>
              <a:spcBef>
                <a:spcPts val="0"/>
              </a:spcBef>
              <a:spcAft>
                <a:spcPts val="500"/>
              </a:spcAft>
              <a:defRPr/>
            </a:pPr>
            <a:endParaRPr lang="en-US" sz="1100" b="1" i="0">
              <a:latin typeface="맑은 고딕"/>
              <a:ea typeface="맑은 고딕"/>
            </a:endParaRPr>
          </a:p>
          <a:p>
            <a:pPr>
              <a:lnSpc>
                <a:spcPct val="112000"/>
              </a:lnSpc>
              <a:spcBef>
                <a:spcPts val="0"/>
              </a:spcBef>
              <a:spcAft>
                <a:spcPts val="500"/>
              </a:spcAft>
              <a:defRPr/>
            </a:pPr>
            <a:r>
              <a:rPr lang="en-US" altLang="ko-KR" sz="1100" b="1" i="0">
                <a:latin typeface="맑은 고딕"/>
                <a:ea typeface="맑은 고딕"/>
              </a:rPr>
              <a:t>4</a:t>
            </a:r>
            <a:r>
              <a:rPr sz="1100" b="1" i="0">
                <a:latin typeface="맑은 고딕"/>
                <a:ea typeface="맑은 고딕"/>
              </a:rPr>
              <a:t>.</a:t>
            </a:r>
            <a:r>
              <a:rPr lang="en-US" altLang="ko-KR" sz="1100" b="1" i="0">
                <a:latin typeface="맑은 고딕"/>
                <a:ea typeface="맑은 고딕"/>
              </a:rPr>
              <a:t>5</a:t>
            </a:r>
            <a:r>
              <a:rPr sz="1100" b="1" i="0">
                <a:latin typeface="맑은 고딕"/>
                <a:ea typeface="맑은 고딕"/>
              </a:rPr>
              <a:t>  </a:t>
            </a:r>
            <a:r>
              <a:rPr lang="en-US" altLang="ko-KR" sz="1100" b="1" i="0">
                <a:latin typeface="맑은 고딕"/>
                <a:ea typeface="맑은 고딕"/>
              </a:rPr>
              <a:t>Peer Multiple </a:t>
            </a:r>
            <a:r>
              <a:rPr lang="ko-KR" altLang="en-US" sz="1100" b="1" i="0">
                <a:latin typeface="맑은 고딕"/>
                <a:ea typeface="맑은 고딕"/>
              </a:rPr>
              <a:t>비교</a:t>
            </a:r>
            <a:endParaRPr lang="ko-KR" altLang="en-US" sz="1100" b="1" i="0">
              <a:latin typeface="맑은 고딕"/>
              <a:ea typeface="맑은 고딕"/>
            </a:endParaRPr>
          </a:p>
        </p:txBody>
      </p:sp>
      <p:sp>
        <p:nvSpPr>
          <p:cNvPr id="37" name="TextBox 6"/>
          <p:cNvSpPr txBox="1"/>
          <p:nvPr/>
        </p:nvSpPr>
        <p:spPr>
          <a:xfrm>
            <a:off x="996341" y="6480000"/>
            <a:ext cx="5468645" cy="720900"/>
          </a:xfrm>
          <a:prstGeom prst="rect">
            <a:avLst/>
          </a:prstGeom>
          <a:noFill/>
        </p:spPr>
        <p:txBody>
          <a:bodyPr wrap="square" lIns="0" tIns="0" rIns="0" bIns="0" anchor="t">
            <a:spAutoFit/>
          </a:bodyPr>
          <a:lstStyle/>
          <a:p>
            <a:pPr algn="just">
              <a:lnSpc>
                <a:spcPct val="132000"/>
              </a:lnSpc>
              <a:spcBef>
                <a:spcPts val="0"/>
              </a:spcBef>
              <a:spcAft>
                <a:spcPts val="900"/>
              </a:spcAft>
              <a:defRPr/>
            </a:pPr>
            <a:r>
              <a:rPr lang="ko-KR" altLang="en-US" sz="900" i="0">
                <a:solidFill>
                  <a:srgbClr val="222222"/>
                </a:solidFill>
                <a:latin typeface="맑은 고딕"/>
                <a:ea typeface="맑은 고딕"/>
              </a:rPr>
              <a:t>국내 비교기업이 부재한 점을 감안해 글로벌 2차전지 셀메이커인 LG에너지솔루션과 CATL을 비교 대상으로 선정하였다. 삼성</a:t>
            </a:r>
            <a:r>
              <a:rPr lang="en-US" altLang="ko-KR" sz="900" i="0">
                <a:solidFill>
                  <a:srgbClr val="222222"/>
                </a:solidFill>
                <a:latin typeface="맑은 고딕"/>
                <a:ea typeface="맑은 고딕"/>
              </a:rPr>
              <a:t>SDI</a:t>
            </a:r>
            <a:r>
              <a:rPr lang="ko-KR" altLang="en-US" sz="900" i="0">
                <a:solidFill>
                  <a:srgbClr val="222222"/>
                </a:solidFill>
                <a:latin typeface="맑은 고딕"/>
                <a:ea typeface="맑은 고딕"/>
              </a:rPr>
              <a:t>의 trailing EV/EBITDA는 2025년 EBITDA 바닥 왜곡으로 직접 비교가 무의미하므로 2027년 정상화 EBITDA를 기준으로 산출하였으며, Peer 평균 EV/EBITDA 17.7x는 EV/EBITDA 교차검증의 핵심 투입값으로 활용하였다.</a:t>
            </a:r>
            <a:endParaRPr lang="ko-KR" altLang="en-US" sz="900" i="0">
              <a:solidFill>
                <a:srgbClr val="222222"/>
              </a:solidFill>
              <a:latin typeface="맑은 고딕"/>
              <a:ea typeface="맑은 고딕"/>
            </a:endParaRPr>
          </a:p>
        </p:txBody>
      </p:sp>
      <p:graphicFrame>
        <p:nvGraphicFramePr>
          <p:cNvPr id="47" name="표 46"/>
          <p:cNvGraphicFramePr>
            <a:graphicFrameLocks noGrp="1"/>
          </p:cNvGraphicFramePr>
          <p:nvPr/>
        </p:nvGraphicFramePr>
        <p:xfrm>
          <a:off x="694450" y="3068229"/>
          <a:ext cx="5909306" cy="2966720"/>
        </p:xfrm>
        <a:graphic>
          <a:graphicData uri="http://schemas.openxmlformats.org/drawingml/2006/table">
            <a:tbl>
              <a:tblPr firstRow="1" bandRow="1"/>
              <a:tblGrid>
                <a:gridCol w="1472359"/>
                <a:gridCol w="1472359"/>
                <a:gridCol w="1482294"/>
                <a:gridCol w="1482294"/>
              </a:tblGrid>
              <a:tr h="370840">
                <a:tc>
                  <a:txBody>
                    <a:bodyPr vert="horz" lIns="91440" tIns="45720" rIns="91440" bIns="45720" anchor="t" anchorCtr="0"/>
                    <a:lstStyle/>
                    <a:p>
                      <a:pPr>
                        <a:defRPr/>
                      </a:pPr>
                      <a:r>
                        <a:rPr lang="ko-KR" altLang="en-US" sz="900" b="1">
                          <a:latin typeface="맑은 고딕"/>
                        </a:rPr>
                        <a:t>지표</a:t>
                      </a:r>
                      <a:endParaRPr lang="ko-KR" altLang="en-US" sz="900" b="1">
                        <a:latin typeface="맑은 고딕"/>
                      </a:endParaRPr>
                    </a:p>
                  </a:txBody>
                  <a:tcPr marL="91440" marR="91440"/>
                </a:tc>
                <a:tc>
                  <a:txBody>
                    <a:bodyPr vert="horz" lIns="91440" tIns="45720" rIns="91440" bIns="45720" anchor="t" anchorCtr="0"/>
                    <a:lstStyle/>
                    <a:p>
                      <a:pPr>
                        <a:defRPr/>
                      </a:pPr>
                      <a:r>
                        <a:rPr lang="ko-KR" altLang="en-US" sz="900" b="1">
                          <a:latin typeface="맑은 고딕"/>
                        </a:rPr>
                        <a:t>삼성</a:t>
                      </a:r>
                      <a:r>
                        <a:rPr lang="en-US" altLang="ko-KR" sz="900" b="1">
                          <a:latin typeface="맑은 고딕"/>
                        </a:rPr>
                        <a:t>SDI</a:t>
                      </a:r>
                      <a:endParaRPr lang="en-US" altLang="ko-KR" sz="900" b="1">
                        <a:latin typeface="맑은 고딕"/>
                      </a:endParaRPr>
                    </a:p>
                  </a:txBody>
                  <a:tcPr marL="91440" marR="91440"/>
                </a:tc>
                <a:tc>
                  <a:txBody>
                    <a:bodyPr vert="horz" lIns="91440" tIns="45720" rIns="91440" bIns="45720" anchor="t" anchorCtr="0"/>
                    <a:lstStyle/>
                    <a:p>
                      <a:pPr>
                        <a:defRPr/>
                      </a:pPr>
                      <a:r>
                        <a:rPr lang="en-US" altLang="ko-KR" sz="900" b="1">
                          <a:latin typeface="맑은 고딕"/>
                        </a:rPr>
                        <a:t>LG</a:t>
                      </a:r>
                      <a:r>
                        <a:rPr lang="ko-KR" altLang="en-US" sz="900" b="1">
                          <a:latin typeface="맑은 고딕"/>
                        </a:rPr>
                        <a:t>에너지솔루션</a:t>
                      </a:r>
                      <a:endParaRPr lang="ko-KR" altLang="en-US" sz="900" b="1">
                        <a:latin typeface="맑은 고딕"/>
                      </a:endParaRPr>
                    </a:p>
                  </a:txBody>
                  <a:tcPr marL="91440" marR="91440"/>
                </a:tc>
                <a:tc>
                  <a:txBody>
                    <a:bodyPr vert="horz" lIns="91440" tIns="45720" rIns="91440" bIns="45720" anchor="t" anchorCtr="0"/>
                    <a:lstStyle/>
                    <a:p>
                      <a:pPr>
                        <a:defRPr/>
                      </a:pPr>
                      <a:r>
                        <a:rPr lang="ko-KR" altLang="en-US" sz="900" b="1">
                          <a:latin typeface="맑은 고딕"/>
                        </a:rPr>
                        <a:t>중국 </a:t>
                      </a:r>
                      <a:r>
                        <a:rPr lang="en-US" altLang="ko-KR" sz="900" b="1">
                          <a:latin typeface="맑은 고딕"/>
                        </a:rPr>
                        <a:t>CATL</a:t>
                      </a:r>
                      <a:endParaRPr lang="en-US" altLang="ko-KR" sz="900" b="1">
                        <a:latin typeface="맑은 고딕"/>
                      </a:endParaRPr>
                    </a:p>
                  </a:txBody>
                  <a:tcPr marL="91440" marR="91440"/>
                </a:tc>
              </a:tr>
              <a:tr h="370840">
                <a:tc>
                  <a:txBody>
                    <a:bodyPr vert="horz" lIns="91440" tIns="45720" rIns="91440" bIns="45720" anchor="t" anchorCtr="0"/>
                    <a:lstStyle/>
                    <a:p>
                      <a:pPr>
                        <a:defRPr/>
                      </a:pPr>
                      <a:r>
                        <a:rPr lang="ko-KR" altLang="en-US" sz="900">
                          <a:latin typeface="맑은 고딕"/>
                        </a:rPr>
                        <a:t>시가총액</a:t>
                      </a:r>
                      <a:r>
                        <a:rPr lang="en-US" altLang="ko-KR" sz="900">
                          <a:latin typeface="맑은 고딕"/>
                        </a:rPr>
                        <a:t>(</a:t>
                      </a:r>
                      <a:r>
                        <a:rPr lang="ko-KR" altLang="en-US" sz="900">
                          <a:latin typeface="맑은 고딕"/>
                        </a:rPr>
                        <a:t>조원</a:t>
                      </a:r>
                      <a:r>
                        <a:rPr lang="en-US" altLang="ko-KR" sz="900">
                          <a:latin typeface="맑은 고딕"/>
                        </a:rPr>
                        <a:t>)</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31.87</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95.94</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411.1</a:t>
                      </a:r>
                      <a:endParaRPr lang="en-US" altLang="ko-KR" sz="900">
                        <a:latin typeface="맑은 고딕"/>
                      </a:endParaRPr>
                    </a:p>
                  </a:txBody>
                  <a:tcPr marL="91440" marR="91440"/>
                </a:tc>
              </a:tr>
              <a:tr h="370840">
                <a:tc>
                  <a:txBody>
                    <a:bodyPr vert="horz" lIns="91440" tIns="45720" rIns="91440" bIns="45720" anchor="t" anchorCtr="0"/>
                    <a:lstStyle/>
                    <a:p>
                      <a:pPr>
                        <a:defRPr/>
                      </a:pPr>
                      <a:r>
                        <a:rPr lang="en-US" altLang="ko-KR" sz="900">
                          <a:latin typeface="맑은 고딕"/>
                        </a:rPr>
                        <a:t>2025A</a:t>
                      </a:r>
                      <a:r>
                        <a:rPr lang="ko-KR" altLang="en-US" sz="900">
                          <a:latin typeface="맑은 고딕"/>
                        </a:rPr>
                        <a:t> 매출</a:t>
                      </a:r>
                      <a:r>
                        <a:rPr lang="en-US" altLang="ko-KR" sz="900">
                          <a:latin typeface="맑은 고딕"/>
                        </a:rPr>
                        <a:t>(</a:t>
                      </a:r>
                      <a:r>
                        <a:rPr lang="ko-KR" altLang="en-US" sz="900">
                          <a:latin typeface="맑은 고딕"/>
                        </a:rPr>
                        <a:t>조원</a:t>
                      </a:r>
                      <a:r>
                        <a:rPr lang="en-US" altLang="ko-KR" sz="900">
                          <a:latin typeface="맑은 고딕"/>
                        </a:rPr>
                        <a:t>)</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13.27</a:t>
                      </a:r>
                      <a:endParaRPr lang="en-US" altLang="ko-KR" sz="900">
                        <a:latin typeface="맑은 고딕"/>
                      </a:endParaRPr>
                    </a:p>
                  </a:txBody>
                  <a:tcPr marL="91440" marR="91440"/>
                </a:tc>
                <a:tc>
                  <a:txBody>
                    <a:bodyPr vert="horz" lIns="91440" tIns="45720" rIns="91440" bIns="45720" anchor="t" anchorCtr="0"/>
                    <a:lstStyle/>
                    <a:p>
                      <a:pPr>
                        <a:defRPr/>
                      </a:pPr>
                      <a:r>
                        <a:rPr lang="ko-KR" altLang="en-US" sz="900">
                          <a:latin typeface="맑은 고딕"/>
                        </a:rPr>
                        <a:t>23.6</a:t>
                      </a:r>
                      <a:r>
                        <a:rPr lang="en-US" altLang="ko-KR" sz="900">
                          <a:latin typeface="맑은 고딕"/>
                        </a:rPr>
                        <a:t>7</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91.10</a:t>
                      </a:r>
                      <a:endParaRPr lang="en-US" altLang="ko-KR" sz="900">
                        <a:latin typeface="맑은 고딕"/>
                      </a:endParaRPr>
                    </a:p>
                  </a:txBody>
                  <a:tcPr marL="91440" marR="91440"/>
                </a:tc>
              </a:tr>
              <a:tr h="370840">
                <a:tc>
                  <a:txBody>
                    <a:bodyPr vert="horz" lIns="91440" tIns="45720" rIns="91440" bIns="45720" anchor="t" anchorCtr="0"/>
                    <a:lstStyle/>
                    <a:p>
                      <a:pPr>
                        <a:defRPr/>
                      </a:pPr>
                      <a:r>
                        <a:rPr lang="en-US" altLang="ko-KR" sz="900">
                          <a:latin typeface="맑은 고딕"/>
                        </a:rPr>
                        <a:t>2025A</a:t>
                      </a:r>
                      <a:r>
                        <a:rPr lang="ko-KR" altLang="en-US" sz="900">
                          <a:latin typeface="맑은 고딕"/>
                        </a:rPr>
                        <a:t> </a:t>
                      </a:r>
                      <a:r>
                        <a:rPr lang="en-US" altLang="ko-KR" sz="900">
                          <a:latin typeface="맑은 고딕"/>
                        </a:rPr>
                        <a:t>EBITDA(</a:t>
                      </a:r>
                      <a:r>
                        <a:rPr lang="ko-KR" altLang="en-US" sz="900">
                          <a:latin typeface="맑은 고딕"/>
                        </a:rPr>
                        <a:t>조원</a:t>
                      </a:r>
                      <a:r>
                        <a:rPr lang="en-US" altLang="ko-KR" sz="900">
                          <a:latin typeface="맑은 고딕"/>
                        </a:rPr>
                        <a:t>)</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0.38</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4.92</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23.99</a:t>
                      </a:r>
                      <a:endParaRPr lang="en-US" altLang="ko-KR" sz="900">
                        <a:latin typeface="맑은 고딕"/>
                      </a:endParaRPr>
                    </a:p>
                  </a:txBody>
                  <a:tcPr marL="91440" marR="91440"/>
                </a:tc>
              </a:tr>
              <a:tr h="370840">
                <a:tc>
                  <a:txBody>
                    <a:bodyPr vert="horz" lIns="91440" tIns="45720" rIns="91440" bIns="45720" anchor="t" anchorCtr="0"/>
                    <a:lstStyle/>
                    <a:p>
                      <a:pPr>
                        <a:defRPr/>
                      </a:pPr>
                      <a:r>
                        <a:rPr lang="ko-KR" altLang="en-US" sz="900">
                          <a:latin typeface="맑은 고딕"/>
                        </a:rPr>
                        <a:t>EV/EBITDA(trailing)</a:t>
                      </a:r>
                      <a:endParaRPr lang="ko-KR" altLang="en-US" sz="900">
                        <a:latin typeface="맑은 고딕"/>
                      </a:endParaRPr>
                    </a:p>
                  </a:txBody>
                  <a:tcPr marL="91440" marR="91440"/>
                </a:tc>
                <a:tc>
                  <a:txBody>
                    <a:bodyPr vert="horz" lIns="91440" tIns="45720" rIns="91440" bIns="45720" anchor="t" anchorCtr="0"/>
                    <a:lstStyle/>
                    <a:p>
                      <a:pPr>
                        <a:defRPr/>
                      </a:pPr>
                      <a:r>
                        <a:rPr lang="ko-KR" altLang="en-US" sz="900">
                          <a:latin typeface="맑은 고딕"/>
                        </a:rPr>
                        <a:t>133.6x ※</a:t>
                      </a:r>
                      <a:r>
                        <a:rPr lang="en-US" altLang="ko-KR" sz="900">
                          <a:latin typeface="맑은 고딕"/>
                        </a:rPr>
                        <a:t> </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22.1x</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13.3x</a:t>
                      </a:r>
                      <a:endParaRPr lang="en-US" altLang="ko-KR" sz="900">
                        <a:latin typeface="맑은 고딕"/>
                      </a:endParaRPr>
                    </a:p>
                  </a:txBody>
                  <a:tcPr marL="91440" marR="91440"/>
                </a:tc>
              </a:tr>
              <a:tr h="370840">
                <a:tc>
                  <a:txBody>
                    <a:bodyPr vert="horz" lIns="91440" tIns="45720" rIns="91440" bIns="45720" anchor="t" anchorCtr="0"/>
                    <a:lstStyle/>
                    <a:p>
                      <a:pPr>
                        <a:defRPr/>
                      </a:pPr>
                      <a:r>
                        <a:rPr lang="ko-KR" altLang="en-US" sz="900">
                          <a:latin typeface="맑은 고딕"/>
                        </a:rPr>
                        <a:t>PSR(trailing)</a:t>
                      </a:r>
                      <a:endParaRPr lang="ko-KR" altLang="en-US" sz="900">
                        <a:latin typeface="맑은 고딕"/>
                      </a:endParaRPr>
                    </a:p>
                  </a:txBody>
                  <a:tcPr marL="91440" marR="91440"/>
                </a:tc>
                <a:tc>
                  <a:txBody>
                    <a:bodyPr vert="horz" lIns="91440" tIns="45720" rIns="91440" bIns="45720" anchor="t" anchorCtr="0"/>
                    <a:lstStyle/>
                    <a:p>
                      <a:pPr>
                        <a:defRPr/>
                      </a:pPr>
                      <a:r>
                        <a:rPr lang="en-US" altLang="ko-KR" sz="900">
                          <a:latin typeface="맑은 고딕"/>
                        </a:rPr>
                        <a:t>3.10x</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3.81x</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4.26x</a:t>
                      </a:r>
                      <a:endParaRPr lang="en-US" altLang="ko-KR" sz="900">
                        <a:latin typeface="맑은 고딕"/>
                      </a:endParaRPr>
                    </a:p>
                  </a:txBody>
                  <a:tcPr marL="91440" marR="91440"/>
                </a:tc>
              </a:tr>
              <a:tr h="370840">
                <a:tc>
                  <a:txBody>
                    <a:bodyPr vert="horz" lIns="91440" tIns="45720" rIns="91440" bIns="45720" anchor="t" anchorCtr="0"/>
                    <a:lstStyle/>
                    <a:p>
                      <a:pPr>
                        <a:defRPr/>
                      </a:pPr>
                      <a:r>
                        <a:rPr lang="ko-KR" altLang="en-US" sz="900">
                          <a:latin typeface="맑은 고딕"/>
                        </a:rPr>
                        <a:t>PBR(trailing)</a:t>
                      </a:r>
                      <a:endParaRPr lang="ko-KR" altLang="en-US" sz="900">
                        <a:latin typeface="맑은 고딕"/>
                      </a:endParaRPr>
                    </a:p>
                  </a:txBody>
                  <a:tcPr marL="91440" marR="91440"/>
                </a:tc>
                <a:tc>
                  <a:txBody>
                    <a:bodyPr vert="horz" lIns="91440" tIns="45720" rIns="91440" bIns="45720" anchor="t" anchorCtr="0"/>
                    <a:lstStyle/>
                    <a:p>
                      <a:pPr>
                        <a:defRPr/>
                      </a:pPr>
                      <a:r>
                        <a:rPr lang="en-US" altLang="ko-KR" sz="900">
                          <a:latin typeface="맑은 고딕"/>
                        </a:rPr>
                        <a:t>1.51x</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a:t>
                      </a:r>
                      <a:endParaRPr lang="en-US" altLang="ko-KR" sz="900">
                        <a:latin typeface="맑은 고딕"/>
                      </a:endParaRPr>
                    </a:p>
                  </a:txBody>
                  <a:tcPr marL="91440" marR="91440"/>
                </a:tc>
              </a:tr>
              <a:tr h="370840">
                <a:tc>
                  <a:txBody>
                    <a:bodyPr vert="horz" lIns="91440" tIns="45720" rIns="91440" bIns="45720" anchor="t" anchorCtr="0"/>
                    <a:lstStyle/>
                    <a:p>
                      <a:pPr>
                        <a:defRPr/>
                      </a:pPr>
                      <a:r>
                        <a:rPr lang="ko-KR" altLang="en-US" sz="900">
                          <a:latin typeface="맑은 고딕"/>
                        </a:rPr>
                        <a:t>영업이익률</a:t>
                      </a:r>
                      <a:endParaRPr lang="ko-KR" altLang="en-US" sz="900">
                        <a:latin typeface="맑은 고딕"/>
                      </a:endParaRPr>
                    </a:p>
                  </a:txBody>
                  <a:tcPr marL="91440" marR="91440"/>
                </a:tc>
                <a:tc>
                  <a:txBody>
                    <a:bodyPr vert="horz" lIns="91440" tIns="45720" rIns="91440" bIns="45720" anchor="t" anchorCtr="0"/>
                    <a:lstStyle/>
                    <a:p>
                      <a:pPr>
                        <a:defRPr/>
                      </a:pPr>
                      <a:r>
                        <a:rPr lang="en-US" altLang="ko-KR" sz="900">
                          <a:latin typeface="맑은 고딕"/>
                        </a:rPr>
                        <a:t>-13.0%</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-1.3%</a:t>
                      </a:r>
                      <a:endParaRPr lang="en-US" altLang="ko-KR" sz="900">
                        <a:latin typeface="맑은 고딕"/>
                      </a:endParaRPr>
                    </a:p>
                  </a:txBody>
                  <a:tcPr marL="91440" marR="91440"/>
                </a:tc>
                <a:tc>
                  <a:txBody>
                    <a:bodyPr vert="horz" lIns="91440" tIns="45720" rIns="91440" bIns="45720" anchor="t" anchorCtr="0"/>
                    <a:lstStyle/>
                    <a:p>
                      <a:pPr>
                        <a:defRPr/>
                      </a:pPr>
                      <a:r>
                        <a:rPr lang="en-US" altLang="ko-KR" sz="900">
                          <a:latin typeface="맑은 고딕"/>
                        </a:rPr>
                        <a:t>+21.1%</a:t>
                      </a:r>
                      <a:endParaRPr lang="en-US" altLang="ko-KR" sz="900">
                        <a:latin typeface="맑은 고딕"/>
                      </a:endParaRPr>
                    </a:p>
                  </a:txBody>
                  <a:tcPr marL="91440" marR="91440"/>
                </a:tc>
              </a:tr>
            </a:tbl>
          </a:graphicData>
        </a:graphic>
      </p:graphicFrame>
      <p:sp>
        <p:nvSpPr>
          <p:cNvPr id="48" name="TextBox 4"/>
          <p:cNvSpPr txBox="1"/>
          <p:nvPr/>
        </p:nvSpPr>
        <p:spPr>
          <a:xfrm>
            <a:off x="1011877" y="7048500"/>
            <a:ext cx="4974241" cy="438150"/>
          </a:xfrm>
          <a:prstGeom prst="rect">
            <a:avLst/>
          </a:prstGeom>
          <a:noFill/>
        </p:spPr>
        <p:txBody>
          <a:bodyPr wrap="square" lIns="0" tIns="0" rIns="0" bIns="0" anchor="t">
            <a:spAutoFit/>
          </a:bodyPr>
          <a:lstStyle/>
          <a:p>
            <a:pPr>
              <a:lnSpc>
                <a:spcPct val="112000"/>
              </a:lnSpc>
              <a:spcBef>
                <a:spcPts val="0"/>
              </a:spcBef>
              <a:spcAft>
                <a:spcPts val="500"/>
              </a:spcAft>
              <a:defRPr/>
            </a:pPr>
            <a:endParaRPr lang="en-US" sz="1100" b="1" i="0">
              <a:latin typeface="맑은 고딕"/>
              <a:ea typeface="맑은 고딕"/>
            </a:endParaRPr>
          </a:p>
          <a:p>
            <a:pPr>
              <a:lnSpc>
                <a:spcPct val="112000"/>
              </a:lnSpc>
              <a:spcBef>
                <a:spcPts val="0"/>
              </a:spcBef>
              <a:spcAft>
                <a:spcPts val="500"/>
              </a:spcAft>
              <a:defRPr/>
            </a:pPr>
            <a:r>
              <a:rPr lang="en-US" altLang="ko-KR" sz="1100" b="1" i="0">
                <a:latin typeface="맑은 고딕"/>
                <a:ea typeface="맑은 고딕"/>
              </a:rPr>
              <a:t>4</a:t>
            </a:r>
            <a:r>
              <a:rPr sz="1100" b="1" i="0">
                <a:latin typeface="맑은 고딕"/>
                <a:ea typeface="맑은 고딕"/>
              </a:rPr>
              <a:t>.</a:t>
            </a:r>
            <a:r>
              <a:rPr lang="en-US" altLang="ko-KR" sz="1100" b="1" i="0">
                <a:latin typeface="맑은 고딕"/>
                <a:ea typeface="맑은 고딕"/>
              </a:rPr>
              <a:t>6</a:t>
            </a:r>
            <a:r>
              <a:rPr sz="1100" b="1" i="0">
                <a:latin typeface="맑은 고딕"/>
                <a:ea typeface="맑은 고딕"/>
              </a:rPr>
              <a:t>  </a:t>
            </a:r>
            <a:r>
              <a:rPr lang="en-US" altLang="ko-KR" sz="1100" b="1" i="0">
                <a:latin typeface="맑은 고딕"/>
                <a:ea typeface="맑은 고딕"/>
              </a:rPr>
              <a:t>Valuation </a:t>
            </a:r>
            <a:r>
              <a:rPr lang="ko-KR" altLang="en-US" sz="1100" b="1" i="0">
                <a:latin typeface="맑은 고딕"/>
                <a:ea typeface="맑은 고딕"/>
              </a:rPr>
              <a:t>결론</a:t>
            </a:r>
          </a:p>
        </p:txBody>
      </p:sp>
      <p:sp>
        <p:nvSpPr>
          <p:cNvPr id="49" name="Rectangle 5"/>
          <p:cNvSpPr/>
          <p:nvPr/>
        </p:nvSpPr>
        <p:spPr>
          <a:xfrm>
            <a:off x="694451" y="7586180"/>
            <a:ext cx="5907248" cy="231463"/>
          </a:xfrm>
          <a:prstGeom prst="rect">
            <a:avLst/>
          </a:prstGeom>
          <a:solidFill>
            <a:srgbClr val="B8CCE5">
              <a:alpha val="100000"/>
            </a:srgbClr>
          </a:solidFill>
          <a:ln w="9525" cap="flat" cmpd="sng" algn="ctr">
            <a:noFill/>
            <a:prstDash val="solid"/>
          </a:ln>
          <a:effectLst/>
        </p:spPr>
        <p:txBody>
          <a:bodyPr anchor="ctr"/>
          <a:lstStyle/>
          <a:p>
            <a:pPr>
              <a:lnSpc>
                <a:spcPct val="112000"/>
              </a:lnSpc>
              <a:spcBef>
                <a:spcPts val="0"/>
              </a:spcBef>
              <a:spcAft>
                <a:spcPts val="500"/>
              </a:spcAft>
              <a:defRPr/>
            </a:pPr>
            <a:r>
              <a:rPr kumimoji="0" lang="ko-KR" altLang="en-US" sz="900" b="1" i="0" u="none" strike="noStrike" kern="1200" cap="none" spc="0" normalizeH="0" baseline="0">
                <a:solidFill>
                  <a:schemeClr val="tx1"/>
                </a:solidFill>
                <a:latin typeface="맑은 고딕"/>
              </a:rPr>
              <a:t>자료 31. 방식별 목표주가  </a:t>
            </a:r>
          </a:p>
        </p:txBody>
      </p:sp>
      <p:graphicFrame>
        <p:nvGraphicFramePr>
          <p:cNvPr id="50" name="표 49"/>
          <p:cNvGraphicFramePr>
            <a:graphicFrameLocks noGrp="1"/>
          </p:cNvGraphicFramePr>
          <p:nvPr/>
        </p:nvGraphicFramePr>
        <p:xfrm>
          <a:off x="694450" y="7817643"/>
          <a:ext cx="5907244" cy="970089"/>
        </p:xfrm>
        <a:graphic>
          <a:graphicData uri="http://schemas.openxmlformats.org/drawingml/2006/table">
            <a:tbl>
              <a:tblPr firstRow="1" bandRow="1"/>
              <a:tblGrid>
                <a:gridCol w="1578799">
                  <a:extLst>
                    <a:ext uri="{9D8B030D-6E8A-4147-A177-3AD203B41FA5}">
                      <a16:colId xmlns:a16="http://schemas.microsoft.com/office/drawing/2014/main" val="20000"/>
                    </a:ext>
                  </a:extLst>
                </a:gridCol>
                <a:gridCol w="1364891">
                  <a:extLst>
                    <a:ext uri="{9D8B030D-6E8A-4147-A177-3AD203B41FA5}">
                      <a16:colId xmlns:a16="http://schemas.microsoft.com/office/drawing/2014/main" val="20001"/>
                    </a:ext>
                  </a:extLst>
                </a:gridCol>
                <a:gridCol w="1481777">
                  <a:extLst>
                    <a:ext uri="{9D8B030D-6E8A-4147-A177-3AD203B41FA5}">
                      <a16:colId xmlns:a16="http://schemas.microsoft.com/office/drawing/2014/main" val="20002"/>
                    </a:ext>
                  </a:extLst>
                </a:gridCol>
                <a:gridCol w="1481777">
                  <a:extLst>
                    <a:ext uri="{9D8B030D-6E8A-4147-A177-3AD203B41FA5}">
                      <a16:colId xmlns:a16="http://schemas.microsoft.com/office/drawing/2014/main" val="20003"/>
                    </a:ext>
                  </a:extLst>
                </a:gridCol>
              </a:tblGrid>
              <a:tr h="323363">
                <a:tc>
                  <a:txBody>
                    <a:bodyPr/>
                    <a:lstStyle/>
                    <a:p>
                      <a:pPr>
                        <a:defRPr/>
                      </a:pPr>
                      <a:r>
                        <a:rPr lang="ko-KR" altLang="en-US" sz="900" b="1">
                          <a:latin typeface="맑은 고딕"/>
                        </a:rPr>
                        <a:t>방식</a:t>
                      </a:r>
                    </a:p>
                  </a:txBody>
                  <a:tcPr/>
                </a:tc>
                <a:tc>
                  <a:txBody>
                    <a:bodyPr/>
                    <a:lstStyle/>
                    <a:p>
                      <a:pPr>
                        <a:defRPr/>
                      </a:pPr>
                      <a:r>
                        <a:rPr lang="ko-KR" altLang="en-US" sz="900" b="1">
                          <a:latin typeface="맑은 고딕"/>
                        </a:rPr>
                        <a:t>목표주가</a:t>
                      </a:r>
                    </a:p>
                  </a:txBody>
                  <a:tcPr/>
                </a:tc>
                <a:tc>
                  <a:txBody>
                    <a:bodyPr/>
                    <a:lstStyle/>
                    <a:p>
                      <a:pPr>
                        <a:defRPr/>
                      </a:pPr>
                      <a:r>
                        <a:rPr lang="ko-KR" altLang="en-US" sz="900" b="1">
                          <a:latin typeface="맑은 고딕"/>
                        </a:rPr>
                        <a:t>상승여력</a:t>
                      </a:r>
                    </a:p>
                  </a:txBody>
                  <a:tcPr/>
                </a:tc>
                <a:tc>
                  <a:txBody>
                    <a:bodyPr/>
                    <a:lstStyle/>
                    <a:p>
                      <a:pPr>
                        <a:defRPr/>
                      </a:pPr>
                      <a:r>
                        <a:rPr lang="ko-KR" altLang="en-US" sz="900" b="1">
                          <a:latin typeface="맑은 고딕"/>
                        </a:rPr>
                        <a:t>비고</a:t>
                      </a:r>
                    </a:p>
                  </a:txBody>
                  <a:tcPr/>
                </a:tc>
                <a:extLst>
                  <a:ext uri="{0D108BD9-81ED-4DB2-BD59-A6C34878D82A}">
                    <a16:rowId xmlns:a16="http://schemas.microsoft.com/office/drawing/2014/main" val="10000"/>
                  </a:ext>
                </a:extLst>
              </a:tr>
              <a:tr h="323363">
                <a:tc>
                  <a:txBody>
                    <a:bodyPr/>
                    <a:lstStyle/>
                    <a:p>
                      <a:pPr>
                        <a:defRPr/>
                      </a:pPr>
                      <a:r>
                        <a:rPr lang="en-US" altLang="ko-KR" sz="900" b="1">
                          <a:latin typeface="맑은 고딕"/>
                        </a:rPr>
                        <a:t>PBR-ROE (Target 2.2x)</a:t>
                      </a:r>
                    </a:p>
                  </a:txBody>
                  <a:tcPr/>
                </a:tc>
                <a:tc>
                  <a:txBody>
                    <a:bodyPr/>
                    <a:lstStyle/>
                    <a:p>
                      <a:pPr>
                        <a:defRPr/>
                      </a:pPr>
                      <a:r>
                        <a:rPr lang="en-US" altLang="ko-KR" sz="900" b="1">
                          <a:latin typeface="맑은 고딕"/>
                        </a:rPr>
                        <a:t>603,850원</a:t>
                      </a:r>
                    </a:p>
                  </a:txBody>
                  <a:tcPr/>
                </a:tc>
                <a:tc>
                  <a:txBody>
                    <a:bodyPr/>
                    <a:lstStyle/>
                    <a:p>
                      <a:pPr>
                        <a:defRPr/>
                      </a:pPr>
                      <a:r>
                        <a:rPr lang="en-US" altLang="ko-KR" sz="900" b="1">
                          <a:latin typeface="맑은 고딕"/>
                        </a:rPr>
                        <a:t>+46.4%</a:t>
                      </a:r>
                    </a:p>
                  </a:txBody>
                  <a:tcPr/>
                </a:tc>
                <a:tc>
                  <a:txBody>
                    <a:bodyPr/>
                    <a:lstStyle/>
                    <a:p>
                      <a:pPr>
                        <a:defRPr/>
                      </a:pPr>
                      <a:r>
                        <a:rPr lang="en-US" altLang="ko-KR" sz="900" b="1">
                          <a:latin typeface="맑은 고딕"/>
                        </a:rPr>
                        <a:t>★ 메인 (Base)</a:t>
                      </a:r>
                    </a:p>
                  </a:txBody>
                  <a:tcPr/>
                </a:tc>
                <a:extLst>
                  <a:ext uri="{0D108BD9-81ED-4DB2-BD59-A6C34878D82A}">
                    <a16:rowId xmlns:a16="http://schemas.microsoft.com/office/drawing/2014/main" val="10001"/>
                  </a:ext>
                </a:extLst>
              </a:tr>
              <a:tr h="323363">
                <a:tc>
                  <a:txBody>
                    <a:bodyPr/>
                    <a:lstStyle/>
                    <a:p>
                      <a:pPr>
                        <a:defRPr/>
                      </a:pPr>
                      <a:r>
                        <a:rPr lang="en-US" altLang="ko-KR" sz="900">
                          <a:latin typeface="맑은 고딕"/>
                        </a:rPr>
                        <a:t>EV/EBITDA (Peer 17.7x)</a:t>
                      </a:r>
                    </a:p>
                  </a:txBody>
                  <a:tcPr/>
                </a:tc>
                <a:tc>
                  <a:txBody>
                    <a:bodyPr/>
                    <a:lstStyle/>
                    <a:p>
                      <a:pPr>
                        <a:defRPr/>
                      </a:pPr>
                      <a:r>
                        <a:rPr lang="en-US" altLang="ko-KR" sz="900">
                          <a:latin typeface="맑은 고딕"/>
                        </a:rPr>
                        <a:t>785,460원</a:t>
                      </a:r>
                    </a:p>
                  </a:txBody>
                  <a:tcPr/>
                </a:tc>
                <a:tc>
                  <a:txBody>
                    <a:bodyPr/>
                    <a:lstStyle/>
                    <a:p>
                      <a:pPr>
                        <a:defRPr/>
                      </a:pPr>
                      <a:r>
                        <a:rPr lang="en-US" altLang="ko-KR" sz="900">
                          <a:latin typeface="맑은 고딕"/>
                        </a:rPr>
                        <a:t>+90.4%</a:t>
                      </a:r>
                    </a:p>
                  </a:txBody>
                  <a:tcPr/>
                </a:tc>
                <a:tc>
                  <a:txBody>
                    <a:bodyPr/>
                    <a:lstStyle/>
                    <a:p>
                      <a:pPr>
                        <a:defRPr/>
                      </a:pPr>
                      <a:r>
                        <a:rPr lang="en-US" altLang="ko-KR" sz="900">
                          <a:latin typeface="맑은 고딕"/>
                        </a:rPr>
                        <a:t>교차검증 / Bull 근거</a:t>
                      </a:r>
                    </a:p>
                  </a:txBody>
                  <a:tcPr/>
                </a:tc>
                <a:extLst>
                  <a:ext uri="{0D108BD9-81ED-4DB2-BD59-A6C34878D82A}">
                    <a16:rowId xmlns:a16="http://schemas.microsoft.com/office/drawing/2014/main" val="10002"/>
                  </a:ext>
                </a:extLst>
              </a:tr>
            </a:tbl>
          </a:graphicData>
        </a:graphic>
      </p:graphicFrame>
      <p:sp>
        <p:nvSpPr>
          <p:cNvPr id="51" name="TextBox 6"/>
          <p:cNvSpPr txBox="1"/>
          <p:nvPr/>
        </p:nvSpPr>
        <p:spPr>
          <a:xfrm>
            <a:off x="996341" y="8843153"/>
            <a:ext cx="5468645" cy="538972"/>
          </a:xfrm>
          <a:prstGeom prst="rect">
            <a:avLst/>
          </a:prstGeom>
          <a:noFill/>
        </p:spPr>
        <p:txBody>
          <a:bodyPr wrap="square" lIns="0" tIns="0" rIns="0" bIns="0" anchor="t">
            <a:spAutoFit/>
          </a:bodyPr>
          <a:lstStyle/>
          <a:p>
            <a:pPr algn="just">
              <a:lnSpc>
                <a:spcPct val="132000"/>
              </a:lnSpc>
              <a:spcBef>
                <a:spcPts val="0"/>
              </a:spcBef>
              <a:spcAft>
                <a:spcPts val="900"/>
              </a:spcAft>
              <a:defRPr/>
            </a:pPr>
            <a:r>
              <a:rPr lang="en-US" altLang="ko-KR" sz="900" i="0">
                <a:solidFill>
                  <a:srgbClr val="222222"/>
                </a:solidFill>
                <a:latin typeface="맑은 고딕"/>
                <a:ea typeface="맑은 고딕"/>
              </a:rPr>
              <a:t>자본집약적 셀 메이커 특성과 적자 → 흑자전환 구간을 정합적으로 </a:t>
            </a:r>
            <a:r>
              <a:rPr lang="ko-KR" altLang="en-US" sz="900" i="0">
                <a:solidFill>
                  <a:srgbClr val="222222"/>
                </a:solidFill>
                <a:latin typeface="맑은 고딕"/>
                <a:ea typeface="맑은 고딕"/>
              </a:rPr>
              <a:t>산정하</a:t>
            </a:r>
            <a:r>
              <a:rPr lang="en-US" altLang="ko-KR" sz="900" i="0">
                <a:solidFill>
                  <a:srgbClr val="222222"/>
                </a:solidFill>
                <a:latin typeface="맑은 고딕"/>
                <a:ea typeface="맑은 고딕"/>
              </a:rPr>
              <a:t>는 PBR-ROE 방식을 메인으로 채택해 목표주가</a:t>
            </a:r>
            <a:r>
              <a:rPr lang="ko-KR" altLang="en-US" sz="900" i="0">
                <a:solidFill>
                  <a:srgbClr val="222222"/>
                </a:solidFill>
                <a:latin typeface="맑은 고딕"/>
                <a:ea typeface="맑은 고딕"/>
              </a:rPr>
              <a:t>를</a:t>
            </a:r>
            <a:r>
              <a:rPr lang="en-US" altLang="ko-KR" sz="900" i="0">
                <a:solidFill>
                  <a:srgbClr val="222222"/>
                </a:solidFill>
                <a:latin typeface="맑은 고딕"/>
                <a:ea typeface="맑은 고딕"/>
              </a:rPr>
              <a:t> 603,850원(Target PBR 2.2x), 투자의견</a:t>
            </a:r>
            <a:r>
              <a:rPr lang="ko-KR" altLang="en-US" sz="900" i="0">
                <a:solidFill>
                  <a:srgbClr val="222222"/>
                </a:solidFill>
                <a:latin typeface="맑은 고딕"/>
                <a:ea typeface="맑은 고딕"/>
              </a:rPr>
              <a:t>을</a:t>
            </a:r>
            <a:r>
              <a:rPr lang="en-US" altLang="ko-KR" sz="900" i="0">
                <a:solidFill>
                  <a:srgbClr val="222222"/>
                </a:solidFill>
                <a:latin typeface="맑은 고딕"/>
                <a:ea typeface="맑은 고딕"/>
              </a:rPr>
              <a:t> BUY(상승여력 +46.4%)</a:t>
            </a:r>
            <a:r>
              <a:rPr lang="ko-KR" altLang="en-US" sz="900" i="0">
                <a:solidFill>
                  <a:srgbClr val="222222"/>
                </a:solidFill>
                <a:latin typeface="맑은 고딕"/>
                <a:ea typeface="맑은 고딕"/>
              </a:rPr>
              <a:t>로</a:t>
            </a:r>
            <a:r>
              <a:rPr lang="en-US" altLang="ko-KR" sz="900" i="0">
                <a:solidFill>
                  <a:srgbClr val="222222"/>
                </a:solidFill>
                <a:latin typeface="맑은 고딕"/>
                <a:ea typeface="맑은 고딕"/>
              </a:rPr>
              <a:t> 제시한다. ESS·46파이·전고체 모멘텀이 실현될 경우 Bull 시나리오(2.8x, 768,500원)로의 리레이팅이 가능하다.</a:t>
            </a:r>
          </a:p>
        </p:txBody>
      </p:sp>
      <p:sp>
        <p:nvSpPr>
          <p:cNvPr id="52" name="TextBox 51"/>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21</a:t>
            </a:r>
          </a:p>
        </p:txBody>
      </p:sp>
      <p:sp>
        <p:nvSpPr>
          <p:cNvPr id="53" name="TextBox 15"/>
          <p:cNvSpPr txBox="1"/>
          <p:nvPr/>
        </p:nvSpPr>
        <p:spPr>
          <a:xfrm>
            <a:off x="1011877" y="2114550"/>
            <a:ext cx="5589817" cy="257175"/>
          </a:xfrm>
          <a:prstGeom prst="rect">
            <a:avLst/>
          </a:prstGeom>
          <a:noFill/>
        </p:spPr>
        <p:txBody>
          <a:bodyPr wrap="square" lIns="0" tIns="0" rIns="0" bIns="0" anchor="t">
            <a:spAutoFit/>
          </a:bodyPr>
          <a:lstStyle/>
          <a:p>
            <a:pPr marL="0" indent="0" algn="l" defTabSz="457200" rtl="0" eaLnBrk="1" latinLnBrk="0" hangingPunct="1">
              <a:lnSpc>
                <a:spcPct val="112000"/>
              </a:lnSpc>
              <a:spcBef>
                <a:spcPts val="0"/>
              </a:spcBef>
              <a:spcAft>
                <a:spcPts val="0"/>
              </a:spcAft>
              <a:buNone/>
              <a:defRPr/>
            </a:pPr>
            <a:r>
              <a:rPr kumimoji="0" lang="ko-KR" altLang="en-US" sz="750" b="0" i="1" u="none" strike="noStrike" kern="1200" cap="none" spc="0" normalizeH="0" baseline="0">
                <a:solidFill>
                  <a:srgbClr val="6b7785"/>
                </a:solidFill>
                <a:latin typeface="맑은 고딕"/>
              </a:rPr>
              <a:t>※ </a:t>
            </a:r>
            <a:r>
              <a:rPr kumimoji="0" lang="en-US" altLang="ko-KR" sz="750" b="0" i="1" u="none" strike="noStrike" kern="1200" cap="none" spc="0" normalizeH="0" baseline="0">
                <a:solidFill>
                  <a:srgbClr val="6b7785"/>
                </a:solidFill>
                <a:latin typeface="맑은 고딕"/>
              </a:rPr>
              <a:t>ROE 3.9%</a:t>
            </a:r>
            <a:r>
              <a:rPr kumimoji="0" lang="ko-KR" altLang="en-US" sz="750" b="0" i="1" u="none" strike="noStrike" kern="1200" cap="none" spc="0" normalizeH="0" baseline="0">
                <a:solidFill>
                  <a:srgbClr val="6b7785"/>
                </a:solidFill>
                <a:latin typeface="맑은 고딕"/>
              </a:rPr>
              <a:t>으로 </a:t>
            </a:r>
            <a:r>
              <a:rPr kumimoji="0" lang="en-US" altLang="ko-KR" sz="750" b="0" i="1" u="none" strike="noStrike" kern="1200" cap="none" spc="0" normalizeH="0" baseline="0">
                <a:solidFill>
                  <a:srgbClr val="6b7785"/>
                </a:solidFill>
                <a:latin typeface="맑은 고딕"/>
              </a:rPr>
              <a:t>Target PBR</a:t>
            </a:r>
            <a:r>
              <a:rPr kumimoji="0" lang="ko-KR" altLang="en-US" sz="750" b="0" i="1" u="none" strike="noStrike" kern="1200" cap="none" spc="0" normalizeH="0" baseline="0">
                <a:solidFill>
                  <a:srgbClr val="6b7785"/>
                </a:solidFill>
                <a:latin typeface="맑은 고딕"/>
              </a:rPr>
              <a:t> </a:t>
            </a:r>
            <a:r>
              <a:rPr kumimoji="0" lang="en-US" altLang="ko-KR" sz="750" b="0" i="1" u="none" strike="noStrike" kern="1200" cap="none" spc="0" normalizeH="0" baseline="0">
                <a:solidFill>
                  <a:srgbClr val="6b7785"/>
                </a:solidFill>
                <a:latin typeface="맑은 고딕"/>
              </a:rPr>
              <a:t>2.2x</a:t>
            </a:r>
            <a:r>
              <a:rPr kumimoji="0" lang="ko-KR" altLang="en-US" sz="750" b="0" i="1" u="none" strike="noStrike" kern="1200" cap="none" spc="0" normalizeH="0" baseline="0">
                <a:solidFill>
                  <a:srgbClr val="6b7785"/>
                </a:solidFill>
                <a:latin typeface="맑은 고딕"/>
              </a:rPr>
              <a:t>가 다소 높아보일 수 있다</a:t>
            </a:r>
            <a:r>
              <a:rPr kumimoji="0" lang="en-US" altLang="ko-KR" sz="750" b="0" i="1" u="none" strike="noStrike" kern="1200" cap="none" spc="0" normalizeH="0" baseline="0">
                <a:solidFill>
                  <a:srgbClr val="6b7785"/>
                </a:solidFill>
                <a:latin typeface="맑은 고딕"/>
              </a:rPr>
              <a:t>.</a:t>
            </a:r>
            <a:r>
              <a:rPr kumimoji="0" lang="ko-KR" altLang="en-US" sz="750" b="0" i="1" u="none" strike="noStrike" kern="1200" cap="none" spc="0" normalizeH="0" baseline="0">
                <a:solidFill>
                  <a:srgbClr val="6b7785"/>
                </a:solidFill>
                <a:latin typeface="맑은 고딕"/>
              </a:rPr>
              <a:t> 하지만 ROE 3.9%는 2027F 정상화 초입의 수치이며, '28~'29F 이후 EV·46파이 등 본격화 구간의 ROE는 10~1</a:t>
            </a:r>
            <a:r>
              <a:rPr kumimoji="0" lang="en-US" altLang="ko-KR" sz="750" b="0" i="1" u="none" strike="noStrike" kern="1200" cap="none" spc="0" normalizeH="0" baseline="0">
                <a:solidFill>
                  <a:srgbClr val="6b7785"/>
                </a:solidFill>
                <a:latin typeface="맑은 고딕"/>
              </a:rPr>
              <a:t>2</a:t>
            </a:r>
            <a:r>
              <a:rPr kumimoji="0" lang="ko-KR" altLang="en-US" sz="750" b="0" i="1" u="none" strike="noStrike" kern="1200" cap="none" spc="0" normalizeH="0" baseline="0">
                <a:solidFill>
                  <a:srgbClr val="6b7785"/>
                </a:solidFill>
                <a:latin typeface="맑은 고딕"/>
              </a:rPr>
              <a:t>% 수준 회복 전망으로 </a:t>
            </a:r>
            <a:r>
              <a:rPr kumimoji="0" lang="en-US" altLang="ko-KR" sz="750" b="0" i="1" u="none" strike="noStrike" kern="1200" cap="none" spc="0" normalizeH="0" baseline="0">
                <a:solidFill>
                  <a:srgbClr val="6b7785"/>
                </a:solidFill>
                <a:latin typeface="맑은 고딕"/>
              </a:rPr>
              <a:t>PBR 2.2x</a:t>
            </a:r>
            <a:r>
              <a:rPr kumimoji="0" lang="ko-KR" altLang="en-US" sz="750" b="0" i="1" u="none" strike="noStrike" kern="1200" cap="none" spc="0" normalizeH="0" baseline="0">
                <a:solidFill>
                  <a:srgbClr val="6b7785"/>
                </a:solidFill>
                <a:latin typeface="맑은 고딕"/>
              </a:rPr>
              <a:t>는 보수적이거나 합리적인 수치이다.</a:t>
            </a:r>
            <a:endParaRPr kumimoji="0" lang="ko-KR" altLang="en-US" sz="750" b="0" i="1" u="none" strike="noStrike" kern="1200" cap="none" spc="0" normalizeH="0" baseline="0">
              <a:solidFill>
                <a:srgbClr val="6b7785"/>
              </a:solidFill>
              <a:latin typeface="맑은 고딕"/>
            </a:endParaRPr>
          </a:p>
        </p:txBody>
      </p:sp>
    </p:spTree>
    <p:extLst>
      <p:ext uri="{BB962C8B-B14F-4D97-AF65-F5344CB8AC3E}">
        <p14:creationId xmlns:p14="http://schemas.microsoft.com/office/powerpoint/2010/main" val="816396584"/>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153" y="383924"/>
            <a:ext cx="2011035" cy="146147"/>
          </a:xfrm>
          <a:prstGeom prst="rect">
            <a:avLst/>
          </a:prstGeom>
          <a:noFill/>
        </p:spPr>
        <p:txBody>
          <a:bodyPr wrap="square" lIns="0" tIns="0" rIns="0" bIns="0" anchor="t">
            <a:spAutoFit/>
          </a:bodyPr>
          <a:lstStyle/>
          <a:p>
            <a:pPr algn="l"/>
            <a:r>
              <a:rPr sz="950" b="1">
                <a:solidFill>
                  <a:srgbClr val="003A75"/>
                </a:solidFill>
                <a:latin typeface="맑은 고딕"/>
              </a:rPr>
              <a:t>Risk Point</a:t>
            </a:r>
          </a:p>
        </p:txBody>
      </p:sp>
      <p:sp>
        <p:nvSpPr>
          <p:cNvPr id="3" name="TextBox 2"/>
          <p:cNvSpPr txBox="1"/>
          <p:nvPr/>
        </p:nvSpPr>
        <p:spPr>
          <a:xfrm>
            <a:off x="2743420" y="383925"/>
            <a:ext cx="3656428" cy="138455"/>
          </a:xfrm>
          <a:prstGeom prst="rect">
            <a:avLst/>
          </a:prstGeom>
          <a:noFill/>
        </p:spPr>
        <p:txBody>
          <a:bodyPr wrap="square" lIns="0" tIns="0" rIns="0" bIns="0" anchor="t">
            <a:spAutoFit/>
          </a:bodyPr>
          <a:lstStyle/>
          <a:p>
            <a:pPr algn="r"/>
            <a:r>
              <a:rPr sz="900" dirty="0">
                <a:solidFill>
                  <a:srgbClr val="6B7785"/>
                </a:solidFill>
                <a:latin typeface="맑은 고딕"/>
              </a:rPr>
              <a:t>Company Research Report   |   삼성SDI (006400)</a:t>
            </a:r>
          </a:p>
        </p:txBody>
      </p:sp>
      <p:cxnSp>
        <p:nvCxnSpPr>
          <p:cNvPr id="4" name="Connector 3"/>
          <p:cNvCxnSpPr/>
          <p:nvPr/>
        </p:nvCxnSpPr>
        <p:spPr>
          <a:xfrm>
            <a:off x="458153" y="639874"/>
            <a:ext cx="5941695" cy="0"/>
          </a:xfrm>
          <a:prstGeom prst="line">
            <a:avLst/>
          </a:prstGeom>
          <a:ln w="15875">
            <a:solidFill>
              <a:srgbClr val="003A7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06617" y="833842"/>
            <a:ext cx="4643663" cy="215375"/>
          </a:xfrm>
          <a:prstGeom prst="rect">
            <a:avLst/>
          </a:prstGeom>
          <a:noFill/>
        </p:spPr>
        <p:txBody>
          <a:bodyPr wrap="square" lIns="0" tIns="0" rIns="0" bIns="0" anchor="ctr">
            <a:spAutoFit/>
          </a:bodyPr>
          <a:lstStyle/>
          <a:p>
            <a:pPr algn="l"/>
            <a:r>
              <a:rPr sz="1400" b="1">
                <a:solidFill>
                  <a:srgbClr val="005EB8"/>
                </a:solidFill>
                <a:latin typeface="맑은 고딕"/>
              </a:rPr>
              <a:t>5. Risk Point</a:t>
            </a:r>
          </a:p>
        </p:txBody>
      </p:sp>
      <p:sp>
        <p:nvSpPr>
          <p:cNvPr id="7" name="TextBox 6"/>
          <p:cNvSpPr txBox="1"/>
          <p:nvPr/>
        </p:nvSpPr>
        <p:spPr>
          <a:xfrm>
            <a:off x="1006617" y="1325455"/>
            <a:ext cx="5393231" cy="169223"/>
          </a:xfrm>
          <a:prstGeom prst="rect">
            <a:avLst/>
          </a:prstGeom>
          <a:noFill/>
        </p:spPr>
        <p:txBody>
          <a:bodyPr wrap="square" lIns="0" tIns="0" rIns="0" bIns="0" anchor="t">
            <a:spAutoFit/>
          </a:bodyPr>
          <a:lstStyle/>
          <a:p>
            <a:pPr algn="l"/>
            <a:r>
              <a:rPr sz="1100" b="1">
                <a:solidFill>
                  <a:srgbClr val="000000"/>
                </a:solidFill>
                <a:latin typeface="맑은 고딕"/>
              </a:rPr>
              <a:t>5.1  EV 수요 회복 지연</a:t>
            </a:r>
          </a:p>
        </p:txBody>
      </p:sp>
      <p:sp>
        <p:nvSpPr>
          <p:cNvPr id="8" name="TextBox 7"/>
          <p:cNvSpPr txBox="1"/>
          <p:nvPr/>
        </p:nvSpPr>
        <p:spPr>
          <a:xfrm>
            <a:off x="1006617" y="1608828"/>
            <a:ext cx="5393231" cy="161531"/>
          </a:xfrm>
          <a:prstGeom prst="rect">
            <a:avLst/>
          </a:prstGeom>
          <a:noFill/>
        </p:spPr>
        <p:txBody>
          <a:bodyPr wrap="square" lIns="0" tIns="0" rIns="0" bIns="0" anchor="t">
            <a:spAutoFit/>
          </a:bodyPr>
          <a:lstStyle/>
          <a:p>
            <a:pPr algn="l"/>
            <a:r>
              <a:rPr sz="1050" b="1">
                <a:solidFill>
                  <a:srgbClr val="000000"/>
                </a:solidFill>
                <a:latin typeface="맑은 고딕"/>
              </a:rPr>
              <a:t>전방 EV 수요 둔화 — 가능성 높음·영향도 매우 높음, 실적을 좌우하는 최상위 리스크</a:t>
            </a:r>
          </a:p>
        </p:txBody>
      </p:sp>
      <p:sp>
        <p:nvSpPr>
          <p:cNvPr id="9" name="TextBox 8"/>
          <p:cNvSpPr txBox="1"/>
          <p:nvPr/>
        </p:nvSpPr>
        <p:spPr>
          <a:xfrm>
            <a:off x="1006617" y="1919625"/>
            <a:ext cx="5393231" cy="3078574"/>
          </a:xfrm>
          <a:prstGeom prst="rect">
            <a:avLst/>
          </a:prstGeom>
          <a:noFill/>
        </p:spPr>
        <p:txBody>
          <a:bodyPr wrap="square" lIns="0" tIns="0" rIns="0" bIns="0">
            <a:spAutoFit/>
          </a:bodyPr>
          <a:lstStyle/>
          <a:p>
            <a:pPr algn="justLow">
              <a:lnSpc>
                <a:spcPct val="132000"/>
              </a:lnSpc>
              <a:spcAft>
                <a:spcPts val="900"/>
              </a:spcAft>
            </a:pPr>
            <a:r>
              <a:rPr sz="1000" dirty="0">
                <a:latin typeface="맑은 고딕"/>
              </a:rPr>
              <a:t>2025년 1분기 </a:t>
            </a:r>
            <a:r>
              <a:rPr sz="1000" dirty="0" err="1">
                <a:latin typeface="맑은 고딕"/>
              </a:rPr>
              <a:t>배터리</a:t>
            </a:r>
            <a:r>
              <a:rPr sz="1000" dirty="0">
                <a:latin typeface="맑은 고딕"/>
              </a:rPr>
              <a:t> </a:t>
            </a:r>
            <a:r>
              <a:rPr sz="1000" dirty="0" err="1">
                <a:latin typeface="맑은 고딕"/>
              </a:rPr>
              <a:t>매출이</a:t>
            </a:r>
            <a:r>
              <a:rPr sz="1000" dirty="0">
                <a:latin typeface="맑은 고딕"/>
              </a:rPr>
              <a:t> </a:t>
            </a:r>
            <a:r>
              <a:rPr sz="1000" dirty="0" err="1">
                <a:latin typeface="맑은 고딕"/>
              </a:rPr>
              <a:t>전년</a:t>
            </a:r>
            <a:r>
              <a:rPr sz="1000" dirty="0">
                <a:latin typeface="맑은 고딕"/>
              </a:rPr>
              <a:t> </a:t>
            </a:r>
            <a:r>
              <a:rPr sz="1000" dirty="0" err="1">
                <a:latin typeface="맑은 고딕"/>
              </a:rPr>
              <a:t>대비</a:t>
            </a:r>
            <a:r>
              <a:rPr sz="1000" dirty="0">
                <a:latin typeface="맑은 고딕"/>
              </a:rPr>
              <a:t> 34.9% </a:t>
            </a:r>
            <a:r>
              <a:rPr sz="1000" dirty="0" err="1">
                <a:latin typeface="맑은 고딕"/>
              </a:rPr>
              <a:t>감소하고</a:t>
            </a:r>
            <a:r>
              <a:rPr sz="1000" dirty="0">
                <a:latin typeface="맑은 고딕"/>
              </a:rPr>
              <a:t> </a:t>
            </a:r>
            <a:r>
              <a:rPr sz="1000" dirty="0" err="1">
                <a:latin typeface="맑은 고딕"/>
              </a:rPr>
              <a:t>영업손실</a:t>
            </a:r>
            <a:r>
              <a:rPr sz="1000" dirty="0">
                <a:latin typeface="맑은 고딕"/>
              </a:rPr>
              <a:t> 4,524억원을 </a:t>
            </a:r>
            <a:r>
              <a:rPr sz="1000" dirty="0" err="1">
                <a:latin typeface="맑은 고딕"/>
              </a:rPr>
              <a:t>기록할</a:t>
            </a:r>
            <a:r>
              <a:rPr sz="1000" dirty="0">
                <a:latin typeface="맑은 고딕"/>
              </a:rPr>
              <a:t> </a:t>
            </a:r>
            <a:r>
              <a:rPr sz="1000" dirty="0" err="1">
                <a:latin typeface="맑은 고딕"/>
              </a:rPr>
              <a:t>만큼</a:t>
            </a:r>
            <a:r>
              <a:rPr sz="1000" dirty="0">
                <a:latin typeface="맑은 고딕"/>
              </a:rPr>
              <a:t>, </a:t>
            </a:r>
            <a:r>
              <a:rPr sz="1000" dirty="0" err="1">
                <a:latin typeface="맑은 고딕"/>
              </a:rPr>
              <a:t>전방</a:t>
            </a:r>
            <a:r>
              <a:rPr sz="1000" dirty="0">
                <a:latin typeface="맑은 고딕"/>
              </a:rPr>
              <a:t> EV </a:t>
            </a:r>
            <a:r>
              <a:rPr sz="1000" dirty="0" err="1">
                <a:latin typeface="맑은 고딕"/>
              </a:rPr>
              <a:t>수요</a:t>
            </a:r>
            <a:r>
              <a:rPr sz="1000" dirty="0">
                <a:latin typeface="맑은 고딕"/>
              </a:rPr>
              <a:t> </a:t>
            </a:r>
            <a:r>
              <a:rPr sz="1000" dirty="0" err="1">
                <a:latin typeface="맑은 고딕"/>
              </a:rPr>
              <a:t>둔화는</a:t>
            </a:r>
            <a:r>
              <a:rPr sz="1000" dirty="0">
                <a:latin typeface="맑은 고딕"/>
              </a:rPr>
              <a:t> </a:t>
            </a:r>
            <a:r>
              <a:rPr sz="1000" dirty="0" err="1">
                <a:latin typeface="맑은 고딕"/>
              </a:rPr>
              <a:t>동사</a:t>
            </a:r>
            <a:r>
              <a:rPr sz="1000" dirty="0">
                <a:latin typeface="맑은 고딕"/>
              </a:rPr>
              <a:t> </a:t>
            </a:r>
            <a:r>
              <a:rPr sz="1000" dirty="0" err="1">
                <a:latin typeface="맑은 고딕"/>
              </a:rPr>
              <a:t>실적을</a:t>
            </a:r>
            <a:r>
              <a:rPr sz="1000" dirty="0">
                <a:latin typeface="맑은 고딕"/>
              </a:rPr>
              <a:t> </a:t>
            </a:r>
            <a:r>
              <a:rPr sz="1000" dirty="0" err="1">
                <a:latin typeface="맑은 고딕"/>
              </a:rPr>
              <a:t>좌우하는</a:t>
            </a:r>
            <a:r>
              <a:rPr sz="1000" dirty="0">
                <a:latin typeface="맑은 고딕"/>
              </a:rPr>
              <a:t> </a:t>
            </a:r>
            <a:r>
              <a:rPr sz="1000" dirty="0" err="1">
                <a:latin typeface="맑은 고딕"/>
              </a:rPr>
              <a:t>최상위</a:t>
            </a:r>
            <a:r>
              <a:rPr sz="1000" dirty="0">
                <a:latin typeface="맑은 고딕"/>
              </a:rPr>
              <a:t> </a:t>
            </a:r>
            <a:r>
              <a:rPr sz="1000" dirty="0" err="1">
                <a:latin typeface="맑은 고딕"/>
              </a:rPr>
              <a:t>리스크다</a:t>
            </a:r>
            <a:r>
              <a:rPr sz="1000" dirty="0">
                <a:latin typeface="맑은 고딕"/>
              </a:rPr>
              <a:t>. </a:t>
            </a:r>
            <a:r>
              <a:rPr sz="1000" dirty="0" err="1">
                <a:latin typeface="맑은 고딕"/>
              </a:rPr>
              <a:t>리스크</a:t>
            </a:r>
            <a:r>
              <a:rPr sz="1000" dirty="0">
                <a:latin typeface="맑은 고딕"/>
              </a:rPr>
              <a:t> </a:t>
            </a:r>
            <a:r>
              <a:rPr sz="1000" dirty="0" err="1">
                <a:latin typeface="맑은 고딕"/>
              </a:rPr>
              <a:t>매트릭스상</a:t>
            </a:r>
            <a:r>
              <a:rPr sz="1000" dirty="0">
                <a:latin typeface="맑은 고딕"/>
              </a:rPr>
              <a:t> </a:t>
            </a:r>
            <a:r>
              <a:rPr sz="1000" dirty="0" err="1">
                <a:latin typeface="맑은 고딕"/>
              </a:rPr>
              <a:t>발생</a:t>
            </a:r>
            <a:r>
              <a:rPr sz="1000" dirty="0">
                <a:latin typeface="맑은 고딕"/>
              </a:rPr>
              <a:t> </a:t>
            </a:r>
            <a:r>
              <a:rPr sz="1000" dirty="0" err="1">
                <a:latin typeface="맑은 고딕"/>
              </a:rPr>
              <a:t>가능성은</a:t>
            </a:r>
            <a:r>
              <a:rPr sz="1000" dirty="0">
                <a:latin typeface="맑은 고딕"/>
              </a:rPr>
              <a:t> ‘</a:t>
            </a:r>
            <a:r>
              <a:rPr sz="1000" dirty="0" err="1">
                <a:latin typeface="맑은 고딕"/>
              </a:rPr>
              <a:t>높음</a:t>
            </a:r>
            <a:r>
              <a:rPr sz="1000" dirty="0">
                <a:latin typeface="맑은 고딕"/>
              </a:rPr>
              <a:t>’, </a:t>
            </a:r>
            <a:r>
              <a:rPr sz="1000" dirty="0" err="1">
                <a:latin typeface="맑은 고딕"/>
              </a:rPr>
              <a:t>이익</a:t>
            </a:r>
            <a:r>
              <a:rPr sz="1000" dirty="0">
                <a:latin typeface="맑은 고딕"/>
              </a:rPr>
              <a:t> </a:t>
            </a:r>
            <a:r>
              <a:rPr sz="1000" dirty="0" err="1">
                <a:latin typeface="맑은 고딕"/>
              </a:rPr>
              <a:t>영향도는</a:t>
            </a:r>
            <a:r>
              <a:rPr sz="1000" dirty="0">
                <a:latin typeface="맑은 고딕"/>
              </a:rPr>
              <a:t> ‘</a:t>
            </a:r>
            <a:r>
              <a:rPr sz="1000" dirty="0" err="1">
                <a:latin typeface="맑은 고딕"/>
              </a:rPr>
              <a:t>매우</a:t>
            </a:r>
            <a:r>
              <a:rPr sz="1000" dirty="0">
                <a:latin typeface="맑은 고딕"/>
              </a:rPr>
              <a:t> </a:t>
            </a:r>
            <a:r>
              <a:rPr sz="1000" dirty="0" err="1">
                <a:latin typeface="맑은 고딕"/>
              </a:rPr>
              <a:t>높음’으로</a:t>
            </a:r>
            <a:r>
              <a:rPr sz="1000" dirty="0">
                <a:latin typeface="맑은 고딕"/>
              </a:rPr>
              <a:t> </a:t>
            </a:r>
            <a:r>
              <a:rPr sz="1000" dirty="0" err="1">
                <a:latin typeface="맑은 고딕"/>
              </a:rPr>
              <a:t>평가된다</a:t>
            </a:r>
            <a:r>
              <a:rPr sz="1000" dirty="0">
                <a:latin typeface="맑은 고딕"/>
              </a:rPr>
              <a:t>.</a:t>
            </a:r>
          </a:p>
          <a:p>
            <a:pPr algn="justLow">
              <a:lnSpc>
                <a:spcPct val="132000"/>
              </a:lnSpc>
              <a:spcAft>
                <a:spcPts val="900"/>
              </a:spcAft>
            </a:pPr>
            <a:r>
              <a:rPr sz="1000" dirty="0" err="1">
                <a:latin typeface="맑은 고딕"/>
              </a:rPr>
              <a:t>둔화의</a:t>
            </a:r>
            <a:r>
              <a:rPr sz="1000" dirty="0">
                <a:latin typeface="맑은 고딕"/>
              </a:rPr>
              <a:t> </a:t>
            </a:r>
            <a:r>
              <a:rPr sz="1000" dirty="0" err="1">
                <a:latin typeface="맑은 고딕"/>
              </a:rPr>
              <a:t>충격은</a:t>
            </a:r>
            <a:r>
              <a:rPr sz="1000" dirty="0">
                <a:latin typeface="맑은 고딕"/>
              </a:rPr>
              <a:t> </a:t>
            </a:r>
            <a:r>
              <a:rPr sz="1000" dirty="0" err="1">
                <a:latin typeface="맑은 고딕"/>
              </a:rPr>
              <a:t>EV에</a:t>
            </a:r>
            <a:r>
              <a:rPr sz="1000" dirty="0">
                <a:latin typeface="맑은 고딕"/>
              </a:rPr>
              <a:t> </a:t>
            </a:r>
            <a:r>
              <a:rPr sz="1000" dirty="0" err="1">
                <a:latin typeface="맑은 고딕"/>
              </a:rPr>
              <a:t>그치지</a:t>
            </a:r>
            <a:r>
              <a:rPr sz="1000" dirty="0">
                <a:latin typeface="맑은 고딕"/>
              </a:rPr>
              <a:t> </a:t>
            </a:r>
            <a:r>
              <a:rPr sz="1000" dirty="0" err="1">
                <a:latin typeface="맑은 고딕"/>
              </a:rPr>
              <a:t>않는다</a:t>
            </a:r>
            <a:r>
              <a:rPr sz="1000" dirty="0">
                <a:latin typeface="맑은 고딕"/>
              </a:rPr>
              <a:t>. </a:t>
            </a:r>
            <a:r>
              <a:rPr sz="1000" dirty="0" err="1">
                <a:latin typeface="맑은 고딕"/>
              </a:rPr>
              <a:t>EV·모빌리티</a:t>
            </a:r>
            <a:r>
              <a:rPr sz="1000" dirty="0">
                <a:latin typeface="맑은 고딕"/>
              </a:rPr>
              <a:t> </a:t>
            </a:r>
            <a:r>
              <a:rPr sz="1000" dirty="0" err="1">
                <a:latin typeface="맑은 고딕"/>
              </a:rPr>
              <a:t>수요</a:t>
            </a:r>
            <a:r>
              <a:rPr sz="1000" dirty="0">
                <a:latin typeface="맑은 고딕"/>
              </a:rPr>
              <a:t> </a:t>
            </a:r>
            <a:r>
              <a:rPr sz="1000" dirty="0" err="1">
                <a:latin typeface="맑은 고딕"/>
              </a:rPr>
              <a:t>부진은</a:t>
            </a:r>
            <a:r>
              <a:rPr sz="1000" dirty="0">
                <a:latin typeface="맑은 고딕"/>
              </a:rPr>
              <a:t> </a:t>
            </a:r>
            <a:r>
              <a:rPr sz="1000" dirty="0" err="1">
                <a:latin typeface="맑은 고딕"/>
              </a:rPr>
              <a:t>소형전지</a:t>
            </a:r>
            <a:r>
              <a:rPr sz="1000" dirty="0">
                <a:latin typeface="맑은 고딕"/>
              </a:rPr>
              <a:t> </a:t>
            </a:r>
            <a:r>
              <a:rPr sz="1000" dirty="0" err="1">
                <a:latin typeface="맑은 고딕"/>
              </a:rPr>
              <a:t>재고조정으로</a:t>
            </a:r>
            <a:r>
              <a:rPr sz="1000" dirty="0">
                <a:latin typeface="맑은 고딕"/>
              </a:rPr>
              <a:t> </a:t>
            </a:r>
            <a:r>
              <a:rPr sz="1000" dirty="0" err="1">
                <a:latin typeface="맑은 고딕"/>
              </a:rPr>
              <a:t>번지며</a:t>
            </a:r>
            <a:r>
              <a:rPr sz="1000" dirty="0">
                <a:latin typeface="맑은 고딕"/>
              </a:rPr>
              <a:t> </a:t>
            </a:r>
            <a:r>
              <a:rPr sz="1000" dirty="0" err="1">
                <a:latin typeface="맑은 고딕"/>
              </a:rPr>
              <a:t>약</a:t>
            </a:r>
            <a:r>
              <a:rPr sz="1000" dirty="0">
                <a:latin typeface="맑은 고딕"/>
              </a:rPr>
              <a:t> 2,041억원의 </a:t>
            </a:r>
            <a:r>
              <a:rPr sz="1000" dirty="0" err="1">
                <a:latin typeface="맑은 고딕"/>
              </a:rPr>
              <a:t>추가</a:t>
            </a:r>
            <a:r>
              <a:rPr sz="1000" dirty="0">
                <a:latin typeface="맑은 고딕"/>
              </a:rPr>
              <a:t> </a:t>
            </a:r>
            <a:r>
              <a:rPr sz="1000" dirty="0" err="1">
                <a:latin typeface="맑은 고딕"/>
              </a:rPr>
              <a:t>영업손실을</a:t>
            </a:r>
            <a:r>
              <a:rPr sz="1000" dirty="0">
                <a:latin typeface="맑은 고딕"/>
              </a:rPr>
              <a:t> </a:t>
            </a:r>
            <a:r>
              <a:rPr sz="1000" dirty="0" err="1">
                <a:latin typeface="맑은 고딕"/>
              </a:rPr>
              <a:t>유발했고</a:t>
            </a:r>
            <a:r>
              <a:rPr sz="1000" dirty="0">
                <a:latin typeface="맑은 고딕"/>
              </a:rPr>
              <a:t>, </a:t>
            </a:r>
            <a:r>
              <a:rPr sz="1000" dirty="0" err="1">
                <a:latin typeface="맑은 고딕"/>
              </a:rPr>
              <a:t>유럽</a:t>
            </a:r>
            <a:r>
              <a:rPr sz="1000" dirty="0">
                <a:latin typeface="맑은 고딕"/>
              </a:rPr>
              <a:t> EV </a:t>
            </a:r>
            <a:r>
              <a:rPr sz="1000" dirty="0" err="1">
                <a:latin typeface="맑은 고딕"/>
              </a:rPr>
              <a:t>시장</a:t>
            </a:r>
            <a:r>
              <a:rPr sz="1000" dirty="0">
                <a:latin typeface="맑은 고딕"/>
              </a:rPr>
              <a:t> </a:t>
            </a:r>
            <a:r>
              <a:rPr sz="1000" dirty="0" err="1">
                <a:latin typeface="맑은 고딕"/>
              </a:rPr>
              <a:t>성장률이</a:t>
            </a:r>
            <a:r>
              <a:rPr sz="1000" dirty="0">
                <a:latin typeface="맑은 고딕"/>
              </a:rPr>
              <a:t> </a:t>
            </a:r>
            <a:r>
              <a:rPr sz="1000" dirty="0" err="1">
                <a:latin typeface="맑은 고딕"/>
              </a:rPr>
              <a:t>약</a:t>
            </a:r>
            <a:r>
              <a:rPr sz="1000" dirty="0">
                <a:latin typeface="맑은 고딕"/>
              </a:rPr>
              <a:t> 6% </a:t>
            </a:r>
            <a:r>
              <a:rPr sz="1000" dirty="0" err="1">
                <a:latin typeface="맑은 고딕"/>
              </a:rPr>
              <a:t>수준에</a:t>
            </a:r>
            <a:r>
              <a:rPr sz="1000" dirty="0">
                <a:latin typeface="맑은 고딕"/>
              </a:rPr>
              <a:t> </a:t>
            </a:r>
            <a:r>
              <a:rPr sz="1000" dirty="0" err="1">
                <a:latin typeface="맑은 고딕"/>
              </a:rPr>
              <a:t>머무는</a:t>
            </a:r>
            <a:r>
              <a:rPr sz="1000" dirty="0">
                <a:latin typeface="맑은 고딕"/>
              </a:rPr>
              <a:t> </a:t>
            </a:r>
            <a:r>
              <a:rPr sz="1000" dirty="0" err="1">
                <a:latin typeface="맑은 고딕"/>
              </a:rPr>
              <a:t>점은</a:t>
            </a:r>
            <a:r>
              <a:rPr sz="1000" dirty="0">
                <a:latin typeface="맑은 고딕"/>
              </a:rPr>
              <a:t> </a:t>
            </a:r>
            <a:r>
              <a:rPr sz="1000" dirty="0" err="1">
                <a:latin typeface="맑은 고딕"/>
              </a:rPr>
              <a:t>단기</a:t>
            </a:r>
            <a:r>
              <a:rPr sz="1000" dirty="0">
                <a:latin typeface="맑은 고딕"/>
              </a:rPr>
              <a:t> </a:t>
            </a:r>
            <a:r>
              <a:rPr sz="1000" dirty="0" err="1">
                <a:latin typeface="맑은 고딕"/>
              </a:rPr>
              <a:t>회복</a:t>
            </a:r>
            <a:r>
              <a:rPr sz="1000" dirty="0">
                <a:latin typeface="맑은 고딕"/>
              </a:rPr>
              <a:t> </a:t>
            </a:r>
            <a:r>
              <a:rPr sz="1000" dirty="0" err="1">
                <a:latin typeface="맑은 고딕"/>
              </a:rPr>
              <a:t>탄력이</a:t>
            </a:r>
            <a:r>
              <a:rPr sz="1000" dirty="0">
                <a:latin typeface="맑은 고딕"/>
              </a:rPr>
              <a:t> </a:t>
            </a:r>
            <a:r>
              <a:rPr sz="1000" dirty="0" err="1">
                <a:latin typeface="맑은 고딕"/>
              </a:rPr>
              <a:t>제한적임을</a:t>
            </a:r>
            <a:r>
              <a:rPr sz="1000" dirty="0">
                <a:latin typeface="맑은 고딕"/>
              </a:rPr>
              <a:t> </a:t>
            </a:r>
            <a:r>
              <a:rPr sz="1000" dirty="0" err="1">
                <a:latin typeface="맑은 고딕"/>
              </a:rPr>
              <a:t>시사한다</a:t>
            </a:r>
            <a:r>
              <a:rPr sz="1000" dirty="0">
                <a:latin typeface="맑은 고딕"/>
              </a:rPr>
              <a:t>.</a:t>
            </a:r>
          </a:p>
          <a:p>
            <a:pPr algn="justLow">
              <a:lnSpc>
                <a:spcPct val="132000"/>
              </a:lnSpc>
              <a:spcAft>
                <a:spcPts val="900"/>
              </a:spcAft>
            </a:pPr>
            <a:r>
              <a:rPr sz="1000" dirty="0" err="1">
                <a:latin typeface="맑은 고딕"/>
              </a:rPr>
              <a:t>핵심</a:t>
            </a:r>
            <a:r>
              <a:rPr sz="1000" dirty="0">
                <a:latin typeface="맑은 고딕"/>
              </a:rPr>
              <a:t> </a:t>
            </a:r>
            <a:r>
              <a:rPr sz="1000" dirty="0" err="1">
                <a:latin typeface="맑은 고딕"/>
              </a:rPr>
              <a:t>확인</a:t>
            </a:r>
            <a:r>
              <a:rPr sz="1000" dirty="0">
                <a:latin typeface="맑은 고딕"/>
              </a:rPr>
              <a:t> </a:t>
            </a:r>
            <a:r>
              <a:rPr sz="1000" dirty="0" err="1">
                <a:latin typeface="맑은 고딕"/>
              </a:rPr>
              <a:t>지표는</a:t>
            </a:r>
            <a:r>
              <a:rPr sz="1000" dirty="0">
                <a:latin typeface="맑은 고딕"/>
              </a:rPr>
              <a:t> </a:t>
            </a:r>
            <a:r>
              <a:rPr sz="1000" dirty="0" err="1">
                <a:latin typeface="맑은 고딕"/>
              </a:rPr>
              <a:t>유럽·북미</a:t>
            </a:r>
            <a:r>
              <a:rPr sz="1000" dirty="0">
                <a:latin typeface="맑은 고딕"/>
              </a:rPr>
              <a:t> BEV </a:t>
            </a:r>
            <a:r>
              <a:rPr sz="1000" dirty="0" err="1">
                <a:latin typeface="맑은 고딕"/>
              </a:rPr>
              <a:t>월별</a:t>
            </a:r>
            <a:r>
              <a:rPr sz="1000" dirty="0">
                <a:latin typeface="맑은 고딕"/>
              </a:rPr>
              <a:t> </a:t>
            </a:r>
            <a:r>
              <a:rPr sz="1000" dirty="0" err="1">
                <a:latin typeface="맑은 고딕"/>
              </a:rPr>
              <a:t>신규</a:t>
            </a:r>
            <a:r>
              <a:rPr sz="1000" dirty="0">
                <a:latin typeface="맑은 고딕"/>
              </a:rPr>
              <a:t> </a:t>
            </a:r>
            <a:r>
              <a:rPr sz="1000" dirty="0" err="1">
                <a:latin typeface="맑은 고딕"/>
              </a:rPr>
              <a:t>등록대수와</a:t>
            </a:r>
            <a:r>
              <a:rPr sz="1000" dirty="0">
                <a:latin typeface="맑은 고딕"/>
              </a:rPr>
              <a:t> </a:t>
            </a:r>
            <a:r>
              <a:rPr sz="1000" dirty="0" err="1">
                <a:latin typeface="맑은 고딕"/>
              </a:rPr>
              <a:t>유럽</a:t>
            </a:r>
            <a:r>
              <a:rPr sz="1000" dirty="0">
                <a:latin typeface="맑은 고딕"/>
              </a:rPr>
              <a:t> </a:t>
            </a:r>
            <a:r>
              <a:rPr sz="1000" dirty="0" err="1">
                <a:latin typeface="맑은 고딕"/>
              </a:rPr>
              <a:t>중대형</a:t>
            </a:r>
            <a:r>
              <a:rPr sz="1000" dirty="0">
                <a:latin typeface="맑은 고딕"/>
              </a:rPr>
              <a:t> EV </a:t>
            </a:r>
            <a:r>
              <a:rPr sz="1000" dirty="0" err="1">
                <a:latin typeface="맑은 고딕"/>
              </a:rPr>
              <a:t>매출의</a:t>
            </a:r>
            <a:r>
              <a:rPr sz="1000" dirty="0">
                <a:latin typeface="맑은 고딕"/>
              </a:rPr>
              <a:t> QoQ </a:t>
            </a:r>
            <a:r>
              <a:rPr sz="1000" dirty="0" err="1">
                <a:latin typeface="맑은 고딕"/>
              </a:rPr>
              <a:t>증감이며</a:t>
            </a:r>
            <a:r>
              <a:rPr sz="1000" dirty="0">
                <a:latin typeface="맑은 고딕"/>
              </a:rPr>
              <a:t>, </a:t>
            </a:r>
            <a:r>
              <a:rPr sz="1000" dirty="0" err="1">
                <a:latin typeface="맑은 고딕"/>
              </a:rPr>
              <a:t>여기에</a:t>
            </a:r>
            <a:r>
              <a:rPr sz="1000" dirty="0">
                <a:latin typeface="맑은 고딕"/>
              </a:rPr>
              <a:t> </a:t>
            </a:r>
            <a:r>
              <a:rPr sz="1000" dirty="0" err="1">
                <a:latin typeface="맑은 고딕"/>
              </a:rPr>
              <a:t>BMW·현대차</a:t>
            </a:r>
            <a:r>
              <a:rPr sz="1000" dirty="0">
                <a:latin typeface="맑은 고딕"/>
              </a:rPr>
              <a:t> </a:t>
            </a:r>
            <a:r>
              <a:rPr sz="1000" dirty="0" err="1">
                <a:latin typeface="맑은 고딕"/>
              </a:rPr>
              <a:t>신차</a:t>
            </a:r>
            <a:r>
              <a:rPr sz="1000" dirty="0">
                <a:latin typeface="맑은 고딕"/>
              </a:rPr>
              <a:t> </a:t>
            </a:r>
            <a:r>
              <a:rPr sz="1000" dirty="0" err="1">
                <a:latin typeface="맑은 고딕"/>
              </a:rPr>
              <a:t>유럽</a:t>
            </a:r>
            <a:r>
              <a:rPr sz="1000" dirty="0">
                <a:latin typeface="맑은 고딕"/>
              </a:rPr>
              <a:t> </a:t>
            </a:r>
            <a:r>
              <a:rPr sz="1000" dirty="0" err="1">
                <a:latin typeface="맑은 고딕"/>
              </a:rPr>
              <a:t>출시</a:t>
            </a:r>
            <a:r>
              <a:rPr sz="1000" dirty="0">
                <a:latin typeface="맑은 고딕"/>
              </a:rPr>
              <a:t> </a:t>
            </a:r>
            <a:r>
              <a:rPr sz="1000" dirty="0" err="1">
                <a:latin typeface="맑은 고딕"/>
              </a:rPr>
              <a:t>일정을</a:t>
            </a:r>
            <a:r>
              <a:rPr sz="1000" dirty="0">
                <a:latin typeface="맑은 고딕"/>
              </a:rPr>
              <a:t> </a:t>
            </a:r>
            <a:r>
              <a:rPr sz="1000" dirty="0" err="1">
                <a:latin typeface="맑은 고딕"/>
              </a:rPr>
              <a:t>함께</a:t>
            </a:r>
            <a:r>
              <a:rPr sz="1000" dirty="0">
                <a:latin typeface="맑은 고딕"/>
              </a:rPr>
              <a:t> </a:t>
            </a:r>
            <a:r>
              <a:rPr sz="1000" dirty="0" err="1">
                <a:latin typeface="맑은 고딕"/>
              </a:rPr>
              <a:t>본다</a:t>
            </a:r>
            <a:r>
              <a:rPr sz="1000" dirty="0">
                <a:latin typeface="맑은 고딕"/>
              </a:rPr>
              <a:t>. </a:t>
            </a:r>
            <a:r>
              <a:rPr sz="1000" dirty="0" err="1">
                <a:latin typeface="맑은 고딕"/>
              </a:rPr>
              <a:t>등록대수가</a:t>
            </a:r>
            <a:r>
              <a:rPr sz="1000" dirty="0">
                <a:latin typeface="맑은 고딕"/>
              </a:rPr>
              <a:t> 2~3개월 </a:t>
            </a:r>
            <a:r>
              <a:rPr sz="1000" dirty="0" err="1">
                <a:latin typeface="맑은 고딕"/>
              </a:rPr>
              <a:t>연속</a:t>
            </a:r>
            <a:r>
              <a:rPr sz="1000" dirty="0">
                <a:latin typeface="맑은 고딕"/>
              </a:rPr>
              <a:t> </a:t>
            </a:r>
            <a:r>
              <a:rPr sz="1000" dirty="0" err="1">
                <a:latin typeface="맑은 고딕"/>
              </a:rPr>
              <a:t>감소하면</a:t>
            </a:r>
            <a:r>
              <a:rPr sz="1000" dirty="0">
                <a:latin typeface="맑은 고딕"/>
              </a:rPr>
              <a:t> </a:t>
            </a:r>
            <a:r>
              <a:rPr sz="1000" dirty="0" err="1">
                <a:latin typeface="맑은 고딕"/>
              </a:rPr>
              <a:t>수요</a:t>
            </a:r>
            <a:r>
              <a:rPr sz="1000" dirty="0">
                <a:latin typeface="맑은 고딕"/>
              </a:rPr>
              <a:t> </a:t>
            </a:r>
            <a:r>
              <a:rPr sz="1000" dirty="0" err="1">
                <a:latin typeface="맑은 고딕"/>
              </a:rPr>
              <a:t>회복</a:t>
            </a:r>
            <a:r>
              <a:rPr sz="1000" dirty="0">
                <a:latin typeface="맑은 고딕"/>
              </a:rPr>
              <a:t> </a:t>
            </a:r>
            <a:r>
              <a:rPr sz="1000" dirty="0" err="1">
                <a:latin typeface="맑은 고딕"/>
              </a:rPr>
              <a:t>지연</a:t>
            </a:r>
            <a:r>
              <a:rPr sz="1000" dirty="0">
                <a:latin typeface="맑은 고딕"/>
              </a:rPr>
              <a:t> </a:t>
            </a:r>
            <a:r>
              <a:rPr sz="1000" dirty="0" err="1">
                <a:latin typeface="맑은 고딕"/>
              </a:rPr>
              <a:t>신호로</a:t>
            </a:r>
            <a:r>
              <a:rPr sz="1000" dirty="0">
                <a:latin typeface="맑은 고딕"/>
              </a:rPr>
              <a:t> </a:t>
            </a:r>
            <a:r>
              <a:rPr sz="1000" dirty="0" err="1">
                <a:latin typeface="맑은 고딕"/>
              </a:rPr>
              <a:t>해석한다</a:t>
            </a:r>
            <a:r>
              <a:rPr sz="1000" dirty="0">
                <a:latin typeface="맑은 고딕"/>
              </a:rPr>
              <a:t>.</a:t>
            </a:r>
          </a:p>
          <a:p>
            <a:pPr algn="justLow">
              <a:lnSpc>
                <a:spcPct val="132000"/>
              </a:lnSpc>
              <a:spcAft>
                <a:spcPts val="900"/>
              </a:spcAft>
            </a:pPr>
            <a:r>
              <a:rPr lang="ko-KR" altLang="en-US" sz="1000" dirty="0">
                <a:latin typeface="맑은 고딕"/>
              </a:rPr>
              <a:t>동사는 </a:t>
            </a:r>
            <a:r>
              <a:rPr sz="1000" dirty="0" err="1">
                <a:latin typeface="맑은 고딕"/>
              </a:rPr>
              <a:t>북미</a:t>
            </a:r>
            <a:r>
              <a:rPr sz="1000" dirty="0">
                <a:latin typeface="맑은 고딕"/>
              </a:rPr>
              <a:t> ESS·AMPC, UPS·BBU, </a:t>
            </a:r>
            <a:r>
              <a:rPr sz="1000" dirty="0" err="1">
                <a:latin typeface="맑은 고딕"/>
              </a:rPr>
              <a:t>전자재료로</a:t>
            </a:r>
            <a:r>
              <a:rPr sz="1000" dirty="0">
                <a:latin typeface="맑은 고딕"/>
              </a:rPr>
              <a:t> </a:t>
            </a:r>
            <a:r>
              <a:rPr sz="1000" dirty="0" err="1">
                <a:latin typeface="맑은 고딕"/>
              </a:rPr>
              <a:t>포트폴리오를</a:t>
            </a:r>
            <a:r>
              <a:rPr sz="1000" dirty="0">
                <a:latin typeface="맑은 고딕"/>
              </a:rPr>
              <a:t> </a:t>
            </a:r>
            <a:r>
              <a:rPr sz="1000" dirty="0" err="1">
                <a:latin typeface="맑은 고딕"/>
              </a:rPr>
              <a:t>확장해</a:t>
            </a:r>
            <a:r>
              <a:rPr sz="1000" dirty="0">
                <a:latin typeface="맑은 고딕"/>
              </a:rPr>
              <a:t> EV </a:t>
            </a:r>
            <a:r>
              <a:rPr sz="1000" dirty="0" err="1">
                <a:latin typeface="맑은 고딕"/>
              </a:rPr>
              <a:t>둔화</a:t>
            </a:r>
            <a:r>
              <a:rPr sz="1000" dirty="0">
                <a:latin typeface="맑은 고딕"/>
              </a:rPr>
              <a:t> </a:t>
            </a:r>
            <a:r>
              <a:rPr sz="1000" dirty="0" err="1">
                <a:latin typeface="맑은 고딕"/>
              </a:rPr>
              <a:t>구간의</a:t>
            </a:r>
            <a:r>
              <a:rPr sz="1000" dirty="0">
                <a:latin typeface="맑은 고딕"/>
              </a:rPr>
              <a:t> </a:t>
            </a:r>
            <a:r>
              <a:rPr sz="1000" dirty="0" err="1">
                <a:latin typeface="맑은 고딕"/>
              </a:rPr>
              <a:t>대체</a:t>
            </a:r>
            <a:r>
              <a:rPr sz="1000" dirty="0">
                <a:latin typeface="맑은 고딕"/>
              </a:rPr>
              <a:t> </a:t>
            </a:r>
            <a:r>
              <a:rPr sz="1000" dirty="0" err="1">
                <a:latin typeface="맑은 고딕"/>
              </a:rPr>
              <a:t>수요축을</a:t>
            </a:r>
            <a:r>
              <a:rPr sz="1000" dirty="0">
                <a:latin typeface="맑은 고딕"/>
              </a:rPr>
              <a:t> </a:t>
            </a:r>
            <a:r>
              <a:rPr sz="1000" dirty="0" err="1">
                <a:latin typeface="맑은 고딕"/>
              </a:rPr>
              <a:t>확보하고</a:t>
            </a:r>
            <a:r>
              <a:rPr sz="1000" dirty="0">
                <a:latin typeface="맑은 고딕"/>
              </a:rPr>
              <a:t>, </a:t>
            </a:r>
            <a:r>
              <a:rPr sz="1000" dirty="0" err="1">
                <a:latin typeface="맑은 고딕"/>
              </a:rPr>
              <a:t>고정비</a:t>
            </a:r>
            <a:r>
              <a:rPr sz="1000" dirty="0">
                <a:latin typeface="맑은 고딕"/>
              </a:rPr>
              <a:t> </a:t>
            </a:r>
            <a:r>
              <a:rPr sz="1000" dirty="0" err="1">
                <a:latin typeface="맑은 고딕"/>
              </a:rPr>
              <a:t>절감으로</a:t>
            </a:r>
            <a:r>
              <a:rPr sz="1000" dirty="0">
                <a:latin typeface="맑은 고딕"/>
              </a:rPr>
              <a:t> </a:t>
            </a:r>
            <a:r>
              <a:rPr sz="1000" dirty="0" err="1">
                <a:latin typeface="맑은 고딕"/>
              </a:rPr>
              <a:t>손익분기점을</a:t>
            </a:r>
            <a:r>
              <a:rPr sz="1000" dirty="0">
                <a:latin typeface="맑은 고딕"/>
              </a:rPr>
              <a:t> </a:t>
            </a:r>
            <a:r>
              <a:rPr sz="1000" dirty="0" err="1">
                <a:latin typeface="맑은 고딕"/>
              </a:rPr>
              <a:t>낮추고</a:t>
            </a:r>
            <a:r>
              <a:rPr sz="1000" dirty="0">
                <a:latin typeface="맑은 고딕"/>
              </a:rPr>
              <a:t> </a:t>
            </a:r>
            <a:r>
              <a:rPr sz="1000" dirty="0" err="1">
                <a:latin typeface="맑은 고딕"/>
              </a:rPr>
              <a:t>있다</a:t>
            </a:r>
            <a:r>
              <a:rPr sz="1000" dirty="0">
                <a:latin typeface="맑은 고딕"/>
              </a:rPr>
              <a:t>. </a:t>
            </a:r>
            <a:r>
              <a:rPr sz="1000" dirty="0" err="1">
                <a:latin typeface="맑은 고딕"/>
              </a:rPr>
              <a:t>특히</a:t>
            </a:r>
            <a:r>
              <a:rPr sz="1000" dirty="0">
                <a:latin typeface="맑은 고딕"/>
              </a:rPr>
              <a:t> </a:t>
            </a:r>
            <a:r>
              <a:rPr sz="1000" dirty="0" err="1">
                <a:latin typeface="맑은 고딕"/>
              </a:rPr>
              <a:t>전자재료는</a:t>
            </a:r>
            <a:r>
              <a:rPr sz="1000" dirty="0">
                <a:latin typeface="맑은 고딕"/>
              </a:rPr>
              <a:t> AI </a:t>
            </a:r>
            <a:r>
              <a:rPr sz="1000" dirty="0" err="1">
                <a:latin typeface="맑은 고딕"/>
              </a:rPr>
              <a:t>서버</a:t>
            </a:r>
            <a:r>
              <a:rPr sz="1000" dirty="0">
                <a:latin typeface="맑은 고딕"/>
              </a:rPr>
              <a:t> </a:t>
            </a:r>
            <a:r>
              <a:rPr sz="1000" dirty="0" err="1">
                <a:latin typeface="맑은 고딕"/>
              </a:rPr>
              <a:t>수요로</a:t>
            </a:r>
            <a:r>
              <a:rPr sz="1000" dirty="0">
                <a:latin typeface="맑은 고딕"/>
              </a:rPr>
              <a:t> 2026년 </a:t>
            </a:r>
            <a:r>
              <a:rPr sz="1000" dirty="0" err="1">
                <a:latin typeface="맑은 고딕"/>
              </a:rPr>
              <a:t>약</a:t>
            </a:r>
            <a:r>
              <a:rPr sz="1000" dirty="0">
                <a:latin typeface="맑은 고딕"/>
              </a:rPr>
              <a:t> 2,500억원 </a:t>
            </a:r>
            <a:r>
              <a:rPr sz="1000" dirty="0" err="1">
                <a:latin typeface="맑은 고딕"/>
              </a:rPr>
              <a:t>흑자가</a:t>
            </a:r>
            <a:r>
              <a:rPr sz="1000" dirty="0">
                <a:latin typeface="맑은 고딕"/>
              </a:rPr>
              <a:t> </a:t>
            </a:r>
            <a:r>
              <a:rPr sz="1000" dirty="0" err="1">
                <a:latin typeface="맑은 고딕"/>
              </a:rPr>
              <a:t>기대되어</a:t>
            </a:r>
            <a:r>
              <a:rPr sz="1000" dirty="0">
                <a:latin typeface="맑은 고딕"/>
              </a:rPr>
              <a:t> </a:t>
            </a:r>
            <a:r>
              <a:rPr sz="1000" dirty="0" err="1">
                <a:latin typeface="맑은 고딕"/>
              </a:rPr>
              <a:t>헝가리</a:t>
            </a:r>
            <a:r>
              <a:rPr sz="1000" dirty="0">
                <a:latin typeface="맑은 고딕"/>
              </a:rPr>
              <a:t> </a:t>
            </a:r>
            <a:r>
              <a:rPr sz="1000" dirty="0" err="1">
                <a:latin typeface="맑은 고딕"/>
              </a:rPr>
              <a:t>손실의</a:t>
            </a:r>
            <a:r>
              <a:rPr sz="1000" dirty="0">
                <a:latin typeface="맑은 고딕"/>
              </a:rPr>
              <a:t> </a:t>
            </a:r>
            <a:r>
              <a:rPr sz="1000" dirty="0" err="1">
                <a:latin typeface="맑은 고딕"/>
              </a:rPr>
              <a:t>약</a:t>
            </a:r>
            <a:r>
              <a:rPr sz="1000" dirty="0">
                <a:latin typeface="맑은 고딕"/>
              </a:rPr>
              <a:t> 30%를 </a:t>
            </a:r>
            <a:r>
              <a:rPr sz="1000" dirty="0" err="1">
                <a:latin typeface="맑은 고딕"/>
              </a:rPr>
              <a:t>상쇄하는</a:t>
            </a:r>
            <a:r>
              <a:rPr sz="1000" dirty="0">
                <a:latin typeface="맑은 고딕"/>
              </a:rPr>
              <a:t> </a:t>
            </a:r>
            <a:r>
              <a:rPr sz="1000" dirty="0" err="1">
                <a:latin typeface="맑은 고딕"/>
              </a:rPr>
              <a:t>완충</a:t>
            </a:r>
            <a:r>
              <a:rPr sz="1000" dirty="0">
                <a:latin typeface="맑은 고딕"/>
              </a:rPr>
              <a:t> </a:t>
            </a:r>
            <a:r>
              <a:rPr sz="1000" dirty="0" err="1">
                <a:latin typeface="맑은 고딕"/>
              </a:rPr>
              <a:t>역할을</a:t>
            </a:r>
            <a:r>
              <a:rPr sz="1000" dirty="0">
                <a:latin typeface="맑은 고딕"/>
              </a:rPr>
              <a:t> </a:t>
            </a:r>
            <a:r>
              <a:rPr sz="1000" dirty="0" err="1">
                <a:latin typeface="맑은 고딕"/>
              </a:rPr>
              <a:t>한다</a:t>
            </a:r>
            <a:r>
              <a:rPr sz="1000" dirty="0">
                <a:latin typeface="맑은 고딕"/>
              </a:rPr>
              <a:t>.</a:t>
            </a:r>
            <a:endParaRPr lang="en-US" sz="1000" dirty="0">
              <a:latin typeface="맑은 고딕"/>
            </a:endParaRPr>
          </a:p>
          <a:p>
            <a:pPr algn="justLow">
              <a:lnSpc>
                <a:spcPct val="132000"/>
              </a:lnSpc>
              <a:spcAft>
                <a:spcPts val="900"/>
              </a:spcAft>
            </a:pPr>
            <a:endParaRPr lang="en-KR" sz="1000" dirty="0">
              <a:latin typeface="맑은 고딕"/>
            </a:endParaRPr>
          </a:p>
        </p:txBody>
      </p:sp>
      <p:pic>
        <p:nvPicPr>
          <p:cNvPr id="14" name="Picture 13">
            <a:extLst>
              <a:ext uri="{FF2B5EF4-FFF2-40B4-BE49-F238E27FC236}">
                <a16:creationId xmlns:a16="http://schemas.microsoft.com/office/drawing/2014/main" id="{A830F10F-23E4-614D-D331-9FFFF0149098}"/>
              </a:ext>
            </a:extLst>
          </p:cNvPr>
          <p:cNvPicPr>
            <a:picLocks noChangeAspect="1"/>
          </p:cNvPicPr>
          <p:nvPr/>
        </p:nvPicPr>
        <p:blipFill>
          <a:blip r:embed="rId2"/>
          <a:stretch>
            <a:fillRect/>
          </a:stretch>
        </p:blipFill>
        <p:spPr>
          <a:xfrm>
            <a:off x="19015" y="4860525"/>
            <a:ext cx="3409985" cy="2273323"/>
          </a:xfrm>
          <a:prstGeom prst="rect">
            <a:avLst/>
          </a:prstGeom>
        </p:spPr>
      </p:pic>
      <p:pic>
        <p:nvPicPr>
          <p:cNvPr id="16" name="Picture 15">
            <a:extLst>
              <a:ext uri="{FF2B5EF4-FFF2-40B4-BE49-F238E27FC236}">
                <a16:creationId xmlns:a16="http://schemas.microsoft.com/office/drawing/2014/main" id="{883E1733-45D5-D9C6-CDE5-6C20094B9E5A}"/>
              </a:ext>
            </a:extLst>
          </p:cNvPr>
          <p:cNvPicPr>
            <a:picLocks noChangeAspect="1"/>
          </p:cNvPicPr>
          <p:nvPr/>
        </p:nvPicPr>
        <p:blipFill>
          <a:blip r:embed="rId3"/>
          <a:stretch>
            <a:fillRect/>
          </a:stretch>
        </p:blipFill>
        <p:spPr>
          <a:xfrm>
            <a:off x="3429000" y="5010771"/>
            <a:ext cx="3316822" cy="1992765"/>
          </a:xfrm>
          <a:prstGeom prst="rect">
            <a:avLst/>
          </a:prstGeom>
        </p:spPr>
      </p:pic>
      <p:sp>
        <p:nvSpPr>
          <p:cNvPr id="17" name="Rectangle 7">
            <a:extLst>
              <a:ext uri="{FF2B5EF4-FFF2-40B4-BE49-F238E27FC236}">
                <a16:creationId xmlns:a16="http://schemas.microsoft.com/office/drawing/2014/main" id="{0A19039E-FF3B-E7DE-247D-EE851BD5376B}"/>
              </a:ext>
            </a:extLst>
          </p:cNvPr>
          <p:cNvSpPr/>
          <p:nvPr/>
        </p:nvSpPr>
        <p:spPr>
          <a:xfrm>
            <a:off x="19015" y="4859848"/>
            <a:ext cx="6837886" cy="155677"/>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p>
        </p:txBody>
      </p:sp>
      <p:sp>
        <p:nvSpPr>
          <p:cNvPr id="18" name="TextBox 17"/>
          <p:cNvSpPr txBox="1"/>
          <p:nvPr/>
        </p:nvSpPr>
        <p:spPr>
          <a:xfrm>
            <a:off x="-37351" y="4832457"/>
            <a:ext cx="4308631" cy="230758"/>
          </a:xfrm>
          <a:prstGeom prst="rect">
            <a:avLst/>
          </a:prstGeom>
          <a:noFill/>
        </p:spPr>
        <p:txBody>
          <a:bodyPr wrap="square">
            <a:spAutoFit/>
          </a:bodyPr>
          <a:lstStyle/>
          <a:p>
            <a:pPr lvl="0">
              <a:defRPr/>
            </a:pPr>
            <a:r>
              <a:rPr lang="ko-KR" altLang="en-US" sz="900" b="1">
                <a:latin typeface="맑은 고딕"/>
              </a:rPr>
              <a:t>자료 </a:t>
            </a:r>
            <a:r>
              <a:rPr lang="en-US" altLang="ko-KR" sz="900" b="1">
                <a:latin typeface="맑은 고딕"/>
              </a:rPr>
              <a:t>32.</a:t>
            </a:r>
            <a:r>
              <a:rPr lang="ko-KR" altLang="en-US" sz="900" b="1">
                <a:latin typeface="맑은 고딕"/>
              </a:rPr>
              <a:t> 유럽 승용차 </a:t>
            </a:r>
            <a:r>
              <a:rPr lang="en-US" altLang="ko-KR" sz="900" b="1">
                <a:latin typeface="맑은 고딕"/>
              </a:rPr>
              <a:t>BEV/PHEV </a:t>
            </a:r>
            <a:r>
              <a:rPr lang="ko-KR" altLang="en-US" sz="900" b="1">
                <a:latin typeface="맑은 고딕"/>
              </a:rPr>
              <a:t>등록대수 </a:t>
            </a:r>
            <a:r>
              <a:rPr lang="en-US" altLang="ko-KR" sz="900" b="1">
                <a:latin typeface="맑은 고딕"/>
              </a:rPr>
              <a:t>MOM</a:t>
            </a:r>
            <a:endParaRPr lang="en-KR" sz="900" b="1">
              <a:latin typeface="맑은 고딕"/>
              <a:ea typeface="맑은 고딕"/>
            </a:endParaRPr>
          </a:p>
        </p:txBody>
      </p:sp>
      <p:sp>
        <p:nvSpPr>
          <p:cNvPr id="21" name="TextBox 20"/>
          <p:cNvSpPr txBox="1"/>
          <p:nvPr/>
        </p:nvSpPr>
        <p:spPr>
          <a:xfrm>
            <a:off x="3377504" y="4827303"/>
            <a:ext cx="3419812" cy="369214"/>
          </a:xfrm>
          <a:prstGeom prst="rect">
            <a:avLst/>
          </a:prstGeom>
          <a:noFill/>
        </p:spPr>
        <p:txBody>
          <a:bodyPr wrap="square">
            <a:spAutoFit/>
          </a:bodyPr>
          <a:lstStyle/>
          <a:p>
            <a:pPr lvl="0">
              <a:defRPr/>
            </a:pPr>
            <a:r>
              <a:rPr lang="ko-KR" altLang="en-US" sz="900" b="1">
                <a:latin typeface="맑은 고딕"/>
              </a:rPr>
              <a:t>자료 </a:t>
            </a:r>
            <a:r>
              <a:rPr lang="en-US" altLang="ko-KR" sz="900" b="1">
                <a:latin typeface="맑은 고딕"/>
              </a:rPr>
              <a:t>33.</a:t>
            </a:r>
            <a:r>
              <a:rPr lang="ko-KR" altLang="en-US" sz="900" b="1">
                <a:latin typeface="맑은 고딕"/>
              </a:rPr>
              <a:t> </a:t>
            </a:r>
            <a:r>
              <a:rPr lang="en-KR" sz="900" b="1">
                <a:latin typeface="맑은 고딕"/>
                <a:ea typeface="맑은 고딕"/>
              </a:rPr>
              <a:t>미국 월별 BEV 신규판매</a:t>
            </a:r>
            <a:endParaRPr lang="en-KR" sz="900" b="1">
              <a:latin typeface="맑은 고딕"/>
              <a:ea typeface="맑은 고딕"/>
            </a:endParaRPr>
          </a:p>
          <a:p>
            <a:pPr lvl="0">
              <a:defRPr/>
            </a:pPr>
            <a:r>
              <a:rPr lang="ko-KR" altLang="en-US" sz="900" b="1">
                <a:latin typeface="+mj-ea"/>
                <a:ea typeface="+mj-ea"/>
              </a:rPr>
              <a:t> </a:t>
            </a:r>
            <a:endParaRPr lang="en-KR" sz="900" b="1">
              <a:latin typeface="+mj-ea"/>
              <a:ea typeface="+mj-ea"/>
            </a:endParaRPr>
          </a:p>
        </p:txBody>
      </p:sp>
      <p:sp>
        <p:nvSpPr>
          <p:cNvPr id="22" name="TextBox 21">
            <a:extLst>
              <a:ext uri="{FF2B5EF4-FFF2-40B4-BE49-F238E27FC236}">
                <a16:creationId xmlns:a16="http://schemas.microsoft.com/office/drawing/2014/main" id="{F57D95F6-140B-1FE2-02FE-0AD9070B9A57}"/>
              </a:ext>
            </a:extLst>
          </p:cNvPr>
          <p:cNvSpPr txBox="1"/>
          <p:nvPr/>
        </p:nvSpPr>
        <p:spPr>
          <a:xfrm>
            <a:off x="19015" y="6976452"/>
            <a:ext cx="2398195" cy="218836"/>
          </a:xfrm>
          <a:prstGeom prst="rect">
            <a:avLst/>
          </a:prstGeom>
          <a:noFill/>
        </p:spPr>
        <p:txBody>
          <a:bodyPr wrap="square" rtlCol="0">
            <a:spAutoFit/>
          </a:bodyPr>
          <a:lstStyle/>
          <a:p>
            <a:pPr>
              <a:lnSpc>
                <a:spcPct val="112000"/>
              </a:lnSpc>
            </a:pPr>
            <a:r>
              <a:rPr lang="ko-KR" altLang="en-US" sz="800" i="1" dirty="0">
                <a:solidFill>
                  <a:schemeClr val="tx1">
                    <a:lumMod val="50000"/>
                    <a:lumOff val="50000"/>
                  </a:schemeClr>
                </a:solidFill>
                <a:latin typeface="+mj-ea"/>
                <a:ea typeface="+mj-ea"/>
              </a:rPr>
              <a:t>출처</a:t>
            </a:r>
            <a:r>
              <a:rPr lang="en-US" altLang="ko-KR" sz="800" i="1" dirty="0">
                <a:solidFill>
                  <a:schemeClr val="tx1">
                    <a:lumMod val="50000"/>
                    <a:lumOff val="50000"/>
                  </a:schemeClr>
                </a:solidFill>
                <a:latin typeface="+mj-ea"/>
                <a:ea typeface="+mj-ea"/>
              </a:rPr>
              <a:t>:</a:t>
            </a:r>
            <a:r>
              <a:rPr lang="ko-KR" altLang="en-US" sz="800" i="1" dirty="0">
                <a:solidFill>
                  <a:schemeClr val="tx1">
                    <a:lumMod val="50000"/>
                    <a:lumOff val="50000"/>
                  </a:schemeClr>
                </a:solidFill>
                <a:latin typeface="+mj-ea"/>
                <a:ea typeface="+mj-ea"/>
              </a:rPr>
              <a:t> </a:t>
            </a:r>
            <a:r>
              <a:rPr lang="en-KR" sz="800" i="1" dirty="0">
                <a:solidFill>
                  <a:schemeClr val="tx1">
                    <a:lumMod val="50000"/>
                    <a:lumOff val="50000"/>
                  </a:schemeClr>
                </a:solidFill>
                <a:latin typeface="+mj-ea"/>
                <a:ea typeface="+mj-ea"/>
              </a:rPr>
              <a:t>EAFO – Vehicles and fleet, </a:t>
            </a:r>
            <a:r>
              <a:rPr lang="en-US" sz="800" i="1" dirty="0">
                <a:solidFill>
                  <a:schemeClr val="tx1">
                    <a:lumMod val="50000"/>
                    <a:lumOff val="50000"/>
                  </a:schemeClr>
                </a:solidFill>
                <a:latin typeface="+mj-ea"/>
                <a:ea typeface="+mj-ea"/>
              </a:rPr>
              <a:t>ICOK</a:t>
            </a:r>
          </a:p>
        </p:txBody>
      </p:sp>
      <p:sp>
        <p:nvSpPr>
          <p:cNvPr id="23" name="TextBox 22">
            <a:extLst>
              <a:ext uri="{FF2B5EF4-FFF2-40B4-BE49-F238E27FC236}">
                <a16:creationId xmlns:a16="http://schemas.microsoft.com/office/drawing/2014/main" id="{0E41F8B7-9BE6-BFA4-B47D-5694B041E849}"/>
              </a:ext>
            </a:extLst>
          </p:cNvPr>
          <p:cNvSpPr txBox="1"/>
          <p:nvPr/>
        </p:nvSpPr>
        <p:spPr>
          <a:xfrm>
            <a:off x="3375644" y="6984061"/>
            <a:ext cx="3419812" cy="215375"/>
          </a:xfrm>
          <a:prstGeom prst="rect">
            <a:avLst/>
          </a:prstGeom>
          <a:noFill/>
        </p:spPr>
        <p:txBody>
          <a:bodyPr wrap="square" rtlCol="0">
            <a:spAutoFit/>
          </a:bodyPr>
          <a:lstStyle/>
          <a:p>
            <a:r>
              <a:rPr lang="ko-KR" altLang="en-US" sz="800" i="1" dirty="0">
                <a:solidFill>
                  <a:schemeClr val="tx1">
                    <a:lumMod val="50000"/>
                    <a:lumOff val="50000"/>
                  </a:schemeClr>
                </a:solidFill>
                <a:latin typeface="+mj-ea"/>
                <a:ea typeface="+mj-ea"/>
              </a:rPr>
              <a:t>출처</a:t>
            </a:r>
            <a:r>
              <a:rPr lang="en-US" altLang="ko-KR" sz="800" i="1" dirty="0">
                <a:solidFill>
                  <a:schemeClr val="tx1">
                    <a:lumMod val="50000"/>
                    <a:lumOff val="50000"/>
                  </a:schemeClr>
                </a:solidFill>
                <a:latin typeface="+mj-ea"/>
                <a:ea typeface="+mj-ea"/>
              </a:rPr>
              <a:t>:</a:t>
            </a:r>
            <a:r>
              <a:rPr lang="ko-KR" altLang="en-US" sz="800" i="1" dirty="0">
                <a:solidFill>
                  <a:schemeClr val="tx1">
                    <a:lumMod val="50000"/>
                    <a:lumOff val="50000"/>
                  </a:schemeClr>
                </a:solidFill>
                <a:latin typeface="+mj-ea"/>
                <a:ea typeface="+mj-ea"/>
              </a:rPr>
              <a:t> </a:t>
            </a:r>
            <a:r>
              <a:rPr lang="en-KR" sz="800" i="1" dirty="0">
                <a:solidFill>
                  <a:schemeClr val="tx1">
                    <a:lumMod val="50000"/>
                    <a:lumOff val="50000"/>
                  </a:schemeClr>
                </a:solidFill>
                <a:latin typeface="+mj-ea"/>
                <a:ea typeface="+mj-ea"/>
              </a:rPr>
              <a:t>Argonne – Light Duty EV Monthly Sales</a:t>
            </a:r>
            <a:r>
              <a:rPr lang="en-US" altLang="ko-KR" sz="800" i="1" dirty="0">
                <a:solidFill>
                  <a:schemeClr val="tx1">
                    <a:lumMod val="50000"/>
                    <a:lumOff val="50000"/>
                  </a:schemeClr>
                </a:solidFill>
                <a:latin typeface="+mj-ea"/>
                <a:ea typeface="+mj-ea"/>
              </a:rPr>
              <a:t>,</a:t>
            </a:r>
            <a:r>
              <a:rPr lang="ko-KR" altLang="en-US" sz="800" i="1" dirty="0">
                <a:solidFill>
                  <a:schemeClr val="tx1">
                    <a:lumMod val="50000"/>
                    <a:lumOff val="50000"/>
                  </a:schemeClr>
                </a:solidFill>
                <a:latin typeface="+mj-ea"/>
                <a:ea typeface="+mj-ea"/>
              </a:rPr>
              <a:t> </a:t>
            </a:r>
            <a:r>
              <a:rPr lang="en-US" sz="800" i="1" dirty="0">
                <a:solidFill>
                  <a:schemeClr val="tx1">
                    <a:lumMod val="50000"/>
                    <a:lumOff val="50000"/>
                  </a:schemeClr>
                </a:solidFill>
                <a:latin typeface="+mj-ea"/>
              </a:rPr>
              <a:t>ICOK</a:t>
            </a:r>
            <a:endParaRPr lang="en-KR" sz="800" i="1" dirty="0">
              <a:solidFill>
                <a:schemeClr val="tx1">
                  <a:lumMod val="50000"/>
                  <a:lumOff val="50000"/>
                </a:schemeClr>
              </a:solidFill>
              <a:latin typeface="+mj-ea"/>
              <a:ea typeface="+mj-ea"/>
            </a:endParaRPr>
          </a:p>
        </p:txBody>
      </p:sp>
      <p:sp>
        <p:nvSpPr>
          <p:cNvPr id="6" name="Rectangle 5">
            <a:extLst>
              <a:ext uri="{FF2B5EF4-FFF2-40B4-BE49-F238E27FC236}">
                <a16:creationId xmlns:a16="http://schemas.microsoft.com/office/drawing/2014/main" id="{D13729EB-0C61-C75E-1CB8-A12E9C9AE2D3}"/>
              </a:ext>
            </a:extLst>
          </p:cNvPr>
          <p:cNvSpPr>
            <a:spLocks/>
          </p:cNvSpPr>
          <p:nvPr/>
        </p:nvSpPr>
        <p:spPr>
          <a:xfrm>
            <a:off x="404797" y="7492163"/>
            <a:ext cx="5941695" cy="218836"/>
          </a:xfrm>
          <a:prstGeom prst="rect">
            <a:avLst/>
          </a:prstGeom>
          <a:solidFill>
            <a:schemeClr val="accent1">
              <a:lumMod val="40000"/>
              <a:lumOff val="6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10" name="TextBox 9">
            <a:extLst>
              <a:ext uri="{FF2B5EF4-FFF2-40B4-BE49-F238E27FC236}">
                <a16:creationId xmlns:a16="http://schemas.microsoft.com/office/drawing/2014/main" id="{B2F273F7-E512-B587-AF45-2D3138AED352}"/>
              </a:ext>
            </a:extLst>
          </p:cNvPr>
          <p:cNvSpPr txBox="1"/>
          <p:nvPr/>
        </p:nvSpPr>
        <p:spPr>
          <a:xfrm>
            <a:off x="404796" y="7508614"/>
            <a:ext cx="5115952" cy="369214"/>
          </a:xfrm>
          <a:prstGeom prst="rect">
            <a:avLst/>
          </a:prstGeom>
          <a:noFill/>
        </p:spPr>
        <p:txBody>
          <a:bodyPr wrap="square" rtlCol="0">
            <a:spAutoFit/>
          </a:bodyPr>
          <a:lstStyle/>
          <a:p>
            <a:r>
              <a:rPr lang="ko-KR" altLang="en-US" sz="900" b="1" dirty="0">
                <a:latin typeface="+mj-ea"/>
                <a:ea typeface="+mj-ea"/>
              </a:rPr>
              <a:t>자료 34. 삼성SDI 분기·연간 실적 추이</a:t>
            </a:r>
            <a:endParaRPr lang="en-US" sz="900" dirty="0">
              <a:latin typeface="+mj-ea"/>
              <a:ea typeface="+mj-ea"/>
            </a:endParaRPr>
          </a:p>
          <a:p>
            <a:endParaRPr lang="en-KR" sz="900" dirty="0">
              <a:latin typeface="+mj-ea"/>
              <a:ea typeface="+mj-ea"/>
            </a:endParaRPr>
          </a:p>
        </p:txBody>
      </p:sp>
      <p:sp>
        <p:nvSpPr>
          <p:cNvPr id="11" name="TextBox 10">
            <a:extLst>
              <a:ext uri="{FF2B5EF4-FFF2-40B4-BE49-F238E27FC236}">
                <a16:creationId xmlns:a16="http://schemas.microsoft.com/office/drawing/2014/main" id="{0B9F517E-5881-904B-9F64-DD6ACEC62961}"/>
              </a:ext>
            </a:extLst>
          </p:cNvPr>
          <p:cNvSpPr txBox="1"/>
          <p:nvPr/>
        </p:nvSpPr>
        <p:spPr>
          <a:xfrm>
            <a:off x="327565" y="9535586"/>
            <a:ext cx="5941695" cy="218836"/>
          </a:xfrm>
          <a:prstGeom prst="rect">
            <a:avLst/>
          </a:prstGeom>
          <a:noFill/>
        </p:spPr>
        <p:txBody>
          <a:bodyPr wrap="square" rtlCol="0">
            <a:spAutoFit/>
          </a:bodyPr>
          <a:lstStyle/>
          <a:p>
            <a:pPr>
              <a:lnSpc>
                <a:spcPct val="112000"/>
              </a:lnSpc>
            </a:pPr>
            <a:r>
              <a:rPr lang="ko-KR" altLang="en-US" sz="800" i="1" dirty="0">
                <a:solidFill>
                  <a:schemeClr val="tx1">
                    <a:lumMod val="50000"/>
                    <a:lumOff val="50000"/>
                  </a:schemeClr>
                </a:solidFill>
                <a:latin typeface="+mj-ea"/>
                <a:ea typeface="+mj-ea"/>
              </a:rPr>
              <a:t>출처: 삼성SDI IR 실적 자료, ICOK</a:t>
            </a:r>
            <a:endParaRPr lang="en-US" sz="800" i="1" dirty="0">
              <a:solidFill>
                <a:schemeClr val="tx1">
                  <a:lumMod val="50000"/>
                  <a:lumOff val="50000"/>
                </a:schemeClr>
              </a:solidFill>
              <a:latin typeface="+mj-ea"/>
              <a:ea typeface="+mj-ea"/>
            </a:endParaRPr>
          </a:p>
        </p:txBody>
      </p:sp>
      <p:pic>
        <p:nvPicPr>
          <p:cNvPr id="15" name="Picture 14">
            <a:extLst>
              <a:ext uri="{FF2B5EF4-FFF2-40B4-BE49-F238E27FC236}">
                <a16:creationId xmlns:a16="http://schemas.microsoft.com/office/drawing/2014/main" id="{89BFB281-1DBD-1B1A-B5FB-BC20B5A913F6}"/>
              </a:ext>
            </a:extLst>
          </p:cNvPr>
          <p:cNvPicPr>
            <a:picLocks noChangeAspect="1"/>
          </p:cNvPicPr>
          <p:nvPr/>
        </p:nvPicPr>
        <p:blipFill>
          <a:blip r:embed="rId4"/>
          <a:stretch>
            <a:fillRect/>
          </a:stretch>
        </p:blipFill>
        <p:spPr>
          <a:xfrm>
            <a:off x="394165" y="7711000"/>
            <a:ext cx="6005682" cy="1811586"/>
          </a:xfrm>
          <a:prstGeom prst="rect">
            <a:avLst/>
          </a:prstGeom>
        </p:spPr>
      </p:pic>
      <p:sp>
        <p:nvSpPr>
          <p:cNvPr id="24" name="TextBox 23"/>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22</a:t>
            </a: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153" y="383924"/>
            <a:ext cx="2011035" cy="146147"/>
          </a:xfrm>
          <a:prstGeom prst="rect">
            <a:avLst/>
          </a:prstGeom>
          <a:noFill/>
        </p:spPr>
        <p:txBody>
          <a:bodyPr wrap="square" lIns="0" tIns="0" rIns="0" bIns="0" anchor="t">
            <a:spAutoFit/>
          </a:bodyPr>
          <a:lstStyle/>
          <a:p>
            <a:pPr algn="l"/>
            <a:r>
              <a:rPr sz="950" b="1">
                <a:solidFill>
                  <a:srgbClr val="003A75"/>
                </a:solidFill>
                <a:latin typeface="맑은 고딕"/>
              </a:rPr>
              <a:t>Risk Point</a:t>
            </a:r>
          </a:p>
        </p:txBody>
      </p:sp>
      <p:sp>
        <p:nvSpPr>
          <p:cNvPr id="3" name="TextBox 2"/>
          <p:cNvSpPr txBox="1"/>
          <p:nvPr/>
        </p:nvSpPr>
        <p:spPr>
          <a:xfrm>
            <a:off x="2743420" y="383925"/>
            <a:ext cx="3656428" cy="138455"/>
          </a:xfrm>
          <a:prstGeom prst="rect">
            <a:avLst/>
          </a:prstGeom>
          <a:noFill/>
        </p:spPr>
        <p:txBody>
          <a:bodyPr wrap="square" lIns="0" tIns="0" rIns="0" bIns="0" anchor="t">
            <a:spAutoFit/>
          </a:bodyPr>
          <a:lstStyle/>
          <a:p>
            <a:pPr algn="r"/>
            <a:r>
              <a:rPr sz="900" dirty="0">
                <a:solidFill>
                  <a:srgbClr val="6B7785"/>
                </a:solidFill>
                <a:latin typeface="맑은 고딕"/>
              </a:rPr>
              <a:t>Company Research Report   |   삼성SDI (006400)</a:t>
            </a:r>
          </a:p>
        </p:txBody>
      </p:sp>
      <p:cxnSp>
        <p:nvCxnSpPr>
          <p:cNvPr id="4" name="Connector 3"/>
          <p:cNvCxnSpPr/>
          <p:nvPr/>
        </p:nvCxnSpPr>
        <p:spPr>
          <a:xfrm>
            <a:off x="458153" y="639874"/>
            <a:ext cx="5941695" cy="0"/>
          </a:xfrm>
          <a:prstGeom prst="line">
            <a:avLst/>
          </a:prstGeom>
          <a:ln w="15875">
            <a:solidFill>
              <a:srgbClr val="003A7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06617" y="833842"/>
            <a:ext cx="4643663" cy="215375"/>
          </a:xfrm>
          <a:prstGeom prst="rect">
            <a:avLst/>
          </a:prstGeom>
          <a:noFill/>
        </p:spPr>
        <p:txBody>
          <a:bodyPr wrap="square" lIns="0" tIns="0" rIns="0" bIns="0" anchor="ctr">
            <a:spAutoFit/>
          </a:bodyPr>
          <a:lstStyle/>
          <a:p>
            <a:pPr algn="l"/>
            <a:r>
              <a:rPr sz="1400" b="1" dirty="0">
                <a:solidFill>
                  <a:srgbClr val="005EB8"/>
                </a:solidFill>
                <a:latin typeface="맑은 고딕"/>
              </a:rPr>
              <a:t>5. Risk Point</a:t>
            </a:r>
          </a:p>
        </p:txBody>
      </p:sp>
      <p:sp>
        <p:nvSpPr>
          <p:cNvPr id="7" name="TextBox 6"/>
          <p:cNvSpPr txBox="1"/>
          <p:nvPr/>
        </p:nvSpPr>
        <p:spPr>
          <a:xfrm>
            <a:off x="1006617" y="1325455"/>
            <a:ext cx="5393231" cy="169223"/>
          </a:xfrm>
          <a:prstGeom prst="rect">
            <a:avLst/>
          </a:prstGeom>
          <a:noFill/>
        </p:spPr>
        <p:txBody>
          <a:bodyPr wrap="square" lIns="0" tIns="0" rIns="0" bIns="0" anchor="t">
            <a:spAutoFit/>
          </a:bodyPr>
          <a:lstStyle/>
          <a:p>
            <a:pPr algn="l"/>
            <a:r>
              <a:rPr sz="1100" b="1">
                <a:solidFill>
                  <a:srgbClr val="000000"/>
                </a:solidFill>
                <a:latin typeface="맑은 고딕"/>
              </a:rPr>
              <a:t>5.2  가동률·수율 지연</a:t>
            </a:r>
          </a:p>
        </p:txBody>
      </p:sp>
      <p:sp>
        <p:nvSpPr>
          <p:cNvPr id="8" name="TextBox 7"/>
          <p:cNvSpPr txBox="1"/>
          <p:nvPr/>
        </p:nvSpPr>
        <p:spPr>
          <a:xfrm>
            <a:off x="1006617" y="1608828"/>
            <a:ext cx="5393231" cy="161531"/>
          </a:xfrm>
          <a:prstGeom prst="rect">
            <a:avLst/>
          </a:prstGeom>
          <a:noFill/>
        </p:spPr>
        <p:txBody>
          <a:bodyPr wrap="square" lIns="0" tIns="0" rIns="0" bIns="0" anchor="t">
            <a:spAutoFit/>
          </a:bodyPr>
          <a:lstStyle/>
          <a:p>
            <a:pPr algn="l"/>
            <a:r>
              <a:rPr sz="1050" b="1">
                <a:solidFill>
                  <a:srgbClr val="222222"/>
                </a:solidFill>
                <a:latin typeface="맑은 고딕"/>
              </a:rPr>
              <a:t>정상화 지연 시 고정비 저주 + 환경·유해물질 리스크 — 회복 속도와 환경 허가가 관건</a:t>
            </a:r>
          </a:p>
        </p:txBody>
      </p:sp>
      <p:sp>
        <p:nvSpPr>
          <p:cNvPr id="9" name="TextBox 8"/>
          <p:cNvSpPr txBox="1"/>
          <p:nvPr/>
        </p:nvSpPr>
        <p:spPr>
          <a:xfrm>
            <a:off x="1006617" y="1919625"/>
            <a:ext cx="5393231" cy="2963195"/>
          </a:xfrm>
          <a:prstGeom prst="rect">
            <a:avLst/>
          </a:prstGeom>
          <a:noFill/>
        </p:spPr>
        <p:txBody>
          <a:bodyPr wrap="square" lIns="0" tIns="0" rIns="0" bIns="0">
            <a:spAutoFit/>
          </a:bodyPr>
          <a:lstStyle/>
          <a:p>
            <a:pPr algn="justLow">
              <a:lnSpc>
                <a:spcPct val="132000"/>
              </a:lnSpc>
              <a:spcAft>
                <a:spcPts val="900"/>
              </a:spcAft>
            </a:pPr>
            <a:r>
              <a:rPr sz="1000" dirty="0" err="1">
                <a:latin typeface="맑은 고딕"/>
              </a:rPr>
              <a:t>헝가리</a:t>
            </a:r>
            <a:r>
              <a:rPr sz="1000" dirty="0">
                <a:latin typeface="맑은 고딕"/>
              </a:rPr>
              <a:t> </a:t>
            </a:r>
            <a:r>
              <a:rPr sz="1000" dirty="0" err="1">
                <a:latin typeface="맑은 고딕"/>
              </a:rPr>
              <a:t>괴드</a:t>
            </a:r>
            <a:r>
              <a:rPr sz="1000" dirty="0">
                <a:latin typeface="맑은 고딕"/>
              </a:rPr>
              <a:t> </a:t>
            </a:r>
            <a:r>
              <a:rPr sz="1000" dirty="0" err="1">
                <a:latin typeface="맑은 고딕"/>
              </a:rPr>
              <a:t>공장은</a:t>
            </a:r>
            <a:r>
              <a:rPr sz="1000" dirty="0">
                <a:latin typeface="맑은 고딕"/>
              </a:rPr>
              <a:t> </a:t>
            </a:r>
            <a:r>
              <a:rPr sz="1000" dirty="0" err="1">
                <a:latin typeface="맑은 고딕"/>
              </a:rPr>
              <a:t>연산</a:t>
            </a:r>
            <a:r>
              <a:rPr sz="1000" dirty="0">
                <a:latin typeface="맑은 고딕"/>
              </a:rPr>
              <a:t> 40GWh </a:t>
            </a:r>
            <a:r>
              <a:rPr sz="1000" dirty="0" err="1">
                <a:latin typeface="맑은 고딕"/>
              </a:rPr>
              <a:t>규모이나</a:t>
            </a:r>
            <a:r>
              <a:rPr sz="1000" dirty="0">
                <a:latin typeface="맑은 고딕"/>
              </a:rPr>
              <a:t> 2025년 </a:t>
            </a:r>
            <a:r>
              <a:rPr sz="1000" dirty="0" err="1">
                <a:latin typeface="맑은 고딕"/>
              </a:rPr>
              <a:t>출하량이</a:t>
            </a:r>
            <a:r>
              <a:rPr sz="1000" dirty="0">
                <a:latin typeface="맑은 고딕"/>
              </a:rPr>
              <a:t> 12~16GWh에 </a:t>
            </a:r>
            <a:r>
              <a:rPr sz="1000" dirty="0" err="1">
                <a:latin typeface="맑은 고딕"/>
              </a:rPr>
              <a:t>그쳐</a:t>
            </a:r>
            <a:r>
              <a:rPr sz="1000" dirty="0">
                <a:latin typeface="맑은 고딕"/>
              </a:rPr>
              <a:t> </a:t>
            </a:r>
            <a:r>
              <a:rPr sz="1000" dirty="0" err="1">
                <a:latin typeface="맑은 고딕"/>
              </a:rPr>
              <a:t>가동률이</a:t>
            </a:r>
            <a:r>
              <a:rPr sz="1000" dirty="0">
                <a:latin typeface="맑은 고딕"/>
              </a:rPr>
              <a:t> 30% </a:t>
            </a:r>
            <a:r>
              <a:rPr sz="1000" dirty="0" err="1">
                <a:latin typeface="맑은 고딕"/>
              </a:rPr>
              <a:t>수준</a:t>
            </a:r>
            <a:r>
              <a:rPr sz="1000" dirty="0">
                <a:latin typeface="맑은 고딕"/>
              </a:rPr>
              <a:t>(8개 </a:t>
            </a:r>
            <a:r>
              <a:rPr sz="1000" dirty="0" err="1">
                <a:latin typeface="맑은 고딕"/>
              </a:rPr>
              <a:t>라인</a:t>
            </a:r>
            <a:r>
              <a:rPr sz="1000" dirty="0">
                <a:latin typeface="맑은 고딕"/>
              </a:rPr>
              <a:t> </a:t>
            </a:r>
            <a:r>
              <a:rPr sz="1000" dirty="0" err="1">
                <a:latin typeface="맑은 고딕"/>
              </a:rPr>
              <a:t>중</a:t>
            </a:r>
            <a:r>
              <a:rPr sz="1000" dirty="0">
                <a:latin typeface="맑은 고딕"/>
              </a:rPr>
              <a:t> 2~3개 </a:t>
            </a:r>
            <a:r>
              <a:rPr sz="1000" dirty="0" err="1">
                <a:latin typeface="맑은 고딕"/>
              </a:rPr>
              <a:t>가동</a:t>
            </a:r>
            <a:r>
              <a:rPr sz="1000" dirty="0">
                <a:latin typeface="맑은 고딕"/>
              </a:rPr>
              <a:t>)</a:t>
            </a:r>
            <a:r>
              <a:rPr sz="1000" dirty="0" err="1">
                <a:latin typeface="맑은 고딕"/>
              </a:rPr>
              <a:t>까지</a:t>
            </a:r>
            <a:r>
              <a:rPr sz="1000" dirty="0">
                <a:latin typeface="맑은 고딕"/>
              </a:rPr>
              <a:t> </a:t>
            </a:r>
            <a:r>
              <a:rPr sz="1000" dirty="0" err="1">
                <a:latin typeface="맑은 고딕"/>
              </a:rPr>
              <a:t>급락했고</a:t>
            </a:r>
            <a:r>
              <a:rPr sz="1000" dirty="0">
                <a:latin typeface="맑은 고딕"/>
              </a:rPr>
              <a:t>, </a:t>
            </a:r>
            <a:r>
              <a:rPr sz="1000" dirty="0" err="1">
                <a:latin typeface="맑은 고딕"/>
              </a:rPr>
              <a:t>분기당</a:t>
            </a:r>
            <a:r>
              <a:rPr sz="1000" dirty="0">
                <a:latin typeface="맑은 고딕"/>
              </a:rPr>
              <a:t> </a:t>
            </a:r>
            <a:r>
              <a:rPr sz="1000" dirty="0" err="1">
                <a:latin typeface="맑은 고딕"/>
              </a:rPr>
              <a:t>약</a:t>
            </a:r>
            <a:r>
              <a:rPr sz="1000" dirty="0">
                <a:latin typeface="맑은 고딕"/>
              </a:rPr>
              <a:t> 2,176억원의 </a:t>
            </a:r>
            <a:r>
              <a:rPr sz="1000" dirty="0" err="1">
                <a:latin typeface="맑은 고딕"/>
              </a:rPr>
              <a:t>고정비</a:t>
            </a:r>
            <a:r>
              <a:rPr sz="1000" dirty="0">
                <a:latin typeface="맑은 고딕"/>
              </a:rPr>
              <a:t> </a:t>
            </a:r>
            <a:r>
              <a:rPr sz="1000" dirty="0" err="1">
                <a:latin typeface="맑은 고딕"/>
              </a:rPr>
              <a:t>손실이</a:t>
            </a:r>
            <a:r>
              <a:rPr sz="1000" dirty="0">
                <a:latin typeface="맑은 고딕"/>
              </a:rPr>
              <a:t> </a:t>
            </a:r>
            <a:r>
              <a:rPr sz="1000" dirty="0" err="1">
                <a:latin typeface="맑은 고딕"/>
              </a:rPr>
              <a:t>발생하고</a:t>
            </a:r>
            <a:r>
              <a:rPr sz="1000" dirty="0">
                <a:latin typeface="맑은 고딕"/>
              </a:rPr>
              <a:t> </a:t>
            </a:r>
            <a:r>
              <a:rPr sz="1000" dirty="0" err="1">
                <a:latin typeface="맑은 고딕"/>
              </a:rPr>
              <a:t>있다</a:t>
            </a:r>
            <a:r>
              <a:rPr sz="1000" dirty="0">
                <a:solidFill/>
                <a:latin typeface="맑은 고딕"/>
              </a:rPr>
              <a:t>.</a:t>
            </a:r>
            <a:r>
              <a:rPr sz="1000" dirty="0">
                <a:latin typeface="맑은 고딕"/>
              </a:rPr>
              <a:t> </a:t>
            </a:r>
            <a:r>
              <a:rPr sz="1000" dirty="0" err="1">
                <a:latin typeface="맑은 고딕"/>
              </a:rPr>
              <a:t>이는</a:t>
            </a:r>
            <a:r>
              <a:rPr sz="1000" dirty="0">
                <a:latin typeface="맑은 고딕"/>
              </a:rPr>
              <a:t> </a:t>
            </a:r>
            <a:r>
              <a:rPr sz="1000" dirty="0" err="1">
                <a:latin typeface="맑은 고딕"/>
              </a:rPr>
              <a:t>아래</a:t>
            </a:r>
            <a:r>
              <a:rPr sz="1000" dirty="0">
                <a:latin typeface="맑은 고딕"/>
              </a:rPr>
              <a:t> </a:t>
            </a:r>
            <a:r>
              <a:rPr sz="1000" dirty="0" err="1">
                <a:latin typeface="맑은 고딕"/>
              </a:rPr>
              <a:t>리스크</a:t>
            </a:r>
            <a:r>
              <a:rPr sz="1000" dirty="0">
                <a:latin typeface="맑은 고딕"/>
              </a:rPr>
              <a:t> </a:t>
            </a:r>
            <a:r>
              <a:rPr sz="1000" dirty="0" err="1">
                <a:latin typeface="맑은 고딕"/>
              </a:rPr>
              <a:t>매트릭스에서도</a:t>
            </a:r>
            <a:r>
              <a:rPr sz="1000" dirty="0">
                <a:latin typeface="맑은 고딕"/>
              </a:rPr>
              <a:t> </a:t>
            </a:r>
            <a:r>
              <a:rPr sz="1000" dirty="0" err="1">
                <a:latin typeface="맑은 고딕"/>
              </a:rPr>
              <a:t>영향도</a:t>
            </a:r>
            <a:r>
              <a:rPr sz="1000" dirty="0">
                <a:latin typeface="맑은 고딕"/>
              </a:rPr>
              <a:t> </a:t>
            </a:r>
            <a:r>
              <a:rPr sz="1000" dirty="0" err="1">
                <a:latin typeface="맑은 고딕"/>
              </a:rPr>
              <a:t>최상위</a:t>
            </a:r>
            <a:r>
              <a:rPr sz="1000" dirty="0">
                <a:latin typeface="맑은 고딕"/>
              </a:rPr>
              <a:t> </a:t>
            </a:r>
            <a:r>
              <a:rPr sz="1000" dirty="0" err="1">
                <a:latin typeface="맑은 고딕"/>
              </a:rPr>
              <a:t>리스크로</a:t>
            </a:r>
            <a:r>
              <a:rPr sz="1000" dirty="0">
                <a:latin typeface="맑은 고딕"/>
              </a:rPr>
              <a:t> </a:t>
            </a:r>
            <a:r>
              <a:rPr sz="1000" dirty="0" err="1">
                <a:latin typeface="맑은 고딕"/>
              </a:rPr>
              <a:t>반영돼</a:t>
            </a:r>
            <a:r>
              <a:rPr sz="1000" dirty="0">
                <a:latin typeface="맑은 고딕"/>
              </a:rPr>
              <a:t> </a:t>
            </a:r>
            <a:r>
              <a:rPr sz="1000" dirty="0" err="1">
                <a:latin typeface="맑은 고딕"/>
              </a:rPr>
              <a:t>있다</a:t>
            </a:r>
            <a:r>
              <a:rPr sz="1000" dirty="0">
                <a:latin typeface="맑은 고딕"/>
              </a:rPr>
              <a:t>.</a:t>
            </a:r>
            <a:endParaRPr lang="en-US" sz="1000" dirty="0">
              <a:latin typeface="맑은 고딕"/>
            </a:endParaRPr>
          </a:p>
          <a:p>
            <a:pPr algn="justLow">
              <a:lnSpc>
                <a:spcPct val="132000"/>
              </a:lnSpc>
              <a:spcAft>
                <a:spcPts val="900"/>
              </a:spcAft>
            </a:pPr>
            <a:r>
              <a:rPr sz="1000" dirty="0" err="1">
                <a:latin typeface="맑은 고딕"/>
              </a:rPr>
              <a:t>가동률·수율</a:t>
            </a:r>
            <a:r>
              <a:rPr sz="1000" dirty="0">
                <a:latin typeface="맑은 고딕"/>
              </a:rPr>
              <a:t> </a:t>
            </a:r>
            <a:r>
              <a:rPr sz="1000" dirty="0" err="1">
                <a:latin typeface="맑은 고딕"/>
              </a:rPr>
              <a:t>정상화</a:t>
            </a:r>
            <a:r>
              <a:rPr sz="1000" dirty="0">
                <a:latin typeface="맑은 고딕"/>
              </a:rPr>
              <a:t> </a:t>
            </a:r>
            <a:r>
              <a:rPr sz="1000" dirty="0" err="1">
                <a:latin typeface="맑은 고딕"/>
              </a:rPr>
              <a:t>속도가</a:t>
            </a:r>
            <a:r>
              <a:rPr sz="1000" dirty="0">
                <a:latin typeface="맑은 고딕"/>
              </a:rPr>
              <a:t> 2026년 </a:t>
            </a:r>
            <a:r>
              <a:rPr sz="1000" dirty="0" err="1">
                <a:latin typeface="맑은 고딕"/>
              </a:rPr>
              <a:t>실적</a:t>
            </a:r>
            <a:r>
              <a:rPr sz="1000" dirty="0">
                <a:latin typeface="맑은 고딕"/>
              </a:rPr>
              <a:t> </a:t>
            </a:r>
            <a:r>
              <a:rPr sz="1000" dirty="0" err="1">
                <a:latin typeface="맑은 고딕"/>
              </a:rPr>
              <a:t>방향을</a:t>
            </a:r>
            <a:r>
              <a:rPr sz="1000" dirty="0">
                <a:latin typeface="맑은 고딕"/>
              </a:rPr>
              <a:t> </a:t>
            </a:r>
            <a:r>
              <a:rPr sz="1000" dirty="0" err="1">
                <a:latin typeface="맑은 고딕"/>
              </a:rPr>
              <a:t>좌우한다</a:t>
            </a:r>
            <a:r>
              <a:rPr sz="1000" dirty="0">
                <a:latin typeface="맑은 고딕"/>
              </a:rPr>
              <a:t>(</a:t>
            </a:r>
            <a:r>
              <a:rPr sz="1000" dirty="0" err="1">
                <a:latin typeface="맑은 고딕"/>
              </a:rPr>
              <a:t>가동률</a:t>
            </a:r>
            <a:r>
              <a:rPr sz="1000" dirty="0">
                <a:latin typeface="맑은 고딕"/>
              </a:rPr>
              <a:t> </a:t>
            </a:r>
            <a:r>
              <a:rPr sz="1000" dirty="0" err="1">
                <a:latin typeface="맑은 고딕"/>
              </a:rPr>
              <a:t>회복에</a:t>
            </a:r>
            <a:r>
              <a:rPr sz="1000" dirty="0">
                <a:latin typeface="맑은 고딕"/>
              </a:rPr>
              <a:t> </a:t>
            </a:r>
            <a:r>
              <a:rPr sz="1000" dirty="0" err="1">
                <a:latin typeface="맑은 고딕"/>
              </a:rPr>
              <a:t>따른</a:t>
            </a:r>
            <a:r>
              <a:rPr sz="1000" dirty="0">
                <a:latin typeface="맑은 고딕"/>
              </a:rPr>
              <a:t> </a:t>
            </a:r>
            <a:r>
              <a:rPr sz="1000" dirty="0" err="1">
                <a:latin typeface="맑은 고딕"/>
              </a:rPr>
              <a:t>영업이익</a:t>
            </a:r>
            <a:r>
              <a:rPr sz="1000" dirty="0">
                <a:latin typeface="맑은 고딕"/>
              </a:rPr>
              <a:t> </a:t>
            </a:r>
            <a:r>
              <a:rPr sz="1000" dirty="0" err="1">
                <a:latin typeface="맑은 고딕"/>
              </a:rPr>
              <a:t>개선·BEP</a:t>
            </a:r>
            <a:r>
              <a:rPr sz="1000" dirty="0">
                <a:latin typeface="맑은 고딕"/>
              </a:rPr>
              <a:t> </a:t>
            </a:r>
            <a:r>
              <a:rPr sz="1000" dirty="0" err="1">
                <a:latin typeface="맑은 고딕"/>
              </a:rPr>
              <a:t>도달</a:t>
            </a:r>
            <a:r>
              <a:rPr sz="1000" dirty="0">
                <a:latin typeface="맑은 고딕"/>
              </a:rPr>
              <a:t> </a:t>
            </a:r>
            <a:r>
              <a:rPr sz="1000" dirty="0" err="1">
                <a:latin typeface="맑은 고딕"/>
              </a:rPr>
              <a:t>경로는</a:t>
            </a:r>
            <a:r>
              <a:rPr sz="1000" dirty="0">
                <a:latin typeface="맑은 고딕"/>
              </a:rPr>
              <a:t> </a:t>
            </a:r>
            <a:r>
              <a:rPr sz="1000" dirty="0" err="1">
                <a:latin typeface="맑은 고딕"/>
              </a:rPr>
              <a:t>투자포인트</a:t>
            </a:r>
            <a:r>
              <a:rPr sz="1000" dirty="0">
                <a:latin typeface="맑은 고딕"/>
              </a:rPr>
              <a:t> 3.2 </a:t>
            </a:r>
            <a:r>
              <a:rPr sz="1000" dirty="0" err="1">
                <a:latin typeface="맑은 고딕"/>
              </a:rPr>
              <a:t>참조</a:t>
            </a:r>
            <a:r>
              <a:rPr sz="1000" dirty="0">
                <a:latin typeface="맑은 고딕"/>
              </a:rPr>
              <a:t>). </a:t>
            </a:r>
            <a:r>
              <a:rPr sz="1000" dirty="0" err="1">
                <a:latin typeface="맑은 고딕"/>
              </a:rPr>
              <a:t>정상화가</a:t>
            </a:r>
            <a:r>
              <a:rPr sz="1000" dirty="0">
                <a:latin typeface="맑은 고딕"/>
              </a:rPr>
              <a:t> </a:t>
            </a:r>
            <a:r>
              <a:rPr sz="1000" dirty="0" err="1">
                <a:latin typeface="맑은 고딕"/>
              </a:rPr>
              <a:t>지연되면</a:t>
            </a:r>
            <a:r>
              <a:rPr sz="1000" dirty="0">
                <a:latin typeface="맑은 고딕"/>
              </a:rPr>
              <a:t> </a:t>
            </a:r>
            <a:r>
              <a:rPr sz="1000" dirty="0" err="1">
                <a:latin typeface="맑은 고딕"/>
              </a:rPr>
              <a:t>현대차·BMW</a:t>
            </a:r>
            <a:r>
              <a:rPr sz="1000" dirty="0">
                <a:latin typeface="맑은 고딕"/>
              </a:rPr>
              <a:t> </a:t>
            </a:r>
            <a:r>
              <a:rPr sz="1000" dirty="0" err="1">
                <a:latin typeface="맑은 고딕"/>
              </a:rPr>
              <a:t>신규</a:t>
            </a:r>
            <a:r>
              <a:rPr sz="1000" dirty="0">
                <a:latin typeface="맑은 고딕"/>
              </a:rPr>
              <a:t> </a:t>
            </a:r>
            <a:r>
              <a:rPr sz="1000" dirty="0" err="1">
                <a:latin typeface="맑은 고딕"/>
              </a:rPr>
              <a:t>라인</a:t>
            </a:r>
            <a:r>
              <a:rPr sz="1000" dirty="0">
                <a:latin typeface="맑은 고딕"/>
              </a:rPr>
              <a:t> </a:t>
            </a:r>
            <a:r>
              <a:rPr sz="1000" dirty="0" err="1">
                <a:latin typeface="맑은 고딕"/>
              </a:rPr>
              <a:t>가동이</a:t>
            </a:r>
            <a:r>
              <a:rPr sz="1000" dirty="0">
                <a:latin typeface="맑은 고딕"/>
              </a:rPr>
              <a:t> </a:t>
            </a:r>
            <a:r>
              <a:rPr sz="1000" dirty="0" err="1">
                <a:latin typeface="맑은 고딕"/>
              </a:rPr>
              <a:t>밀리거나</a:t>
            </a:r>
            <a:r>
              <a:rPr sz="1000" dirty="0">
                <a:latin typeface="맑은 고딕"/>
              </a:rPr>
              <a:t> </a:t>
            </a:r>
            <a:r>
              <a:rPr sz="1000" dirty="0" err="1">
                <a:latin typeface="맑은 고딕"/>
              </a:rPr>
              <a:t>수율</a:t>
            </a:r>
            <a:r>
              <a:rPr sz="1000" dirty="0">
                <a:latin typeface="맑은 고딕"/>
              </a:rPr>
              <a:t> </a:t>
            </a:r>
            <a:r>
              <a:rPr sz="1000" dirty="0" err="1">
                <a:latin typeface="맑은 고딕"/>
              </a:rPr>
              <a:t>개선이</a:t>
            </a:r>
            <a:r>
              <a:rPr sz="1000" dirty="0">
                <a:latin typeface="맑은 고딕"/>
              </a:rPr>
              <a:t> </a:t>
            </a:r>
            <a:r>
              <a:rPr sz="1000" dirty="0" err="1">
                <a:latin typeface="맑은 고딕"/>
              </a:rPr>
              <a:t>더딘</a:t>
            </a:r>
            <a:r>
              <a:rPr sz="1000" dirty="0">
                <a:latin typeface="맑은 고딕"/>
              </a:rPr>
              <a:t> </a:t>
            </a:r>
            <a:r>
              <a:rPr sz="1000" dirty="0" err="1">
                <a:latin typeface="맑은 고딕"/>
              </a:rPr>
              <a:t>경우</a:t>
            </a:r>
            <a:r>
              <a:rPr sz="1000" dirty="0">
                <a:latin typeface="맑은 고딕"/>
              </a:rPr>
              <a:t> 40GWh </a:t>
            </a:r>
            <a:r>
              <a:rPr sz="1000" dirty="0" err="1">
                <a:latin typeface="맑은 고딕"/>
              </a:rPr>
              <a:t>규모의</a:t>
            </a:r>
            <a:r>
              <a:rPr sz="1000" dirty="0">
                <a:latin typeface="맑은 고딕"/>
              </a:rPr>
              <a:t> </a:t>
            </a:r>
            <a:r>
              <a:rPr sz="1000" dirty="0" err="1">
                <a:latin typeface="맑은 고딕"/>
              </a:rPr>
              <a:t>고정비가</a:t>
            </a:r>
            <a:r>
              <a:rPr sz="1000" dirty="0">
                <a:latin typeface="맑은 고딕"/>
              </a:rPr>
              <a:t> </a:t>
            </a:r>
            <a:r>
              <a:rPr sz="1000" dirty="0" err="1">
                <a:latin typeface="맑은 고딕"/>
              </a:rPr>
              <a:t>저가동</a:t>
            </a:r>
            <a:r>
              <a:rPr sz="1000" dirty="0">
                <a:latin typeface="맑은 고딕"/>
              </a:rPr>
              <a:t> </a:t>
            </a:r>
            <a:r>
              <a:rPr sz="1000" dirty="0" err="1">
                <a:latin typeface="맑은 고딕"/>
              </a:rPr>
              <a:t>구간에서</a:t>
            </a:r>
            <a:r>
              <a:rPr sz="1000" dirty="0">
                <a:latin typeface="맑은 고딕"/>
              </a:rPr>
              <a:t> </a:t>
            </a:r>
            <a:r>
              <a:rPr sz="1000" dirty="0" err="1">
                <a:latin typeface="맑은 고딕"/>
              </a:rPr>
              <a:t>전액</a:t>
            </a:r>
            <a:r>
              <a:rPr sz="1000" dirty="0">
                <a:latin typeface="맑은 고딕"/>
              </a:rPr>
              <a:t> </a:t>
            </a:r>
            <a:r>
              <a:rPr sz="1000" dirty="0" err="1">
                <a:latin typeface="맑은 고딕"/>
              </a:rPr>
              <a:t>손실로</a:t>
            </a:r>
            <a:r>
              <a:rPr sz="1000" dirty="0">
                <a:latin typeface="맑은 고딕"/>
              </a:rPr>
              <a:t> </a:t>
            </a:r>
            <a:r>
              <a:rPr sz="1000" dirty="0" err="1">
                <a:latin typeface="맑은 고딕"/>
              </a:rPr>
              <a:t>전환되는</a:t>
            </a:r>
            <a:r>
              <a:rPr sz="1000" dirty="0">
                <a:latin typeface="맑은 고딕"/>
              </a:rPr>
              <a:t> ‘</a:t>
            </a:r>
            <a:r>
              <a:rPr sz="1000" dirty="0" err="1">
                <a:latin typeface="맑은 고딕"/>
              </a:rPr>
              <a:t>고정비</a:t>
            </a:r>
            <a:r>
              <a:rPr sz="1000" dirty="0">
                <a:latin typeface="맑은 고딕"/>
              </a:rPr>
              <a:t> </a:t>
            </a:r>
            <a:r>
              <a:rPr sz="1000" dirty="0" err="1">
                <a:latin typeface="맑은 고딕"/>
              </a:rPr>
              <a:t>저주’가</a:t>
            </a:r>
            <a:r>
              <a:rPr sz="1000" dirty="0">
                <a:latin typeface="맑은 고딕"/>
              </a:rPr>
              <a:t> </a:t>
            </a:r>
            <a:r>
              <a:rPr sz="1000" dirty="0" err="1">
                <a:latin typeface="맑은 고딕"/>
              </a:rPr>
              <a:t>발동되어</a:t>
            </a:r>
            <a:r>
              <a:rPr sz="1000" dirty="0">
                <a:latin typeface="맑은 고딕"/>
              </a:rPr>
              <a:t> </a:t>
            </a:r>
            <a:r>
              <a:rPr sz="1000" dirty="0" err="1">
                <a:latin typeface="맑은 고딕"/>
              </a:rPr>
              <a:t>분기</a:t>
            </a:r>
            <a:r>
              <a:rPr sz="1000" dirty="0">
                <a:latin typeface="맑은 고딕"/>
              </a:rPr>
              <a:t> </a:t>
            </a:r>
            <a:r>
              <a:rPr sz="1000" dirty="0" err="1">
                <a:latin typeface="맑은 고딕"/>
              </a:rPr>
              <a:t>적자가</a:t>
            </a:r>
            <a:r>
              <a:rPr sz="1000" dirty="0">
                <a:latin typeface="맑은 고딕"/>
              </a:rPr>
              <a:t> 2,000억원대로 </a:t>
            </a:r>
            <a:r>
              <a:rPr sz="1000" dirty="0" err="1">
                <a:latin typeface="맑은 고딕"/>
              </a:rPr>
              <a:t>고착될</a:t>
            </a:r>
            <a:r>
              <a:rPr sz="1000" dirty="0">
                <a:latin typeface="맑은 고딕"/>
              </a:rPr>
              <a:t> </a:t>
            </a:r>
            <a:r>
              <a:rPr sz="1000" dirty="0" err="1">
                <a:latin typeface="맑은 고딕"/>
              </a:rPr>
              <a:t>수</a:t>
            </a:r>
            <a:r>
              <a:rPr sz="1000" dirty="0">
                <a:latin typeface="맑은 고딕"/>
              </a:rPr>
              <a:t> </a:t>
            </a:r>
            <a:r>
              <a:rPr sz="1000" dirty="0" err="1">
                <a:latin typeface="맑은 고딕"/>
              </a:rPr>
              <a:t>있다</a:t>
            </a:r>
            <a:r>
              <a:rPr sz="1000" dirty="0">
                <a:latin typeface="맑은 고딕"/>
              </a:rPr>
              <a:t>.</a:t>
            </a:r>
          </a:p>
          <a:p>
            <a:pPr algn="justLow">
              <a:lnSpc>
                <a:spcPct val="132000"/>
              </a:lnSpc>
              <a:spcAft>
                <a:spcPts val="900"/>
              </a:spcAft>
            </a:pPr>
            <a:r>
              <a:rPr sz="1000" dirty="0" err="1">
                <a:latin typeface="맑은 고딕"/>
              </a:rPr>
              <a:t>헝가리</a:t>
            </a:r>
            <a:r>
              <a:rPr sz="1000" dirty="0">
                <a:latin typeface="맑은 고딕"/>
              </a:rPr>
              <a:t> </a:t>
            </a:r>
            <a:r>
              <a:rPr sz="1000" dirty="0" err="1">
                <a:latin typeface="맑은 고딕"/>
              </a:rPr>
              <a:t>가동률</a:t>
            </a:r>
            <a:r>
              <a:rPr sz="1000" dirty="0">
                <a:latin typeface="맑은 고딕"/>
              </a:rPr>
              <a:t> 60% </a:t>
            </a:r>
            <a:r>
              <a:rPr sz="1000" dirty="0" err="1">
                <a:latin typeface="맑은 고딕"/>
              </a:rPr>
              <a:t>미만이</a:t>
            </a:r>
            <a:r>
              <a:rPr sz="1000" dirty="0">
                <a:latin typeface="맑은 고딕"/>
              </a:rPr>
              <a:t> 2개 </a:t>
            </a:r>
            <a:r>
              <a:rPr sz="1000" dirty="0" err="1">
                <a:latin typeface="맑은 고딕"/>
              </a:rPr>
              <a:t>분기</a:t>
            </a:r>
            <a:r>
              <a:rPr sz="1000" dirty="0">
                <a:latin typeface="맑은 고딕"/>
              </a:rPr>
              <a:t> </a:t>
            </a:r>
            <a:r>
              <a:rPr sz="1000" dirty="0" err="1">
                <a:latin typeface="맑은 고딕"/>
              </a:rPr>
              <a:t>연속이거나</a:t>
            </a:r>
            <a:r>
              <a:rPr sz="1000" dirty="0">
                <a:latin typeface="맑은 고딕"/>
              </a:rPr>
              <a:t> </a:t>
            </a:r>
            <a:r>
              <a:rPr sz="1000" dirty="0" err="1">
                <a:latin typeface="맑은 고딕"/>
              </a:rPr>
              <a:t>수율</a:t>
            </a:r>
            <a:r>
              <a:rPr sz="1000" dirty="0">
                <a:latin typeface="맑은 고딕"/>
              </a:rPr>
              <a:t> 80% </a:t>
            </a:r>
            <a:r>
              <a:rPr sz="1000" dirty="0" err="1">
                <a:latin typeface="맑은 고딕"/>
              </a:rPr>
              <a:t>이하</a:t>
            </a:r>
            <a:r>
              <a:rPr sz="1000" dirty="0">
                <a:latin typeface="맑은 고딕"/>
              </a:rPr>
              <a:t> </a:t>
            </a:r>
            <a:r>
              <a:rPr sz="1000" dirty="0" err="1">
                <a:latin typeface="맑은 고딕"/>
              </a:rPr>
              <a:t>개선이</a:t>
            </a:r>
            <a:r>
              <a:rPr sz="1000" dirty="0">
                <a:latin typeface="맑은 고딕"/>
              </a:rPr>
              <a:t> </a:t>
            </a:r>
            <a:r>
              <a:rPr sz="1000" dirty="0" err="1">
                <a:latin typeface="맑은 고딕"/>
              </a:rPr>
              <a:t>없을</a:t>
            </a:r>
            <a:r>
              <a:rPr sz="1000" dirty="0">
                <a:latin typeface="맑은 고딕"/>
              </a:rPr>
              <a:t> </a:t>
            </a:r>
            <a:r>
              <a:rPr sz="1000" dirty="0" err="1">
                <a:latin typeface="맑은 고딕"/>
              </a:rPr>
              <a:t>경우</a:t>
            </a:r>
            <a:r>
              <a:rPr lang="en-US" sz="1000" dirty="0">
                <a:latin typeface="맑은 고딕"/>
              </a:rPr>
              <a:t> </a:t>
            </a:r>
            <a:r>
              <a:rPr lang="ko-KR" altLang="en-US" sz="1000" dirty="0">
                <a:latin typeface="맑은 고딕"/>
              </a:rPr>
              <a:t>정량 훼손조건으로 판단하여</a:t>
            </a:r>
            <a:r>
              <a:rPr sz="1000" dirty="0">
                <a:latin typeface="맑은 고딕"/>
              </a:rPr>
              <a:t> </a:t>
            </a:r>
            <a:r>
              <a:rPr sz="1000" dirty="0" err="1">
                <a:latin typeface="맑은 고딕"/>
              </a:rPr>
              <a:t>일시적</a:t>
            </a:r>
            <a:r>
              <a:rPr sz="1000" dirty="0">
                <a:latin typeface="맑은 고딕"/>
              </a:rPr>
              <a:t> </a:t>
            </a:r>
            <a:r>
              <a:rPr sz="1000" dirty="0" err="1">
                <a:latin typeface="맑은 고딕"/>
              </a:rPr>
              <a:t>조정이</a:t>
            </a:r>
            <a:r>
              <a:rPr sz="1000" dirty="0">
                <a:latin typeface="맑은 고딕"/>
              </a:rPr>
              <a:t> </a:t>
            </a:r>
            <a:r>
              <a:rPr sz="1000" dirty="0" err="1">
                <a:latin typeface="맑은 고딕"/>
              </a:rPr>
              <a:t>아닌</a:t>
            </a:r>
            <a:r>
              <a:rPr sz="1000" dirty="0">
                <a:latin typeface="맑은 고딕"/>
              </a:rPr>
              <a:t> </a:t>
            </a:r>
            <a:r>
              <a:rPr sz="1000" dirty="0" err="1">
                <a:latin typeface="맑은 고딕"/>
              </a:rPr>
              <a:t>구조적</a:t>
            </a:r>
            <a:r>
              <a:rPr sz="1000" dirty="0">
                <a:latin typeface="맑은 고딕"/>
              </a:rPr>
              <a:t> </a:t>
            </a:r>
            <a:r>
              <a:rPr sz="1000" dirty="0" err="1">
                <a:latin typeface="맑은 고딕"/>
              </a:rPr>
              <a:t>생산</a:t>
            </a:r>
            <a:r>
              <a:rPr sz="1000" dirty="0">
                <a:latin typeface="맑은 고딕"/>
              </a:rPr>
              <a:t> </a:t>
            </a:r>
            <a:r>
              <a:rPr sz="1000" dirty="0" err="1">
                <a:latin typeface="맑은 고딕"/>
              </a:rPr>
              <a:t>실패로</a:t>
            </a:r>
            <a:r>
              <a:rPr sz="1000" dirty="0">
                <a:latin typeface="맑은 고딕"/>
              </a:rPr>
              <a:t> </a:t>
            </a:r>
            <a:r>
              <a:rPr sz="1000" dirty="0" err="1">
                <a:latin typeface="맑은 고딕"/>
              </a:rPr>
              <a:t>재분류한다</a:t>
            </a:r>
            <a:r>
              <a:rPr sz="1000" dirty="0">
                <a:latin typeface="맑은 고딕"/>
              </a:rPr>
              <a:t>.</a:t>
            </a:r>
          </a:p>
          <a:p>
            <a:pPr algn="justLow">
              <a:lnSpc>
                <a:spcPct val="132000"/>
              </a:lnSpc>
              <a:spcAft>
                <a:spcPts val="900"/>
              </a:spcAft>
            </a:pPr>
            <a:r>
              <a:rPr sz="1000" dirty="0" err="1">
                <a:latin typeface="맑은 고딕"/>
              </a:rPr>
              <a:t>이와</a:t>
            </a:r>
            <a:r>
              <a:rPr sz="1000" dirty="0">
                <a:latin typeface="맑은 고딕"/>
              </a:rPr>
              <a:t> </a:t>
            </a:r>
            <a:r>
              <a:rPr sz="1000" dirty="0" err="1">
                <a:latin typeface="맑은 고딕"/>
              </a:rPr>
              <a:t>별개로</a:t>
            </a:r>
            <a:r>
              <a:rPr sz="1000" dirty="0">
                <a:latin typeface="맑은 고딕"/>
              </a:rPr>
              <a:t> </a:t>
            </a:r>
            <a:r>
              <a:rPr sz="1000" dirty="0" err="1">
                <a:latin typeface="맑은 고딕"/>
              </a:rPr>
              <a:t>괴드</a:t>
            </a:r>
            <a:r>
              <a:rPr sz="1000" dirty="0">
                <a:latin typeface="맑은 고딕"/>
              </a:rPr>
              <a:t> </a:t>
            </a:r>
            <a:r>
              <a:rPr sz="1000" dirty="0" err="1">
                <a:latin typeface="맑은 고딕"/>
              </a:rPr>
              <a:t>공장은</a:t>
            </a:r>
            <a:r>
              <a:rPr sz="1000" dirty="0">
                <a:latin typeface="맑은 고딕"/>
              </a:rPr>
              <a:t> </a:t>
            </a:r>
            <a:r>
              <a:rPr sz="1000" dirty="0" err="1">
                <a:latin typeface="맑은 고딕"/>
              </a:rPr>
              <a:t>환경·유해물질</a:t>
            </a:r>
            <a:r>
              <a:rPr sz="1000" dirty="0">
                <a:latin typeface="맑은 고딕"/>
              </a:rPr>
              <a:t> </a:t>
            </a:r>
            <a:r>
              <a:rPr sz="1000" dirty="0" err="1">
                <a:latin typeface="맑은 고딕"/>
              </a:rPr>
              <a:t>리스크를</a:t>
            </a:r>
            <a:r>
              <a:rPr sz="1000" dirty="0">
                <a:latin typeface="맑은 고딕"/>
              </a:rPr>
              <a:t> </a:t>
            </a:r>
            <a:r>
              <a:rPr sz="1000" dirty="0" err="1">
                <a:latin typeface="맑은 고딕"/>
              </a:rPr>
              <a:t>안고</a:t>
            </a:r>
            <a:r>
              <a:rPr sz="1000" dirty="0">
                <a:latin typeface="맑은 고딕"/>
              </a:rPr>
              <a:t> </a:t>
            </a:r>
            <a:r>
              <a:rPr sz="1000" dirty="0" err="1">
                <a:latin typeface="맑은 고딕"/>
              </a:rPr>
              <a:t>있다</a:t>
            </a:r>
            <a:r>
              <a:rPr sz="1000" dirty="0">
                <a:latin typeface="맑은 고딕"/>
              </a:rPr>
              <a:t>. </a:t>
            </a:r>
            <a:r>
              <a:rPr sz="1000" dirty="0" err="1">
                <a:latin typeface="맑은 고딕"/>
              </a:rPr>
              <a:t>니켈·코발트</a:t>
            </a:r>
            <a:r>
              <a:rPr sz="1000" dirty="0">
                <a:latin typeface="맑은 고딕"/>
              </a:rPr>
              <a:t> </a:t>
            </a:r>
            <a:r>
              <a:rPr sz="1000" dirty="0" err="1">
                <a:latin typeface="맑은 고딕"/>
              </a:rPr>
              <a:t>검출</a:t>
            </a:r>
            <a:r>
              <a:rPr sz="1000" dirty="0">
                <a:latin typeface="맑은 고딕"/>
              </a:rPr>
              <a:t> </a:t>
            </a:r>
            <a:r>
              <a:rPr sz="1000" dirty="0" err="1">
                <a:latin typeface="맑은 고딕"/>
              </a:rPr>
              <a:t>의혹</a:t>
            </a:r>
            <a:r>
              <a:rPr sz="1000" dirty="0">
                <a:latin typeface="맑은 고딕"/>
              </a:rPr>
              <a:t> </a:t>
            </a:r>
            <a:r>
              <a:rPr sz="1000" dirty="0" err="1">
                <a:latin typeface="맑은 고딕"/>
              </a:rPr>
              <a:t>등</a:t>
            </a:r>
            <a:r>
              <a:rPr sz="1000" dirty="0">
                <a:latin typeface="맑은 고딕"/>
              </a:rPr>
              <a:t> </a:t>
            </a:r>
            <a:r>
              <a:rPr sz="1000" dirty="0" err="1">
                <a:latin typeface="맑은 고딕"/>
              </a:rPr>
              <a:t>환경</a:t>
            </a:r>
            <a:r>
              <a:rPr sz="1000" dirty="0">
                <a:latin typeface="맑은 고딕"/>
              </a:rPr>
              <a:t> </a:t>
            </a:r>
            <a:r>
              <a:rPr sz="1000" dirty="0" err="1">
                <a:latin typeface="맑은 고딕"/>
              </a:rPr>
              <a:t>논란이</a:t>
            </a:r>
            <a:r>
              <a:rPr sz="1000" dirty="0">
                <a:latin typeface="맑은 고딕"/>
              </a:rPr>
              <a:t> </a:t>
            </a:r>
            <a:r>
              <a:rPr sz="1000" dirty="0" err="1">
                <a:latin typeface="맑은 고딕"/>
              </a:rPr>
              <a:t>지속되며</a:t>
            </a:r>
            <a:r>
              <a:rPr sz="1000" dirty="0">
                <a:latin typeface="맑은 고딕"/>
              </a:rPr>
              <a:t> </a:t>
            </a:r>
            <a:r>
              <a:rPr sz="1000" dirty="0" err="1">
                <a:latin typeface="맑은 고딕"/>
              </a:rPr>
              <a:t>현지</a:t>
            </a:r>
            <a:r>
              <a:rPr sz="1000" dirty="0">
                <a:latin typeface="맑은 고딕"/>
              </a:rPr>
              <a:t> </a:t>
            </a:r>
            <a:r>
              <a:rPr sz="1000" dirty="0" err="1">
                <a:latin typeface="맑은 고딕"/>
              </a:rPr>
              <a:t>주민</a:t>
            </a:r>
            <a:r>
              <a:rPr sz="1000" dirty="0">
                <a:latin typeface="맑은 고딕"/>
              </a:rPr>
              <a:t> </a:t>
            </a:r>
            <a:r>
              <a:rPr sz="1000" dirty="0" err="1">
                <a:latin typeface="맑은 고딕"/>
              </a:rPr>
              <a:t>반발과</a:t>
            </a:r>
            <a:r>
              <a:rPr sz="1000" dirty="0">
                <a:latin typeface="맑은 고딕"/>
              </a:rPr>
              <a:t> </a:t>
            </a:r>
            <a:r>
              <a:rPr sz="1000" dirty="0" err="1">
                <a:latin typeface="맑은 고딕"/>
              </a:rPr>
              <a:t>환경</a:t>
            </a:r>
            <a:r>
              <a:rPr sz="1000" dirty="0">
                <a:latin typeface="맑은 고딕"/>
              </a:rPr>
              <a:t> </a:t>
            </a:r>
            <a:r>
              <a:rPr sz="1000" dirty="0" err="1">
                <a:latin typeface="맑은 고딕"/>
              </a:rPr>
              <a:t>허가</a:t>
            </a:r>
            <a:r>
              <a:rPr sz="1000" dirty="0">
                <a:latin typeface="맑은 고딕"/>
              </a:rPr>
              <a:t> </a:t>
            </a:r>
            <a:r>
              <a:rPr sz="1000" dirty="0" err="1">
                <a:latin typeface="맑은 고딕"/>
              </a:rPr>
              <a:t>재취소</a:t>
            </a:r>
            <a:r>
              <a:rPr sz="1000" dirty="0">
                <a:latin typeface="맑은 고딕"/>
              </a:rPr>
              <a:t> </a:t>
            </a:r>
            <a:r>
              <a:rPr sz="1000" dirty="0" err="1">
                <a:latin typeface="맑은 고딕"/>
              </a:rPr>
              <a:t>가능성이</a:t>
            </a:r>
            <a:r>
              <a:rPr sz="1000" dirty="0">
                <a:latin typeface="맑은 고딕"/>
              </a:rPr>
              <a:t> </a:t>
            </a:r>
            <a:r>
              <a:rPr sz="1000" dirty="0" err="1">
                <a:latin typeface="맑은 고딕"/>
              </a:rPr>
              <a:t>제기된다</a:t>
            </a:r>
            <a:r>
              <a:rPr sz="1000" dirty="0">
                <a:latin typeface="맑은 고딕"/>
              </a:rPr>
              <a:t>. </a:t>
            </a:r>
            <a:r>
              <a:rPr sz="1000" dirty="0" err="1">
                <a:latin typeface="맑은 고딕"/>
              </a:rPr>
              <a:t>허가가</a:t>
            </a:r>
            <a:r>
              <a:rPr sz="1000" dirty="0">
                <a:latin typeface="맑은 고딕"/>
              </a:rPr>
              <a:t> </a:t>
            </a:r>
            <a:r>
              <a:rPr sz="1000" dirty="0" err="1">
                <a:latin typeface="맑은 고딕"/>
              </a:rPr>
              <a:t>지연·취소되면</a:t>
            </a:r>
            <a:r>
              <a:rPr sz="1000" dirty="0">
                <a:latin typeface="맑은 고딕"/>
              </a:rPr>
              <a:t> </a:t>
            </a:r>
            <a:r>
              <a:rPr sz="1000" dirty="0" err="1">
                <a:latin typeface="맑은 고딕"/>
              </a:rPr>
              <a:t>증설·가동</a:t>
            </a:r>
            <a:r>
              <a:rPr sz="1000" dirty="0">
                <a:latin typeface="맑은 고딕"/>
              </a:rPr>
              <a:t> </a:t>
            </a:r>
            <a:r>
              <a:rPr sz="1000" dirty="0" err="1">
                <a:latin typeface="맑은 고딕"/>
              </a:rPr>
              <a:t>차질로</a:t>
            </a:r>
            <a:r>
              <a:rPr sz="1000" dirty="0">
                <a:latin typeface="맑은 고딕"/>
              </a:rPr>
              <a:t> </a:t>
            </a:r>
            <a:r>
              <a:rPr sz="1000" dirty="0" err="1">
                <a:latin typeface="맑은 고딕"/>
              </a:rPr>
              <a:t>가동률</a:t>
            </a:r>
            <a:r>
              <a:rPr sz="1000" dirty="0">
                <a:latin typeface="맑은 고딕"/>
              </a:rPr>
              <a:t> </a:t>
            </a:r>
            <a:r>
              <a:rPr sz="1000" dirty="0" err="1">
                <a:latin typeface="맑은 고딕"/>
              </a:rPr>
              <a:t>정상화</a:t>
            </a:r>
            <a:r>
              <a:rPr sz="1000" dirty="0">
                <a:latin typeface="맑은 고딕"/>
              </a:rPr>
              <a:t> </a:t>
            </a:r>
            <a:r>
              <a:rPr sz="1000" dirty="0" err="1">
                <a:latin typeface="맑은 고딕"/>
              </a:rPr>
              <a:t>일정</a:t>
            </a:r>
            <a:r>
              <a:rPr sz="1000" dirty="0">
                <a:latin typeface="맑은 고딕"/>
              </a:rPr>
              <a:t> </a:t>
            </a:r>
            <a:r>
              <a:rPr sz="1000" dirty="0" err="1">
                <a:latin typeface="맑은 고딕"/>
              </a:rPr>
              <a:t>자체가</a:t>
            </a:r>
            <a:r>
              <a:rPr sz="1000" dirty="0">
                <a:latin typeface="맑은 고딕"/>
              </a:rPr>
              <a:t> </a:t>
            </a:r>
            <a:r>
              <a:rPr sz="1000" dirty="0" err="1">
                <a:latin typeface="맑은 고딕"/>
              </a:rPr>
              <a:t>밀릴</a:t>
            </a:r>
            <a:r>
              <a:rPr sz="1000" dirty="0">
                <a:latin typeface="맑은 고딕"/>
              </a:rPr>
              <a:t> </a:t>
            </a:r>
            <a:r>
              <a:rPr sz="1000" dirty="0" err="1">
                <a:latin typeface="맑은 고딕"/>
              </a:rPr>
              <a:t>수</a:t>
            </a:r>
            <a:r>
              <a:rPr sz="1000" dirty="0">
                <a:latin typeface="맑은 고딕"/>
              </a:rPr>
              <a:t> </a:t>
            </a:r>
            <a:r>
              <a:rPr sz="1000" dirty="0" err="1">
                <a:latin typeface="맑은 고딕"/>
              </a:rPr>
              <a:t>있고</a:t>
            </a:r>
            <a:r>
              <a:rPr sz="1000" dirty="0">
                <a:latin typeface="맑은 고딕"/>
              </a:rPr>
              <a:t>, </a:t>
            </a:r>
            <a:r>
              <a:rPr sz="1000" dirty="0" err="1">
                <a:latin typeface="맑은 고딕"/>
              </a:rPr>
              <a:t>추가</a:t>
            </a:r>
            <a:r>
              <a:rPr sz="1000" dirty="0">
                <a:latin typeface="맑은 고딕"/>
              </a:rPr>
              <a:t> </a:t>
            </a:r>
            <a:r>
              <a:rPr sz="1000" dirty="0" err="1">
                <a:latin typeface="맑은 고딕"/>
              </a:rPr>
              <a:t>환경설비</a:t>
            </a:r>
            <a:r>
              <a:rPr sz="1000" dirty="0">
                <a:latin typeface="맑은 고딕"/>
              </a:rPr>
              <a:t> </a:t>
            </a:r>
            <a:r>
              <a:rPr sz="1000" dirty="0" err="1">
                <a:latin typeface="맑은 고딕"/>
              </a:rPr>
              <a:t>투자와</a:t>
            </a:r>
            <a:r>
              <a:rPr sz="1000" dirty="0">
                <a:latin typeface="맑은 고딕"/>
              </a:rPr>
              <a:t> </a:t>
            </a:r>
            <a:r>
              <a:rPr sz="1000" dirty="0" err="1">
                <a:latin typeface="맑은 고딕"/>
              </a:rPr>
              <a:t>평판</a:t>
            </a:r>
            <a:r>
              <a:rPr sz="1000" dirty="0">
                <a:latin typeface="맑은 고딕"/>
              </a:rPr>
              <a:t> </a:t>
            </a:r>
            <a:r>
              <a:rPr sz="1000" dirty="0" err="1">
                <a:latin typeface="맑은 고딕"/>
              </a:rPr>
              <a:t>훼손이</a:t>
            </a:r>
            <a:r>
              <a:rPr sz="1000" dirty="0">
                <a:latin typeface="맑은 고딕"/>
              </a:rPr>
              <a:t> </a:t>
            </a:r>
            <a:r>
              <a:rPr sz="1000" dirty="0" err="1">
                <a:latin typeface="맑은 고딕"/>
              </a:rPr>
              <a:t>운영비·ESG</a:t>
            </a:r>
            <a:r>
              <a:rPr sz="1000" dirty="0">
                <a:latin typeface="맑은 고딕"/>
              </a:rPr>
              <a:t> </a:t>
            </a:r>
            <a:r>
              <a:rPr sz="1000" dirty="0" err="1">
                <a:latin typeface="맑은 고딕"/>
              </a:rPr>
              <a:t>평가</a:t>
            </a:r>
            <a:r>
              <a:rPr sz="1000" dirty="0">
                <a:latin typeface="맑은 고딕"/>
              </a:rPr>
              <a:t> </a:t>
            </a:r>
            <a:r>
              <a:rPr sz="1000" dirty="0" err="1">
                <a:latin typeface="맑은 고딕"/>
              </a:rPr>
              <a:t>부담으로</a:t>
            </a:r>
            <a:r>
              <a:rPr sz="1000" dirty="0">
                <a:latin typeface="맑은 고딕"/>
              </a:rPr>
              <a:t> </a:t>
            </a:r>
            <a:r>
              <a:rPr sz="1000" dirty="0" err="1">
                <a:latin typeface="맑은 고딕"/>
              </a:rPr>
              <a:t>이어진다</a:t>
            </a:r>
            <a:r>
              <a:rPr sz="1000" dirty="0">
                <a:latin typeface="맑은 고딕"/>
              </a:rPr>
              <a:t>.</a:t>
            </a:r>
          </a:p>
        </p:txBody>
      </p:sp>
      <p:sp>
        <p:nvSpPr>
          <p:cNvPr id="12" name="TextBox 11"/>
          <p:cNvSpPr txBox="1"/>
          <p:nvPr/>
        </p:nvSpPr>
        <p:spPr>
          <a:xfrm>
            <a:off x="406693" y="8585917"/>
            <a:ext cx="5941695" cy="123072"/>
          </a:xfrm>
          <a:prstGeom prst="rect">
            <a:avLst/>
          </a:prstGeom>
          <a:noFill/>
        </p:spPr>
        <p:txBody>
          <a:bodyPr wrap="square" lIns="0" tIns="0" rIns="0" bIns="0" anchor="ctr">
            <a:spAutoFit/>
          </a:bodyPr>
          <a:lstStyle/>
          <a:p>
            <a:pPr>
              <a:lnSpc>
                <a:spcPct val="100000"/>
              </a:lnSpc>
              <a:defRPr/>
            </a:pPr>
            <a:r>
              <a:rPr lang="ko-KR" altLang="en-US" sz="800" i="1">
                <a:solidFill>
                  <a:srgbClr val="6b7785"/>
                </a:solidFill>
                <a:latin typeface="+mj-ea"/>
                <a:ea typeface="+mj-ea"/>
              </a:rPr>
              <a:t>출처</a:t>
            </a:r>
            <a:r>
              <a:rPr lang="en-US" altLang="ko-KR" sz="800" i="1">
                <a:solidFill>
                  <a:srgbClr val="6b7785"/>
                </a:solidFill>
                <a:latin typeface="+mj-ea"/>
                <a:ea typeface="+mj-ea"/>
              </a:rPr>
              <a:t>:</a:t>
            </a:r>
            <a:r>
              <a:rPr sz="800" i="1">
                <a:solidFill>
                  <a:srgbClr val="6b7785"/>
                </a:solidFill>
                <a:latin typeface="+mj-ea"/>
                <a:ea typeface="+mj-ea"/>
              </a:rPr>
              <a:t> </a:t>
            </a:r>
            <a:r>
              <a:rPr lang="en-US" sz="800" i="1">
                <a:solidFill>
                  <a:schemeClr val="tx1">
                    <a:lumMod val="50000"/>
                    <a:lumOff val="50000"/>
                  </a:schemeClr>
                </a:solidFill>
                <a:latin typeface="+mj-ea"/>
                <a:ea typeface="+mj-ea"/>
              </a:rPr>
              <a:t>ICOK</a:t>
            </a:r>
            <a:r>
              <a:rPr lang="en-US" altLang="ko-KR" sz="800" i="1">
                <a:solidFill>
                  <a:schemeClr val="tx1">
                    <a:lumMod val="50000"/>
                    <a:lumOff val="50000"/>
                  </a:schemeClr>
                </a:solidFill>
                <a:latin typeface="+mj-ea"/>
                <a:ea typeface="+mj-ea"/>
              </a:rPr>
              <a:t>,</a:t>
            </a:r>
            <a:r>
              <a:rPr lang="ko-KR" altLang="en-US" sz="800" i="1">
                <a:solidFill>
                  <a:schemeClr val="tx1">
                    <a:lumMod val="50000"/>
                    <a:lumOff val="50000"/>
                  </a:schemeClr>
                </a:solidFill>
                <a:latin typeface="+mj-ea"/>
                <a:ea typeface="+mj-ea"/>
              </a:rPr>
              <a:t> </a:t>
            </a:r>
            <a:r>
              <a:rPr sz="800">
                <a:solidFill>
                  <a:srgbClr val="6b7785"/>
                </a:solidFill>
                <a:latin typeface="+mj-ea"/>
                <a:ea typeface="+mj-ea"/>
              </a:rPr>
              <a:t>● 높음 / ○ 낮음 (5점 척도)</a:t>
            </a:r>
            <a:endParaRPr sz="800">
              <a:solidFill>
                <a:srgbClr val="6b7785"/>
              </a:solidFill>
              <a:latin typeface="+mj-ea"/>
              <a:ea typeface="+mj-ea"/>
            </a:endParaRPr>
          </a:p>
        </p:txBody>
      </p:sp>
      <p:sp>
        <p:nvSpPr>
          <p:cNvPr id="13" name="Rectangle 12">
            <a:extLst>
              <a:ext uri="{FF2B5EF4-FFF2-40B4-BE49-F238E27FC236}">
                <a16:creationId xmlns:a16="http://schemas.microsoft.com/office/drawing/2014/main" id="{16A2217E-5F72-25C0-F4EF-7134E3639D80}"/>
              </a:ext>
            </a:extLst>
          </p:cNvPr>
          <p:cNvSpPr>
            <a:spLocks/>
          </p:cNvSpPr>
          <p:nvPr/>
        </p:nvSpPr>
        <p:spPr>
          <a:xfrm>
            <a:off x="404797" y="5309473"/>
            <a:ext cx="5941695" cy="218836"/>
          </a:xfrm>
          <a:prstGeom prst="rect">
            <a:avLst/>
          </a:prstGeom>
          <a:solidFill>
            <a:schemeClr val="accent1">
              <a:lumMod val="40000"/>
              <a:lumOff val="6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14" name="TextBox 13"/>
          <p:cNvSpPr txBox="1"/>
          <p:nvPr/>
        </p:nvSpPr>
        <p:spPr>
          <a:xfrm>
            <a:off x="404797" y="5309474"/>
            <a:ext cx="5067696" cy="246142"/>
          </a:xfrm>
          <a:prstGeom prst="rect">
            <a:avLst/>
          </a:prstGeom>
          <a:noFill/>
        </p:spPr>
        <p:txBody>
          <a:bodyPr wrap="square">
            <a:spAutoFit/>
          </a:bodyPr>
          <a:lstStyle/>
          <a:p>
            <a:pPr>
              <a:lnSpc>
                <a:spcPct val="100000"/>
              </a:lnSpc>
              <a:defRPr/>
            </a:pPr>
            <a:r>
              <a:rPr lang="ko-KR" altLang="en-US" sz="1000" b="1">
                <a:latin typeface="맑은 고딕"/>
              </a:rPr>
              <a:t>자료 </a:t>
            </a:r>
            <a:r>
              <a:rPr lang="en-US" altLang="ko-KR" sz="1000" b="1">
                <a:latin typeface="맑은 고딕"/>
              </a:rPr>
              <a:t>35. </a:t>
            </a:r>
            <a:r>
              <a:rPr lang="ko-KR" altLang="en-US" sz="1000" b="1">
                <a:latin typeface="맑은 고딕"/>
              </a:rPr>
              <a:t>삼성</a:t>
            </a:r>
            <a:r>
              <a:rPr lang="en-US" sz="1000" b="1">
                <a:latin typeface="맑은 고딕"/>
                <a:ea typeface="맑은 고딕"/>
              </a:rPr>
              <a:t>SDI </a:t>
            </a:r>
            <a:r>
              <a:rPr lang="ko-KR" altLang="en-US" sz="1000" b="1">
                <a:latin typeface="맑은 고딕"/>
              </a:rPr>
              <a:t>리스크 매트릭스 </a:t>
            </a:r>
            <a:r>
              <a:rPr lang="en-US" altLang="ko-KR" sz="1000" b="1">
                <a:latin typeface="맑은 고딕"/>
              </a:rPr>
              <a:t>(</a:t>
            </a:r>
            <a:r>
              <a:rPr lang="ko-KR" altLang="en-US" sz="1000" b="1">
                <a:latin typeface="맑은 고딕"/>
              </a:rPr>
              <a:t>가능성 </a:t>
            </a:r>
            <a:r>
              <a:rPr lang="en-US" altLang="ko-KR" sz="1000" b="1">
                <a:latin typeface="맑은 고딕"/>
              </a:rPr>
              <a:t>× </a:t>
            </a:r>
            <a:r>
              <a:rPr lang="ko-KR" altLang="en-US" sz="1000" b="1">
                <a:latin typeface="맑은 고딕"/>
              </a:rPr>
              <a:t>영향도</a:t>
            </a:r>
            <a:r>
              <a:rPr lang="en-US" altLang="ko-KR" sz="1000" b="1">
                <a:latin typeface="맑은 고딕"/>
              </a:rPr>
              <a:t>)</a:t>
            </a:r>
            <a:endParaRPr lang="en-US" altLang="ko-KR" sz="1000" b="1">
              <a:latin typeface="맑은 고딕"/>
            </a:endParaRPr>
          </a:p>
        </p:txBody>
      </p:sp>
      <p:pic>
        <p:nvPicPr>
          <p:cNvPr id="25" name="Picture 24">
            <a:extLst>
              <a:ext uri="{FF2B5EF4-FFF2-40B4-BE49-F238E27FC236}">
                <a16:creationId xmlns:a16="http://schemas.microsoft.com/office/drawing/2014/main" id="{59CEB376-50A3-71F6-4C06-71A67A6AAED9}"/>
              </a:ext>
            </a:extLst>
          </p:cNvPr>
          <p:cNvPicPr>
            <a:picLocks noChangeAspect="1"/>
          </p:cNvPicPr>
          <p:nvPr/>
        </p:nvPicPr>
        <p:blipFill>
          <a:blip r:embed="rId2"/>
          <a:stretch>
            <a:fillRect/>
          </a:stretch>
        </p:blipFill>
        <p:spPr>
          <a:xfrm>
            <a:off x="404797" y="5544176"/>
            <a:ext cx="5941695" cy="2998567"/>
          </a:xfrm>
          <a:prstGeom prst="rect">
            <a:avLst/>
          </a:prstGeom>
        </p:spPr>
      </p:pic>
      <p:sp>
        <p:nvSpPr>
          <p:cNvPr id="26" name="TextBox 25"/>
          <p:cNvSpPr txBox="1"/>
          <p:nvPr/>
        </p:nvSpPr>
        <p:spPr>
          <a:xfrm>
            <a:off x="6263640" y="9555480"/>
            <a:ext cx="411480" cy="228600"/>
          </a:xfrm>
          <a:prstGeom prst="rect">
            <a:avLst/>
          </a:prstGeom>
          <a:noFill/>
        </p:spPr>
        <p:txBody>
          <a:bodyPr wrap="none" lIns="0" tIns="0" rIns="0" bIns="0">
            <a:spAutoFit/>
          </a:bodyPr>
          <a:lstStyle/>
          <a:p>
            <a:pPr algn="r"/>
            <a:r>
              <a:rPr sz="900">
                <a:solidFill>
                  <a:srgbClr val="6B7785"/>
                </a:solidFill>
                <a:latin typeface="맑은 고딕"/>
              </a:rPr>
              <a:t>23</a:t>
            </a: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3831</ep:Words>
  <ep:PresentationFormat>사용자 지정</ep:PresentationFormat>
  <ep:Paragraphs>389</ep:Paragraphs>
  <ep:Slides>22</ep:Slides>
  <ep:Notes>12</ep:Notes>
  <ep:TotalTime>0</ep:TotalTime>
  <ep:HiddenSlides>0</ep:HiddenSlides>
  <ep:MMClips>0</ep:MMClips>
  <ep:HeadingPairs>
    <vt:vector size="4" baseType="variant">
      <vt:variant>
        <vt:lpstr>테마</vt:lpstr>
      </vt:variant>
      <vt:variant>
        <vt:i4>1</vt:i4>
      </vt:variant>
      <vt:variant>
        <vt:lpstr>슬라이드 제목</vt:lpstr>
      </vt:variant>
      <vt:variant>
        <vt:i4>22</vt:i4>
      </vt:variant>
    </vt:vector>
  </ep:HeadingPairs>
  <ep:TitlesOfParts>
    <vt:vector size="23"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2026-06-20T01:50:16.000</dcterms:created>
  <dc:creator>ICOK</dc:creator>
  <cp:lastModifiedBy>Simba Basket</cp:lastModifiedBy>
  <dcterms:modified xsi:type="dcterms:W3CDTF">2026-06-29T13:57:11.595</dcterms:modified>
  <cp:revision>26</cp:revision>
  <dc:subject>PptxGenJS Presentation</dc:subject>
  <dc:title>ICOK 기업분석 — 삼성SDI</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